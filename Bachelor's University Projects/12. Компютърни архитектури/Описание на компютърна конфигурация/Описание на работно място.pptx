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886E-14FF-4C07-B499-7EC45D3E8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66F59-E32A-4965-AC36-CCDD77C5F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473-F1C0-4546-A558-96F51B79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A61B5-3057-4011-A688-FDD77CCB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6AB5-FAD4-4BBE-BA4D-847AC433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47483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B44E-8C17-46DF-A699-DA7BCA04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6C5AD-3DCE-4030-AA9D-46E2475B1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26E3C-10CB-4F46-B0C4-44B92E54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C536C-C229-4FF0-A760-0B03E5A1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2D86C-B432-48BC-97E1-70801179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49430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287EE-C91E-44B1-A810-423D4A69E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BA151-0A3D-480C-B902-4210E7207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DC1DF-BD7D-4829-9216-6D790F6D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62EFD-3972-47A3-B33E-8AE7048F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761E7-F7E5-48C7-93B1-DBB41A82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42193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72E98-C133-4377-9B44-F5F900EA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D3E7D-B046-4AC9-95DF-1037195DEA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E7A9E-C9A4-4571-A107-E74A730F8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524AE-FCCE-411F-9BB2-96D13D79C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C5C1D-DBA7-433F-9D8A-2173D8BF4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B6888-E46B-4509-AEE4-C8AD2EC2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234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1F23-3549-47EF-B707-BE921940C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2CB4D-9E2C-4EAE-B4F1-F329FF097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40C1A-69EB-4D60-A4C9-E54EC1A8C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8A702-B620-4323-BE43-BF26BAD05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2B582-F37B-49E1-A4D7-47C47258D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BA7045-6D36-4FB5-91F3-FA28989E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9C155B-C03C-496F-B038-4A2D11902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C91015-2E27-4D6B-B808-51DD0560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4582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0AF7-984D-4773-8E26-47606E742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3FA0EC-7EC8-42BE-8823-7166A4A6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540F3-18FA-4101-9354-B63E3D404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2D0DC-0929-4C12-841E-9B8DC185D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1614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CB58C-3A3C-487C-A60F-415FA2CD5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2E96C-8DF0-4050-A518-B76BC8964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E29A5-A3AE-49B7-A05B-9F2951C7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6350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9FCD-B145-4028-8C31-DD53E044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63C54-40C4-4D94-8B9D-CDFA24920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B8C4D-B8BA-4DF9-ABD6-2089D5CF2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E387E-84B7-4F2A-B6D0-2A2D3C63B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6128C-B9FB-45EB-B20D-B24F04BC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98F36-CEA4-4603-BB03-39172296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99812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04C73-6739-487F-827C-F044C747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514C25-F948-488B-97F3-3C5501C58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2B89D-013F-4B8C-A6B0-FCF09B51D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0B3724-FC00-459F-9533-A28E7397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FF754-B578-4D80-94D6-3311273CC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D27F9-4A2C-44BA-8ECD-7BA07204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58280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4285-6AAD-41DA-9347-F0192CE0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74CC9-2676-4452-A38C-E4FCAE9A7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A2B8-6679-49C9-B3D4-A1F111AD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45971-8CB2-4644-A5F0-B140194A5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B3C4F-2CDE-4595-B266-4961382D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0767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2F166-EFB0-42EA-AD3D-C9C7DF19C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F4AEC-23C4-4EE1-AEF3-FA6CF47B0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98A8C-9BB2-42D0-A5F3-6488937F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8F740-7C20-45AB-BB61-EBEE3EA24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007A8-D258-4F06-AE99-2F687D8F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076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AB0CAE-EDD7-4631-A83A-D7F5BCC0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9AAAC-4112-4040-99E9-B4141E9B5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A3721-9FB6-458D-9C26-F41347503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51BA-7DF9-48FC-A27D-CD9D210568A6}" type="datetimeFigureOut">
              <a:rPr lang="bg-BG" smtClean="0"/>
              <a:t>25.2.2021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6C427-5F16-4AE8-9864-A3DEAC560D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CFC17-D21B-47A3-8B65-16F463EF0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1E906-013C-4A6D-9E0F-FBCB6DF4FE0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943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B946D7-1CA4-446E-8795-007CACFDE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2416F2-BC84-4D7C-80C6-6296C10C3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95338" y="981075"/>
            <a:ext cx="10601325" cy="4552949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6F134-CE46-4ADB-8E77-96E2AFAD7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7096" y="1428750"/>
            <a:ext cx="9117807" cy="2997927"/>
          </a:xfrm>
        </p:spPr>
        <p:txBody>
          <a:bodyPr>
            <a:normAutofit fontScale="90000"/>
          </a:bodyPr>
          <a:lstStyle/>
          <a:p>
            <a:br>
              <a:rPr lang="bg-BG" dirty="0"/>
            </a:br>
            <a:br>
              <a:rPr lang="bg-BG" dirty="0"/>
            </a:br>
            <a:br>
              <a:rPr lang="bg-BG" dirty="0"/>
            </a:br>
            <a:br>
              <a:rPr lang="bg-BG" dirty="0"/>
            </a:br>
            <a:br>
              <a:rPr lang="bg-BG" dirty="0"/>
            </a:br>
            <a:br>
              <a:rPr lang="bg-BG" dirty="0"/>
            </a:br>
            <a:r>
              <a:rPr lang="bg-BG" sz="5300" dirty="0"/>
              <a:t>Химикотехнологичен и металургичен университет</a:t>
            </a:r>
            <a:br>
              <a:rPr lang="en-US" sz="5300" dirty="0"/>
            </a:br>
            <a:br>
              <a:rPr lang="bg-BG" sz="5300" dirty="0"/>
            </a:br>
            <a:r>
              <a:rPr lang="bg-BG" sz="5300" dirty="0"/>
              <a:t>Компютърни архитектури</a:t>
            </a:r>
            <a:br>
              <a:rPr lang="bg-BG" dirty="0"/>
            </a:br>
            <a:endParaRPr lang="bg-B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F532B-95E4-4C77-AE19-EBD27BFAA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7097" y="3976383"/>
            <a:ext cx="9117807" cy="1452867"/>
          </a:xfrm>
        </p:spPr>
        <p:txBody>
          <a:bodyPr>
            <a:normAutofit/>
          </a:bodyPr>
          <a:lstStyle/>
          <a:p>
            <a:r>
              <a:rPr lang="bg-BG" sz="2800" dirty="0"/>
              <a:t>Описание на хардуерна конфигурация</a:t>
            </a:r>
          </a:p>
          <a:p>
            <a:endParaRPr lang="bg-BG" sz="1700" dirty="0"/>
          </a:p>
          <a:p>
            <a:pPr algn="r"/>
            <a:r>
              <a:rPr lang="bg-BG" sz="2000" dirty="0"/>
              <a:t>Кирил Кискинов ИИ0014</a:t>
            </a:r>
          </a:p>
          <a:p>
            <a:endParaRPr lang="bg-BG" sz="17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30623A-AB89-4E04-AC9A-2BAFBF85A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52800" y="3771366"/>
            <a:ext cx="5486400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885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08A2-0A68-405A-A279-C702667A9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Монитор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4AE63-BB82-486F-BEB2-7A059C9FB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432" y="906011"/>
            <a:ext cx="6295238" cy="5662569"/>
          </a:xfrm>
        </p:spPr>
        <p:txBody>
          <a:bodyPr>
            <a:normAutofit fontScale="70000" lnSpcReduction="20000"/>
          </a:bodyPr>
          <a:lstStyle/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Марка: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Acer</a:t>
            </a:r>
            <a:endParaRPr lang="bg-BG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V226HQL</a:t>
            </a:r>
            <a:endParaRPr lang="bg-BG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Номер на част : UM.WV6EE.B04</a:t>
            </a:r>
          </a:p>
          <a:p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на </a:t>
            </a:r>
            <a:r>
              <a:rPr lang="ru-RU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екрана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21.5 инча</a:t>
            </a: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Макс. резолюция: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(Full HD)1920 x 1080@60 Hz</a:t>
            </a:r>
            <a:endParaRPr lang="bg-BG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Съотношение: 16:9</a:t>
            </a: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 за реакция: 5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Поддържани цветове: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16.7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милиона</a:t>
            </a: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Яркост: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cd/m²</a:t>
            </a:r>
            <a:endParaRPr lang="bg-BG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Подсветка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панел: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 (Twisted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Nematic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Film)</a:t>
            </a:r>
            <a:endParaRPr lang="bg-BG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Стойка: наклон (-5 ° ~ 25 °)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Портове и конектори: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VGA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DVI-in</a:t>
            </a:r>
            <a:endParaRPr lang="bg-BG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19.50 W</a:t>
            </a:r>
            <a:endParaRPr lang="bg-BG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Размери</a:t>
            </a:r>
            <a:r>
              <a:rPr lang="ru-RU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(Ш x В x Д):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508 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мм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390.40 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мм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206.76 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мм</a:t>
            </a:r>
          </a:p>
          <a:p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Тегло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(Approximate)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3.24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кг. ,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3.66 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кг.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(със стойка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bg-BG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endParaRPr lang="bg-BG" dirty="0"/>
          </a:p>
          <a:p>
            <a:endParaRPr lang="bg-B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BCFCDB-E9ED-49B0-A300-2D3F07F72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52" y="1643127"/>
            <a:ext cx="5405481" cy="40541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EB4DC7D-CAB1-4499-868B-0F9D30F5323F}"/>
              </a:ext>
            </a:extLst>
          </p:cNvPr>
          <p:cNvSpPr txBox="1"/>
          <p:nvPr/>
        </p:nvSpPr>
        <p:spPr>
          <a:xfrm>
            <a:off x="3245797" y="2700988"/>
            <a:ext cx="788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bg1"/>
                </a:solidFill>
              </a:rPr>
              <a:t>21.5"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724FAE-8551-4371-9FA2-B6BC1717D939}"/>
              </a:ext>
            </a:extLst>
          </p:cNvPr>
          <p:cNvSpPr/>
          <p:nvPr/>
        </p:nvSpPr>
        <p:spPr>
          <a:xfrm>
            <a:off x="5093428" y="2120263"/>
            <a:ext cx="251670" cy="15939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CF5E77F-E0E9-4D24-843A-8331DFA25AD6}"/>
              </a:ext>
            </a:extLst>
          </p:cNvPr>
          <p:cNvSpPr/>
          <p:nvPr/>
        </p:nvSpPr>
        <p:spPr>
          <a:xfrm>
            <a:off x="3514244" y="3787680"/>
            <a:ext cx="251670" cy="15939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1E8197-C703-44BC-8112-ED2D83B63197}"/>
              </a:ext>
            </a:extLst>
          </p:cNvPr>
          <p:cNvSpPr txBox="1"/>
          <p:nvPr/>
        </p:nvSpPr>
        <p:spPr>
          <a:xfrm>
            <a:off x="3261920" y="3867375"/>
            <a:ext cx="782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bg1"/>
                </a:solidFill>
              </a:rPr>
              <a:t>марка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987EDE-7CC0-4569-9DDA-9B25F8F55722}"/>
              </a:ext>
            </a:extLst>
          </p:cNvPr>
          <p:cNvSpPr txBox="1"/>
          <p:nvPr/>
        </p:nvSpPr>
        <p:spPr>
          <a:xfrm>
            <a:off x="4797017" y="1750931"/>
            <a:ext cx="84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bg1"/>
                </a:solidFill>
              </a:rPr>
              <a:t>модел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DC28DA9-74A0-4D17-BD7C-1B6C4421526B}"/>
              </a:ext>
            </a:extLst>
          </p:cNvPr>
          <p:cNvCxnSpPr/>
          <p:nvPr/>
        </p:nvCxnSpPr>
        <p:spPr>
          <a:xfrm flipV="1">
            <a:off x="2374084" y="2279654"/>
            <a:ext cx="2845178" cy="1508026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6EF171-5859-4029-9C3A-306691561E40}"/>
              </a:ext>
            </a:extLst>
          </p:cNvPr>
          <p:cNvSpPr txBox="1"/>
          <p:nvPr/>
        </p:nvSpPr>
        <p:spPr>
          <a:xfrm>
            <a:off x="2283821" y="5090809"/>
            <a:ext cx="147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bg1"/>
                </a:solidFill>
              </a:rPr>
              <a:t>клавиатура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29395E-826D-4302-8787-1A904A06166E}"/>
              </a:ext>
            </a:extLst>
          </p:cNvPr>
          <p:cNvSpPr txBox="1"/>
          <p:nvPr/>
        </p:nvSpPr>
        <p:spPr>
          <a:xfrm>
            <a:off x="4571346" y="5090809"/>
            <a:ext cx="84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bg1"/>
                </a:solidFill>
              </a:rPr>
              <a:t>мишка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EC2A10-CCAF-4569-BBEC-3B16E72141F8}"/>
              </a:ext>
            </a:extLst>
          </p:cNvPr>
          <p:cNvSpPr txBox="1"/>
          <p:nvPr/>
        </p:nvSpPr>
        <p:spPr>
          <a:xfrm>
            <a:off x="947654" y="2700988"/>
            <a:ext cx="1220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bg1"/>
                </a:solidFill>
              </a:rPr>
              <a:t>компютър</a:t>
            </a:r>
          </a:p>
        </p:txBody>
      </p:sp>
    </p:spTree>
    <p:extLst>
      <p:ext uri="{BB962C8B-B14F-4D97-AF65-F5344CB8AC3E}">
        <p14:creationId xmlns:p14="http://schemas.microsoft.com/office/powerpoint/2010/main" val="1089742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2D550-5C77-4910-AB5D-77FD2426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02"/>
            <a:ext cx="10515600" cy="1031846"/>
          </a:xfrm>
        </p:spPr>
        <p:txBody>
          <a:bodyPr>
            <a:norm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Мишка                                 3.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EBA9E-4CA7-45BF-9AEC-BB6A9A39C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738"/>
            <a:ext cx="5864604" cy="5364760"/>
          </a:xfrm>
        </p:spPr>
        <p:txBody>
          <a:bodyPr>
            <a:normAutofit/>
          </a:bodyPr>
          <a:lstStyle/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Марка: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Logitech</a:t>
            </a:r>
            <a:endParaRPr lang="bg-BG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M-SBF96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бутона, включително скролер за превъртане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Симетрична форма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Цвят на мишката: черен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Свързаност: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/ 2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кабел / дължина: екраниран / 180 см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Чувствителност: 400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dpi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Системни изисквания: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3.1, 95, 98, NT 4.0, 2000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endParaRPr lang="bg-BG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Наличен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/ 2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порт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CD-ROM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 за инсталиране на драйвер (по избор)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Сертификати: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FCC, UL &amp; CE</a:t>
            </a:r>
          </a:p>
          <a:p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Размери: 4.49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2.24 x 1.5 </a:t>
            </a:r>
            <a:r>
              <a:rPr lang="bg-BG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инча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F466DF-7404-4EB6-B863-0003DE9F047B}"/>
              </a:ext>
            </a:extLst>
          </p:cNvPr>
          <p:cNvSpPr txBox="1"/>
          <p:nvPr/>
        </p:nvSpPr>
        <p:spPr>
          <a:xfrm>
            <a:off x="7344666" y="2765598"/>
            <a:ext cx="4995461" cy="4092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0400" indent="-230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Марка: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</a:t>
            </a:r>
          </a:p>
          <a:p>
            <a:pPr marL="230400" indent="-230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Модел: 803180-041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0400" indent="-230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 клавиатура: да</a:t>
            </a:r>
          </a:p>
          <a:p>
            <a:pPr marL="230400" indent="-230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Клавиатурна подредба: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QWERTZ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0400" indent="-230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Цвят на продукта: черен</a:t>
            </a:r>
          </a:p>
          <a:p>
            <a:pPr marL="230400" indent="-230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Подсветка: не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0400" indent="-230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на устройството: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/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0400" indent="-230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Език на клавиатурата: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немски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76C9CB-D053-4B74-AC2C-B5AB4A04C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332" y="377527"/>
            <a:ext cx="1507238" cy="14596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D1D4BC-E65A-49CA-8416-6515233FA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350" y="1133475"/>
            <a:ext cx="421005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6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3996-7F62-4D85-AD44-90B744286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89" y="83359"/>
            <a:ext cx="11052111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Десктоп компютър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206B1-061C-4FC0-87DB-E02A3BB84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235" y="981512"/>
            <a:ext cx="6996637" cy="5964572"/>
          </a:xfrm>
        </p:spPr>
        <p:txBody>
          <a:bodyPr>
            <a:normAutofit fontScale="62500" lnSpcReduction="20000"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Марка: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HP (Hewlett-Packard)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EliteDesk 800 G1 SFF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(марка):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 (тип):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Core i5-4570 (3.2G, 6M)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Памет:				8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Памет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писание):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DDR3 1600 DIMM 1x8GB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Твърд диск:			500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Твърд диск скорост:		7200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rpm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(Диск):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RPM 3.5 SATA 6G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 карта:			Интегрирана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 карта (чипсет):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 карта (модел):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HD Graphics 4600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Оптично устройство: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SuperMulti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ODD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Операционна система: 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 фактор: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Form Factor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Захранване: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Вътрешно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320-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 х Ш х В)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		46.28 x 16.43 x 2.79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Тегло:	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кг.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3FBCF3-940C-4E4D-BEAA-8C5DC97D2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89" y="1970540"/>
            <a:ext cx="4942115" cy="370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98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F450-AE21-4610-AD76-2D96A3C6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52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Преден панел        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06F9C-29E1-4ED4-B548-EECE20864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490" y="1777223"/>
            <a:ext cx="6764694" cy="363453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 USB 2.0 </a:t>
            </a:r>
            <a:r>
              <a:rPr lang="bg-BG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портове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0" i="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 USB 3.0</a:t>
            </a:r>
            <a:r>
              <a:rPr lang="bg-BG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портове</a:t>
            </a:r>
          </a:p>
          <a:p>
            <a:r>
              <a:rPr lang="bg-B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bg-B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аудио портове (слушалки, микрофон)</a:t>
            </a:r>
          </a:p>
          <a:p>
            <a:r>
              <a:rPr lang="bg-B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бутон за включване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button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оптично устройство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(DVD drive)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9BFE30-AAB8-4B78-AE5E-7B6E39A0A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18" y="1438923"/>
            <a:ext cx="3945342" cy="52604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83406A-0806-44C3-8360-3DEC894642D0}"/>
              </a:ext>
            </a:extLst>
          </p:cNvPr>
          <p:cNvSpPr/>
          <p:nvPr/>
        </p:nvSpPr>
        <p:spPr>
          <a:xfrm>
            <a:off x="2407298" y="4460033"/>
            <a:ext cx="345233" cy="298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CCF18-2776-4385-9797-3B1801DDD50D}"/>
              </a:ext>
            </a:extLst>
          </p:cNvPr>
          <p:cNvSpPr txBox="1"/>
          <p:nvPr/>
        </p:nvSpPr>
        <p:spPr>
          <a:xfrm>
            <a:off x="2752531" y="4424656"/>
            <a:ext cx="33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9CA58B-1323-435F-9F94-DCA804885D52}"/>
              </a:ext>
            </a:extLst>
          </p:cNvPr>
          <p:cNvSpPr/>
          <p:nvPr/>
        </p:nvSpPr>
        <p:spPr>
          <a:xfrm>
            <a:off x="2421294" y="4793988"/>
            <a:ext cx="345233" cy="29857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ABACE-0570-407D-B58A-1C31C9AFBC39}"/>
              </a:ext>
            </a:extLst>
          </p:cNvPr>
          <p:cNvSpPr txBox="1"/>
          <p:nvPr/>
        </p:nvSpPr>
        <p:spPr>
          <a:xfrm>
            <a:off x="2766527" y="4749431"/>
            <a:ext cx="33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A1AD9D-3C09-45BA-8AF5-C67F1F5B4BAC}"/>
              </a:ext>
            </a:extLst>
          </p:cNvPr>
          <p:cNvSpPr/>
          <p:nvPr/>
        </p:nvSpPr>
        <p:spPr>
          <a:xfrm>
            <a:off x="2304662" y="5137124"/>
            <a:ext cx="559836" cy="41459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81C0C5-A3F7-4D61-B909-8346706E0B8B}"/>
              </a:ext>
            </a:extLst>
          </p:cNvPr>
          <p:cNvSpPr/>
          <p:nvPr/>
        </p:nvSpPr>
        <p:spPr>
          <a:xfrm>
            <a:off x="2358313" y="1777222"/>
            <a:ext cx="559836" cy="41459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F7B328-7A3A-4393-8D32-4B58BA19B7F7}"/>
              </a:ext>
            </a:extLst>
          </p:cNvPr>
          <p:cNvSpPr txBox="1"/>
          <p:nvPr/>
        </p:nvSpPr>
        <p:spPr>
          <a:xfrm>
            <a:off x="2864498" y="5183154"/>
            <a:ext cx="33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334B07-C724-47AC-8E4D-38E9BFF2C9F1}"/>
              </a:ext>
            </a:extLst>
          </p:cNvPr>
          <p:cNvSpPr txBox="1"/>
          <p:nvPr/>
        </p:nvSpPr>
        <p:spPr>
          <a:xfrm>
            <a:off x="2967135" y="1822480"/>
            <a:ext cx="33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098CB7-A68D-4355-A8D0-A28FAB29D8DE}"/>
              </a:ext>
            </a:extLst>
          </p:cNvPr>
          <p:cNvSpPr/>
          <p:nvPr/>
        </p:nvSpPr>
        <p:spPr>
          <a:xfrm>
            <a:off x="2358313" y="2247795"/>
            <a:ext cx="559836" cy="178846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174FB5-3977-418F-9D68-39F3AB25C94D}"/>
              </a:ext>
            </a:extLst>
          </p:cNvPr>
          <p:cNvSpPr txBox="1"/>
          <p:nvPr/>
        </p:nvSpPr>
        <p:spPr>
          <a:xfrm>
            <a:off x="2962469" y="2985260"/>
            <a:ext cx="33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300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3223-B555-4E8B-9C88-A394574F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9740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Заден панел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791DA-BD03-41EA-8476-1693CA88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67" y="1115736"/>
            <a:ext cx="6523725" cy="56022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bg-BG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конектор за захранване 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USB 2.0 </a:t>
            </a:r>
            <a:r>
              <a:rPr lang="bg-B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портове</a:t>
            </a:r>
          </a:p>
          <a:p>
            <a:r>
              <a:rPr lang="bg-B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USB 3.0 </a:t>
            </a:r>
            <a:r>
              <a:rPr lang="bg-B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портове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аудио жакове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stereo audio out, line in)</a:t>
            </a:r>
            <a:endParaRPr lang="bg-BG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RJ-45 Ethernet </a:t>
            </a:r>
            <a:r>
              <a:rPr lang="bg-B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</a:t>
            </a:r>
          </a:p>
          <a:p>
            <a:r>
              <a:rPr lang="bg-BG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PS/2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мишка и клавиатура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VGA</a:t>
            </a:r>
          </a:p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RS-232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сериен порт</a:t>
            </a:r>
          </a:p>
          <a:p>
            <a:r>
              <a:rPr lang="bg-B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DisplayPort with multi-stream4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2FF8E-1DAE-43E4-A461-B8DE4DB0A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40" y="1115736"/>
            <a:ext cx="4201666" cy="56022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607700F-3394-4F5C-9AC4-4B7E3E7E0D7F}"/>
              </a:ext>
            </a:extLst>
          </p:cNvPr>
          <p:cNvSpPr/>
          <p:nvPr/>
        </p:nvSpPr>
        <p:spPr>
          <a:xfrm>
            <a:off x="1753299" y="1912690"/>
            <a:ext cx="478173" cy="721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F4E7D-6528-4E77-8492-799C6A9C1046}"/>
              </a:ext>
            </a:extLst>
          </p:cNvPr>
          <p:cNvSpPr txBox="1"/>
          <p:nvPr/>
        </p:nvSpPr>
        <p:spPr>
          <a:xfrm>
            <a:off x="1960113" y="2567031"/>
            <a:ext cx="3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20967-79B2-4089-B9A1-02FCE7480209}"/>
              </a:ext>
            </a:extLst>
          </p:cNvPr>
          <p:cNvSpPr/>
          <p:nvPr/>
        </p:nvSpPr>
        <p:spPr>
          <a:xfrm>
            <a:off x="2810311" y="4649967"/>
            <a:ext cx="285227" cy="27437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26BD32-44E8-461B-8405-6E2FB286317F}"/>
              </a:ext>
            </a:extLst>
          </p:cNvPr>
          <p:cNvSpPr/>
          <p:nvPr/>
        </p:nvSpPr>
        <p:spPr>
          <a:xfrm>
            <a:off x="3095538" y="5821960"/>
            <a:ext cx="201335" cy="21811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482AE-D29F-4C8B-A2DE-2D53847BFEE0}"/>
              </a:ext>
            </a:extLst>
          </p:cNvPr>
          <p:cNvSpPr/>
          <p:nvPr/>
        </p:nvSpPr>
        <p:spPr>
          <a:xfrm>
            <a:off x="3105326" y="4649967"/>
            <a:ext cx="285227" cy="27437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E0C1B-3277-4B19-8939-7A2A14A70826}"/>
              </a:ext>
            </a:extLst>
          </p:cNvPr>
          <p:cNvSpPr txBox="1"/>
          <p:nvPr/>
        </p:nvSpPr>
        <p:spPr>
          <a:xfrm>
            <a:off x="2552147" y="4602486"/>
            <a:ext cx="3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A10FE7-359A-45B9-A4FE-CACA9EBA27BE}"/>
              </a:ext>
            </a:extLst>
          </p:cNvPr>
          <p:cNvSpPr txBox="1"/>
          <p:nvPr/>
        </p:nvSpPr>
        <p:spPr>
          <a:xfrm>
            <a:off x="3263317" y="5742264"/>
            <a:ext cx="3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D17C9-0EC8-46B1-8EB9-29A5CADA2842}"/>
              </a:ext>
            </a:extLst>
          </p:cNvPr>
          <p:cNvSpPr txBox="1"/>
          <p:nvPr/>
        </p:nvSpPr>
        <p:spPr>
          <a:xfrm>
            <a:off x="3390553" y="4621730"/>
            <a:ext cx="3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BCE2FE-E902-46D3-BF2D-417A079FE025}"/>
              </a:ext>
            </a:extLst>
          </p:cNvPr>
          <p:cNvSpPr txBox="1"/>
          <p:nvPr/>
        </p:nvSpPr>
        <p:spPr>
          <a:xfrm>
            <a:off x="2952924" y="4131730"/>
            <a:ext cx="3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4">
                    <a:lumMod val="75000"/>
                  </a:schemeClr>
                </a:solidFill>
              </a:rPr>
              <a:t>4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1987E3-844E-43A3-B3DA-8755CD9CADA8}"/>
              </a:ext>
            </a:extLst>
          </p:cNvPr>
          <p:cNvSpPr/>
          <p:nvPr/>
        </p:nvSpPr>
        <p:spPr>
          <a:xfrm>
            <a:off x="2924174" y="4431853"/>
            <a:ext cx="429528" cy="218114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BCC77E-EECB-4A32-82D5-E12750DEEB60}"/>
              </a:ext>
            </a:extLst>
          </p:cNvPr>
          <p:cNvSpPr/>
          <p:nvPr/>
        </p:nvSpPr>
        <p:spPr>
          <a:xfrm>
            <a:off x="2781559" y="5782481"/>
            <a:ext cx="285227" cy="24215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00D69-B6EB-4FBB-8C1E-A6DAE50E6E1D}"/>
              </a:ext>
            </a:extLst>
          </p:cNvPr>
          <p:cNvSpPr txBox="1"/>
          <p:nvPr/>
        </p:nvSpPr>
        <p:spPr>
          <a:xfrm>
            <a:off x="2749898" y="5468803"/>
            <a:ext cx="3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6"/>
                </a:solidFill>
              </a:rPr>
              <a:t>5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111F92-A3DC-4CBC-AB91-0DA933F68A42}"/>
              </a:ext>
            </a:extLst>
          </p:cNvPr>
          <p:cNvSpPr/>
          <p:nvPr/>
        </p:nvSpPr>
        <p:spPr>
          <a:xfrm>
            <a:off x="2853710" y="6045222"/>
            <a:ext cx="536843" cy="242155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EB3951-D1E0-4153-B1B9-9FC7707F79A7}"/>
              </a:ext>
            </a:extLst>
          </p:cNvPr>
          <p:cNvSpPr txBox="1"/>
          <p:nvPr/>
        </p:nvSpPr>
        <p:spPr>
          <a:xfrm>
            <a:off x="3353883" y="6024636"/>
            <a:ext cx="3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4">
                    <a:lumMod val="50000"/>
                  </a:schemeClr>
                </a:solidFill>
              </a:rPr>
              <a:t>6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CE78D2-880B-43AB-8606-D47B607EFCD7}"/>
              </a:ext>
            </a:extLst>
          </p:cNvPr>
          <p:cNvSpPr/>
          <p:nvPr/>
        </p:nvSpPr>
        <p:spPr>
          <a:xfrm>
            <a:off x="3114325" y="4950091"/>
            <a:ext cx="239377" cy="4121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BCC4F-0A15-43B1-ABBD-E61A3B39C7CC}"/>
              </a:ext>
            </a:extLst>
          </p:cNvPr>
          <p:cNvSpPr txBox="1"/>
          <p:nvPr/>
        </p:nvSpPr>
        <p:spPr>
          <a:xfrm>
            <a:off x="3296873" y="5002601"/>
            <a:ext cx="3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403240-1F88-4FC0-A8D3-E34030145EFA}"/>
              </a:ext>
            </a:extLst>
          </p:cNvPr>
          <p:cNvSpPr/>
          <p:nvPr/>
        </p:nvSpPr>
        <p:spPr>
          <a:xfrm>
            <a:off x="2830319" y="4959811"/>
            <a:ext cx="239377" cy="41212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D6493A-ABC4-4715-9940-8A4B0174CCE2}"/>
              </a:ext>
            </a:extLst>
          </p:cNvPr>
          <p:cNvSpPr txBox="1"/>
          <p:nvPr/>
        </p:nvSpPr>
        <p:spPr>
          <a:xfrm>
            <a:off x="2560300" y="4980871"/>
            <a:ext cx="3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rgbClr val="FFFF00"/>
                </a:solidFill>
              </a:rPr>
              <a:t>8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FC15B1-71B1-405A-8172-4D41D874C8E5}"/>
              </a:ext>
            </a:extLst>
          </p:cNvPr>
          <p:cNvSpPr/>
          <p:nvPr/>
        </p:nvSpPr>
        <p:spPr>
          <a:xfrm rot="5400000">
            <a:off x="3094203" y="5460841"/>
            <a:ext cx="183016" cy="4121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3CE143-A12B-4493-94C8-1E5A3F162128}"/>
              </a:ext>
            </a:extLst>
          </p:cNvPr>
          <p:cNvSpPr txBox="1"/>
          <p:nvPr/>
        </p:nvSpPr>
        <p:spPr>
          <a:xfrm>
            <a:off x="3380502" y="5463454"/>
            <a:ext cx="372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bg1"/>
                </a:solidFill>
              </a:rPr>
              <a:t>9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123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C43E2-FF8E-4723-A271-25B22FF5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898" y="18255"/>
            <a:ext cx="5942902" cy="1325563"/>
          </a:xfrm>
        </p:spPr>
        <p:txBody>
          <a:bodyPr/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Вътре в кутията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CE41F-0E61-4BEC-B4F7-7AC25D841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1" y="1459684"/>
            <a:ext cx="7129593" cy="5398314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DIMM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слотове за рам памет до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GB</a:t>
            </a:r>
          </a:p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Захранване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320-W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 (Solid-State Drive)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Ultimate SU800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отдолу твърд диск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HDD (Hard Disk Drive)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Охладител за процесор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 PCI Express x1 (v2.0)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 PCI Express x 16 (v2.0 - wired as x4)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 PCI Express x16 (v3.0)</a:t>
            </a:r>
          </a:p>
          <a:p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5CA96D-97C8-4C69-8EBD-1B8BC6B9A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256"/>
            <a:ext cx="5143500" cy="68762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49E396-BFDE-428F-9CE8-7D41CBC548F2}"/>
              </a:ext>
            </a:extLst>
          </p:cNvPr>
          <p:cNvSpPr/>
          <p:nvPr/>
        </p:nvSpPr>
        <p:spPr>
          <a:xfrm>
            <a:off x="2659310" y="3531765"/>
            <a:ext cx="1853967" cy="55367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0FCBE-693D-49D2-B714-2AE344202BEA}"/>
              </a:ext>
            </a:extLst>
          </p:cNvPr>
          <p:cNvSpPr txBox="1"/>
          <p:nvPr/>
        </p:nvSpPr>
        <p:spPr>
          <a:xfrm>
            <a:off x="3586293" y="3990955"/>
            <a:ext cx="29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10E798-4685-44B7-A0A3-F8DFAB294D41}"/>
              </a:ext>
            </a:extLst>
          </p:cNvPr>
          <p:cNvSpPr/>
          <p:nvPr/>
        </p:nvSpPr>
        <p:spPr>
          <a:xfrm rot="5400000">
            <a:off x="-138419" y="1855325"/>
            <a:ext cx="2169952" cy="95914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2BAC76-38DC-466D-9D50-8431DEE6F1EE}"/>
              </a:ext>
            </a:extLst>
          </p:cNvPr>
          <p:cNvSpPr txBox="1"/>
          <p:nvPr/>
        </p:nvSpPr>
        <p:spPr>
          <a:xfrm>
            <a:off x="543885" y="3050539"/>
            <a:ext cx="29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412F1F-8129-4B1A-AFBF-66244328E549}"/>
              </a:ext>
            </a:extLst>
          </p:cNvPr>
          <p:cNvSpPr/>
          <p:nvPr/>
        </p:nvSpPr>
        <p:spPr>
          <a:xfrm rot="10800000">
            <a:off x="2430011" y="4506583"/>
            <a:ext cx="2169952" cy="959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16F75-57D1-4E5A-BDE4-B3165B4AC593}"/>
              </a:ext>
            </a:extLst>
          </p:cNvPr>
          <p:cNvSpPr txBox="1"/>
          <p:nvPr/>
        </p:nvSpPr>
        <p:spPr>
          <a:xfrm>
            <a:off x="3129093" y="4986154"/>
            <a:ext cx="29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90F9B0-5038-470C-94EC-E07F9AF89FEA}"/>
              </a:ext>
            </a:extLst>
          </p:cNvPr>
          <p:cNvSpPr/>
          <p:nvPr/>
        </p:nvSpPr>
        <p:spPr>
          <a:xfrm>
            <a:off x="3036815" y="2628105"/>
            <a:ext cx="1241570" cy="757363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081B1C-8CFF-4E54-A8E4-882011725649}"/>
              </a:ext>
            </a:extLst>
          </p:cNvPr>
          <p:cNvSpPr txBox="1"/>
          <p:nvPr/>
        </p:nvSpPr>
        <p:spPr>
          <a:xfrm>
            <a:off x="3221371" y="2822120"/>
            <a:ext cx="29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solidFill>
                  <a:schemeClr val="accent4">
                    <a:lumMod val="75000"/>
                  </a:schemeClr>
                </a:solidFill>
              </a:rPr>
              <a:t>4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BF718C-1158-4687-82A3-186A062EB47E}"/>
              </a:ext>
            </a:extLst>
          </p:cNvPr>
          <p:cNvSpPr/>
          <p:nvPr/>
        </p:nvSpPr>
        <p:spPr>
          <a:xfrm rot="5400000">
            <a:off x="1605378" y="2137521"/>
            <a:ext cx="1241570" cy="86629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51139C-584A-4C52-85EC-6E61A8CB1546}"/>
              </a:ext>
            </a:extLst>
          </p:cNvPr>
          <p:cNvSpPr txBox="1"/>
          <p:nvPr/>
        </p:nvSpPr>
        <p:spPr>
          <a:xfrm>
            <a:off x="2084664" y="2258773"/>
            <a:ext cx="29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1622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B946D7-1CA4-446E-8795-007CACFDE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2416F2-BC84-4D7C-80C6-6296C10C3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95338" y="981075"/>
            <a:ext cx="10601325" cy="4552949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6F134-CE46-4ADB-8E77-96E2AFAD7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7096" y="1428750"/>
            <a:ext cx="9117807" cy="2997927"/>
          </a:xfrm>
        </p:spPr>
        <p:txBody>
          <a:bodyPr>
            <a:normAutofit fontScale="90000"/>
          </a:bodyPr>
          <a:lstStyle/>
          <a:p>
            <a:br>
              <a:rPr lang="bg-BG" dirty="0"/>
            </a:br>
            <a:br>
              <a:rPr lang="bg-BG" dirty="0"/>
            </a:br>
            <a:br>
              <a:rPr lang="bg-BG" dirty="0"/>
            </a:br>
            <a:br>
              <a:rPr lang="bg-BG" dirty="0"/>
            </a:br>
            <a:br>
              <a:rPr lang="bg-BG" dirty="0"/>
            </a:br>
            <a:br>
              <a:rPr lang="bg-BG" dirty="0"/>
            </a:br>
            <a:br>
              <a:rPr lang="en-US" sz="5300" dirty="0"/>
            </a:br>
            <a:br>
              <a:rPr lang="bg-BG" sz="5300" dirty="0"/>
            </a:br>
            <a:r>
              <a:rPr lang="bg-BG" sz="5300" dirty="0"/>
              <a:t>Благодаря за вниманието!</a:t>
            </a:r>
            <a:br>
              <a:rPr lang="bg-BG" dirty="0"/>
            </a:br>
            <a:endParaRPr lang="bg-BG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30623A-AB89-4E04-AC9A-2BAFBF85A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52800" y="3771366"/>
            <a:ext cx="5486400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682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Words>675</Words>
  <Application>Microsoft Office PowerPoint</Application>
  <PresentationFormat>Widescreen</PresentationFormat>
  <Paragraphs>124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      Химикотехнологичен и металургичен университет  Компютърни архитектури </vt:lpstr>
      <vt:lpstr>1. Монитор</vt:lpstr>
      <vt:lpstr>2. Мишка                                 3. Клавиатура</vt:lpstr>
      <vt:lpstr>4. Десктоп компютър</vt:lpstr>
      <vt:lpstr>5. Преден панел                       </vt:lpstr>
      <vt:lpstr>6. Заден панел</vt:lpstr>
      <vt:lpstr>7. Вътре в кутията</vt:lpstr>
      <vt:lpstr>        Благодаря за вниманието!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Компютърни архитектури</dc:title>
  <dc:creator>Lab196 UCTM</dc:creator>
  <cp:lastModifiedBy>Kiril Kiskinov</cp:lastModifiedBy>
  <cp:revision>32</cp:revision>
  <dcterms:created xsi:type="dcterms:W3CDTF">2021-02-18T08:35:01Z</dcterms:created>
  <dcterms:modified xsi:type="dcterms:W3CDTF">2021-02-24T23:27:47Z</dcterms:modified>
</cp:coreProperties>
</file>