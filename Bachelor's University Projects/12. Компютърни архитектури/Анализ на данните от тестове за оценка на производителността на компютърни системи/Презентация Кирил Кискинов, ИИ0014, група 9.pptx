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44CB7A-F346-4F99-8CAB-A82078563DC8}" type="datetimeFigureOut">
              <a:rPr lang="en-US" smtClean="0"/>
              <a:t>3/11/2021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49D2C2-19BB-49A0-8ABD-645ACB2E4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519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49D2C2-19BB-49A0-8ABD-645ACB2E434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9268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49D2C2-19BB-49A0-8ABD-645ACB2E434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0534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49D2C2-19BB-49A0-8ABD-645ACB2E434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8642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49D2C2-19BB-49A0-8ABD-645ACB2E434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802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49D2C2-19BB-49A0-8ABD-645ACB2E434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364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49D2C2-19BB-49A0-8ABD-645ACB2E434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030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C0C55AD1-4C2A-449E-B0B5-3F3708CC849D}" type="datetimeFigureOut">
              <a:rPr lang="en-US" smtClean="0"/>
              <a:t>3/11/2021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2442FFCA-F9BA-487A-ABA6-03F6B7BF3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550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55AD1-4C2A-449E-B0B5-3F3708CC849D}" type="datetimeFigureOut">
              <a:rPr lang="en-US" smtClean="0"/>
              <a:t>3/11/2021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FFCA-F9BA-487A-ABA6-03F6B7BF3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943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55AD1-4C2A-449E-B0B5-3F3708CC849D}" type="datetimeFigureOut">
              <a:rPr lang="en-US" smtClean="0"/>
              <a:t>3/11/2021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FFCA-F9BA-487A-ABA6-03F6B7BF3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208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55AD1-4C2A-449E-B0B5-3F3708CC849D}" type="datetimeFigureOut">
              <a:rPr lang="en-US" smtClean="0"/>
              <a:t>3/11/2021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FFCA-F9BA-487A-ABA6-03F6B7BF3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040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55AD1-4C2A-449E-B0B5-3F3708CC849D}" type="datetimeFigureOut">
              <a:rPr lang="en-US" smtClean="0"/>
              <a:t>3/11/2021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FFCA-F9BA-487A-ABA6-03F6B7BF3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993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55AD1-4C2A-449E-B0B5-3F3708CC849D}" type="datetimeFigureOut">
              <a:rPr lang="en-US" smtClean="0"/>
              <a:t>3/11/2021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FFCA-F9BA-487A-ABA6-03F6B7BF3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417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55AD1-4C2A-449E-B0B5-3F3708CC849D}" type="datetimeFigureOut">
              <a:rPr lang="en-US" smtClean="0"/>
              <a:t>3/11/2021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FFCA-F9BA-487A-ABA6-03F6B7BF3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713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55AD1-4C2A-449E-B0B5-3F3708CC849D}" type="datetimeFigureOut">
              <a:rPr lang="en-US" smtClean="0"/>
              <a:t>3/11/2021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FFCA-F9BA-487A-ABA6-03F6B7BF3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237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55AD1-4C2A-449E-B0B5-3F3708CC849D}" type="datetimeFigureOut">
              <a:rPr lang="en-US" smtClean="0"/>
              <a:t>3/11/2021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FFCA-F9BA-487A-ABA6-03F6B7BF3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354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55AD1-4C2A-449E-B0B5-3F3708CC849D}" type="datetimeFigureOut">
              <a:rPr lang="en-US" smtClean="0"/>
              <a:t>3/11/2021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FFCA-F9BA-487A-ABA6-03F6B7BF3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562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55AD1-4C2A-449E-B0B5-3F3708CC849D}" type="datetimeFigureOut">
              <a:rPr lang="en-US" smtClean="0"/>
              <a:t>3/11/2021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FFCA-F9BA-487A-ABA6-03F6B7BF3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5922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55AD1-4C2A-449E-B0B5-3F3708CC849D}" type="datetimeFigureOut">
              <a:rPr lang="en-US" smtClean="0"/>
              <a:t>3/11/2021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FFCA-F9BA-487A-ABA6-03F6B7BF3856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985058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55AD1-4C2A-449E-B0B5-3F3708CC849D}" type="datetimeFigureOut">
              <a:rPr lang="en-US" smtClean="0"/>
              <a:t>3/11/2021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FFCA-F9BA-487A-ABA6-03F6B7BF3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4863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55AD1-4C2A-449E-B0B5-3F3708CC849D}" type="datetimeFigureOut">
              <a:rPr lang="en-US" smtClean="0"/>
              <a:t>3/11/2021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FFCA-F9BA-487A-ABA6-03F6B7BF3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0529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55AD1-4C2A-449E-B0B5-3F3708CC849D}" type="datetimeFigureOut">
              <a:rPr lang="en-US" smtClean="0"/>
              <a:t>3/11/2021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FFCA-F9BA-487A-ABA6-03F6B7BF3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0159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55AD1-4C2A-449E-B0B5-3F3708CC849D}" type="datetimeFigureOut">
              <a:rPr lang="en-US" smtClean="0"/>
              <a:t>3/11/2021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FFCA-F9BA-487A-ABA6-03F6B7BF3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4712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55AD1-4C2A-449E-B0B5-3F3708CC849D}" type="datetimeFigureOut">
              <a:rPr lang="en-US" smtClean="0"/>
              <a:t>3/11/2021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FFCA-F9BA-487A-ABA6-03F6B7BF3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724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C55AD1-4C2A-449E-B0B5-3F3708CC849D}" type="datetimeFigureOut">
              <a:rPr lang="en-US" smtClean="0"/>
              <a:t>3/11/2021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42FFCA-F9BA-487A-ABA6-03F6B7BF3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3114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2653C-6800-4B15-B90C-F71FBDE3D2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5938" y="1615736"/>
            <a:ext cx="10736069" cy="2414726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Анализ на данните от тестове за оценка на производителността на компютърни системи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0E354F-EB17-46FC-9DEA-EB929B53A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89755" y="5610616"/>
            <a:ext cx="7602245" cy="426205"/>
          </a:xfrm>
        </p:spPr>
        <p:txBody>
          <a:bodyPr>
            <a:normAutofit fontScale="85000" lnSpcReduction="10000"/>
          </a:bodyPr>
          <a:lstStyle/>
          <a:p>
            <a:r>
              <a:rPr lang="bg-B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Изготвил: Кирил Николаев Кискинов, Фак.№ ИИ0014, група 9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8361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148EE-1B26-4A70-9414-633907B6C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0029" y="0"/>
            <a:ext cx="5871940" cy="1478570"/>
          </a:xfrm>
        </p:spPr>
        <p:txBody>
          <a:bodyPr>
            <a:normAutofit/>
          </a:bodyPr>
          <a:lstStyle/>
          <a:p>
            <a:r>
              <a:rPr lang="bg-BG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 работа на паметта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A2BD6-AE60-4927-9575-18E0F2A3A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7720" y="1047565"/>
            <a:ext cx="9756559" cy="553966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ru-RU" b="0" i="0" dirty="0">
                <a:effectLst/>
                <a:latin typeface="Arial" panose="020B0604020202020204" pitchFamily="34" charset="0"/>
              </a:rPr>
              <a:t>Паметта е изключително важна част от хардуерната част на компютъра. Тя пази информацията, докато все още е в процес на обработка. Два са основните вида памет в компютъра:</a:t>
            </a:r>
          </a:p>
          <a:p>
            <a:pPr lvl="1"/>
            <a:r>
              <a:rPr lang="ru-RU" sz="2400" b="0" i="0" dirty="0">
                <a:effectLst/>
                <a:latin typeface="Arial" panose="020B0604020202020204" pitchFamily="34" charset="0"/>
              </a:rPr>
              <a:t>Random Access Memory (RAM)</a:t>
            </a:r>
          </a:p>
          <a:p>
            <a:pPr lvl="1"/>
            <a:r>
              <a:rPr lang="ru-RU" sz="2400" b="0" i="0" dirty="0">
                <a:effectLst/>
                <a:latin typeface="Arial" panose="020B0604020202020204" pitchFamily="34" charset="0"/>
              </a:rPr>
              <a:t>Read Only Memory (ROM)</a:t>
            </a:r>
          </a:p>
          <a:p>
            <a:pPr algn="l"/>
            <a:r>
              <a:rPr lang="ru-RU" b="0" i="0" dirty="0">
                <a:effectLst/>
                <a:latin typeface="Arial" panose="020B0604020202020204" pitchFamily="34" charset="0"/>
              </a:rPr>
              <a:t>Данните, които се обработват</a:t>
            </a:r>
            <a:r>
              <a:rPr lang="en-US" b="0" i="0" dirty="0">
                <a:effectLst/>
                <a:latin typeface="Arial" panose="020B0604020202020204" pitchFamily="34" charset="0"/>
              </a:rPr>
              <a:t>,</a:t>
            </a:r>
            <a:r>
              <a:rPr lang="ru-RU" b="0" i="0" dirty="0">
                <a:effectLst/>
                <a:latin typeface="Arial" panose="020B0604020202020204" pitchFamily="34" charset="0"/>
              </a:rPr>
              <a:t> се съхраняват в RAM паметта. Тя променя своето съдържание постоянно. Важно е да се отбележи, че при изключване на компютъра нейното съдържание се губи. Докато съдържанието на ROM паметта е заложено от производителя и е постоянно, т.е. не можете да променяте информацията записана в нея.</a:t>
            </a:r>
            <a:endParaRPr lang="en-US" dirty="0">
              <a:latin typeface="Arial" panose="020B0604020202020204" pitchFamily="34" charset="0"/>
            </a:endParaRPr>
          </a:p>
          <a:p>
            <a:pPr algn="l"/>
            <a:r>
              <a:rPr lang="bg-BG" b="0" i="0" dirty="0">
                <a:effectLst/>
                <a:latin typeface="Arial" panose="020B0604020202020204" pitchFamily="34" charset="0"/>
              </a:rPr>
              <a:t>В следващите слайдове се вижда, че разлика</a:t>
            </a:r>
            <a:r>
              <a:rPr lang="bg-BG" dirty="0">
                <a:latin typeface="Arial" panose="020B0604020202020204" pitchFamily="34" charset="0"/>
              </a:rPr>
              <a:t>та в</a:t>
            </a:r>
            <a:r>
              <a:rPr lang="bg-BG" b="0" i="0" dirty="0">
                <a:effectLst/>
                <a:latin typeface="Arial" panose="020B0604020202020204" pitchFamily="34" charset="0"/>
              </a:rPr>
              <a:t> производителността на паметта между трите категории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bg-BG" b="0" i="0" dirty="0">
                <a:effectLst/>
                <a:latin typeface="Arial" panose="020B0604020202020204" pitchFamily="34" charset="0"/>
              </a:rPr>
              <a:t>(</a:t>
            </a:r>
            <a:r>
              <a:rPr lang="en-US" dirty="0">
                <a:latin typeface="Arial" panose="020B0604020202020204" pitchFamily="34" charset="0"/>
              </a:rPr>
              <a:t>MDC, WS, MC</a:t>
            </a:r>
            <a:r>
              <a:rPr lang="bg-BG" b="0" i="0" dirty="0">
                <a:effectLst/>
                <a:latin typeface="Arial" panose="020B0604020202020204" pitchFamily="34" charset="0"/>
              </a:rPr>
              <a:t>)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bg-BG" b="0" i="0" dirty="0">
                <a:effectLst/>
                <a:latin typeface="Arial" panose="020B0604020202020204" pitchFamily="34" charset="0"/>
              </a:rPr>
              <a:t>не е голяма, освен </a:t>
            </a:r>
            <a:r>
              <a:rPr lang="en-US" b="0" i="0" dirty="0">
                <a:effectLst/>
                <a:latin typeface="Arial" panose="020B0604020202020204" pitchFamily="34" charset="0"/>
              </a:rPr>
              <a:t>WS </a:t>
            </a:r>
            <a:r>
              <a:rPr lang="bg-BG" b="0" i="0" dirty="0">
                <a:effectLst/>
                <a:latin typeface="Arial" panose="020B0604020202020204" pitchFamily="34" charset="0"/>
              </a:rPr>
              <a:t>среден клас.</a:t>
            </a:r>
            <a:endParaRPr lang="ru-RU" b="0" i="0" dirty="0"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1070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2">
            <a:extLst>
              <a:ext uri="{FF2B5EF4-FFF2-40B4-BE49-F238E27FC236}">
                <a16:creationId xmlns:a16="http://schemas.microsoft.com/office/drawing/2014/main" id="{EA8ADA9F-99E3-4964-8962-1118D1439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2" name="Group 61">
            <a:extLst>
              <a:ext uri="{FF2B5EF4-FFF2-40B4-BE49-F238E27FC236}">
                <a16:creationId xmlns:a16="http://schemas.microsoft.com/office/drawing/2014/main" id="{366C3164-AA9F-47E3-913A-4F002BC0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23FFBAC2-26D2-48B6-B2AA-34AEA0E79E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75" name="Rectangle 5">
                <a:extLst>
                  <a:ext uri="{FF2B5EF4-FFF2-40B4-BE49-F238E27FC236}">
                    <a16:creationId xmlns:a16="http://schemas.microsoft.com/office/drawing/2014/main" id="{9B164BCB-27D3-4B8C-AC13-0A6F461082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76" name="Freeform 6">
                <a:extLst>
                  <a:ext uri="{FF2B5EF4-FFF2-40B4-BE49-F238E27FC236}">
                    <a16:creationId xmlns:a16="http://schemas.microsoft.com/office/drawing/2014/main" id="{10B247BE-F4A2-4259-9B20-FB9A555D28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7" name="Freeform 7">
                <a:extLst>
                  <a:ext uri="{FF2B5EF4-FFF2-40B4-BE49-F238E27FC236}">
                    <a16:creationId xmlns:a16="http://schemas.microsoft.com/office/drawing/2014/main" id="{39322C5A-DB6D-4B28-8C1C-1B1E896789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8" name="Freeform 8">
                <a:extLst>
                  <a:ext uri="{FF2B5EF4-FFF2-40B4-BE49-F238E27FC236}">
                    <a16:creationId xmlns:a16="http://schemas.microsoft.com/office/drawing/2014/main" id="{67009B08-E345-4516-96EC-ED0AB1F30B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9" name="Freeform 9">
                <a:extLst>
                  <a:ext uri="{FF2B5EF4-FFF2-40B4-BE49-F238E27FC236}">
                    <a16:creationId xmlns:a16="http://schemas.microsoft.com/office/drawing/2014/main" id="{DFE2793C-165C-4635-A26E-C569C8E0C5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0" name="Freeform 10">
                <a:extLst>
                  <a:ext uri="{FF2B5EF4-FFF2-40B4-BE49-F238E27FC236}">
                    <a16:creationId xmlns:a16="http://schemas.microsoft.com/office/drawing/2014/main" id="{ECDFEF2C-7B0A-41A1-BB61-C92CB3E3A7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1" name="Freeform 11">
                <a:extLst>
                  <a:ext uri="{FF2B5EF4-FFF2-40B4-BE49-F238E27FC236}">
                    <a16:creationId xmlns:a16="http://schemas.microsoft.com/office/drawing/2014/main" id="{0012A396-1946-4B40-AA39-0790157CE9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2" name="Freeform 12">
                <a:extLst>
                  <a:ext uri="{FF2B5EF4-FFF2-40B4-BE49-F238E27FC236}">
                    <a16:creationId xmlns:a16="http://schemas.microsoft.com/office/drawing/2014/main" id="{CD6C6024-F73D-4991-97B9-BE53FF24E3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3" name="Freeform 13">
                <a:extLst>
                  <a:ext uri="{FF2B5EF4-FFF2-40B4-BE49-F238E27FC236}">
                    <a16:creationId xmlns:a16="http://schemas.microsoft.com/office/drawing/2014/main" id="{5977EDD1-3D10-43FA-B800-7A7C8112B7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4" name="Freeform 14">
                <a:extLst>
                  <a:ext uri="{FF2B5EF4-FFF2-40B4-BE49-F238E27FC236}">
                    <a16:creationId xmlns:a16="http://schemas.microsoft.com/office/drawing/2014/main" id="{D37988CF-9FC6-48F5-82F8-D2EB0178A3B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5" name="Freeform 15">
                <a:extLst>
                  <a:ext uri="{FF2B5EF4-FFF2-40B4-BE49-F238E27FC236}">
                    <a16:creationId xmlns:a16="http://schemas.microsoft.com/office/drawing/2014/main" id="{EC5BB05B-491C-414A-91C3-B1CAB785A8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6" name="Line 16">
                <a:extLst>
                  <a:ext uri="{FF2B5EF4-FFF2-40B4-BE49-F238E27FC236}">
                    <a16:creationId xmlns:a16="http://schemas.microsoft.com/office/drawing/2014/main" id="{F3180CB6-F8D2-4596-B6CB-F9CEF5D389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87" name="Freeform 17">
                <a:extLst>
                  <a:ext uri="{FF2B5EF4-FFF2-40B4-BE49-F238E27FC236}">
                    <a16:creationId xmlns:a16="http://schemas.microsoft.com/office/drawing/2014/main" id="{DF338DD3-80F8-4F68-AC7C-361ABF2A9B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8" name="Freeform 18">
                <a:extLst>
                  <a:ext uri="{FF2B5EF4-FFF2-40B4-BE49-F238E27FC236}">
                    <a16:creationId xmlns:a16="http://schemas.microsoft.com/office/drawing/2014/main" id="{9666E4DB-B855-4A4E-BB50-1880738C11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9" name="Freeform 19">
                <a:extLst>
                  <a:ext uri="{FF2B5EF4-FFF2-40B4-BE49-F238E27FC236}">
                    <a16:creationId xmlns:a16="http://schemas.microsoft.com/office/drawing/2014/main" id="{F570FD9C-B435-4EF1-962C-621F1261AA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0" name="Freeform 20">
                <a:extLst>
                  <a:ext uri="{FF2B5EF4-FFF2-40B4-BE49-F238E27FC236}">
                    <a16:creationId xmlns:a16="http://schemas.microsoft.com/office/drawing/2014/main" id="{E236AF0B-3BDC-43C3-8FFC-2A94121E94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1" name="Rectangle 21">
                <a:extLst>
                  <a:ext uri="{FF2B5EF4-FFF2-40B4-BE49-F238E27FC236}">
                    <a16:creationId xmlns:a16="http://schemas.microsoft.com/office/drawing/2014/main" id="{3BA2C208-5097-4497-AA2C-ADDDAB48B6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92" name="Freeform 22">
                <a:extLst>
                  <a:ext uri="{FF2B5EF4-FFF2-40B4-BE49-F238E27FC236}">
                    <a16:creationId xmlns:a16="http://schemas.microsoft.com/office/drawing/2014/main" id="{6A45DD96-8D07-43CA-B036-6FDA880A17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3" name="Freeform 23">
                <a:extLst>
                  <a:ext uri="{FF2B5EF4-FFF2-40B4-BE49-F238E27FC236}">
                    <a16:creationId xmlns:a16="http://schemas.microsoft.com/office/drawing/2014/main" id="{AF7F7CBB-E154-4CD5-9ED0-D5DDC1DFEAE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4" name="Freeform 24">
                <a:extLst>
                  <a:ext uri="{FF2B5EF4-FFF2-40B4-BE49-F238E27FC236}">
                    <a16:creationId xmlns:a16="http://schemas.microsoft.com/office/drawing/2014/main" id="{EFF4AB16-41DD-4877-8C28-ED78F4CA7F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5" name="Freeform 25">
                <a:extLst>
                  <a:ext uri="{FF2B5EF4-FFF2-40B4-BE49-F238E27FC236}">
                    <a16:creationId xmlns:a16="http://schemas.microsoft.com/office/drawing/2014/main" id="{30BCBD5D-92EB-487E-B1D0-F9000D45D1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6" name="Freeform 26">
                <a:extLst>
                  <a:ext uri="{FF2B5EF4-FFF2-40B4-BE49-F238E27FC236}">
                    <a16:creationId xmlns:a16="http://schemas.microsoft.com/office/drawing/2014/main" id="{DA07BDB8-9827-4EBF-9B99-6C503EA0BC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7" name="Freeform 27">
                <a:extLst>
                  <a:ext uri="{FF2B5EF4-FFF2-40B4-BE49-F238E27FC236}">
                    <a16:creationId xmlns:a16="http://schemas.microsoft.com/office/drawing/2014/main" id="{7F41FB05-1B3F-450A-A1A7-8C8BD182A5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8" name="Freeform 28">
                <a:extLst>
                  <a:ext uri="{FF2B5EF4-FFF2-40B4-BE49-F238E27FC236}">
                    <a16:creationId xmlns:a16="http://schemas.microsoft.com/office/drawing/2014/main" id="{0629E219-1F32-41C1-B921-05E4561179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9" name="Freeform 29">
                <a:extLst>
                  <a:ext uri="{FF2B5EF4-FFF2-40B4-BE49-F238E27FC236}">
                    <a16:creationId xmlns:a16="http://schemas.microsoft.com/office/drawing/2014/main" id="{8081FB28-486E-4C09-9D15-0B2657B56F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00" name="Freeform 30">
                <a:extLst>
                  <a:ext uri="{FF2B5EF4-FFF2-40B4-BE49-F238E27FC236}">
                    <a16:creationId xmlns:a16="http://schemas.microsoft.com/office/drawing/2014/main" id="{CB547EFB-F29D-4336-9644-0AE7A94EA4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01" name="Freeform 31">
                <a:extLst>
                  <a:ext uri="{FF2B5EF4-FFF2-40B4-BE49-F238E27FC236}">
                    <a16:creationId xmlns:a16="http://schemas.microsoft.com/office/drawing/2014/main" id="{BB2793F4-FAD7-459A-BC46-06BB1D4FAA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FC01589C-0235-4B21-B264-777746D4D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65" name="Freeform 32">
                <a:extLst>
                  <a:ext uri="{FF2B5EF4-FFF2-40B4-BE49-F238E27FC236}">
                    <a16:creationId xmlns:a16="http://schemas.microsoft.com/office/drawing/2014/main" id="{678F5669-8CE7-445E-8D54-49C5E2013B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66" name="Freeform 33">
                <a:extLst>
                  <a:ext uri="{FF2B5EF4-FFF2-40B4-BE49-F238E27FC236}">
                    <a16:creationId xmlns:a16="http://schemas.microsoft.com/office/drawing/2014/main" id="{E93A3F8E-D876-485E-9EDC-43E315DE1E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67" name="Freeform 34">
                <a:extLst>
                  <a:ext uri="{FF2B5EF4-FFF2-40B4-BE49-F238E27FC236}">
                    <a16:creationId xmlns:a16="http://schemas.microsoft.com/office/drawing/2014/main" id="{B4F848A6-931A-4CC9-9B29-C7A9CEA3AC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68" name="Freeform 35">
                <a:extLst>
                  <a:ext uri="{FF2B5EF4-FFF2-40B4-BE49-F238E27FC236}">
                    <a16:creationId xmlns:a16="http://schemas.microsoft.com/office/drawing/2014/main" id="{5C4204D4-6782-4DB1-8FF8-86CC698AF2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69" name="Freeform 36">
                <a:extLst>
                  <a:ext uri="{FF2B5EF4-FFF2-40B4-BE49-F238E27FC236}">
                    <a16:creationId xmlns:a16="http://schemas.microsoft.com/office/drawing/2014/main" id="{3907C583-5764-43DC-8AF9-992D3472F6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0" name="Freeform 37">
                <a:extLst>
                  <a:ext uri="{FF2B5EF4-FFF2-40B4-BE49-F238E27FC236}">
                    <a16:creationId xmlns:a16="http://schemas.microsoft.com/office/drawing/2014/main" id="{56CE3D6E-1121-4EF2-9DFB-7F3937FCCD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1" name="Freeform 38">
                <a:extLst>
                  <a:ext uri="{FF2B5EF4-FFF2-40B4-BE49-F238E27FC236}">
                    <a16:creationId xmlns:a16="http://schemas.microsoft.com/office/drawing/2014/main" id="{3AEB7245-E197-4AE5-BCFC-7821E49EFE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2" name="Freeform 39">
                <a:extLst>
                  <a:ext uri="{FF2B5EF4-FFF2-40B4-BE49-F238E27FC236}">
                    <a16:creationId xmlns:a16="http://schemas.microsoft.com/office/drawing/2014/main" id="{801E9C76-F4FB-4C4D-9350-B526F294E0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3" name="Freeform 40">
                <a:extLst>
                  <a:ext uri="{FF2B5EF4-FFF2-40B4-BE49-F238E27FC236}">
                    <a16:creationId xmlns:a16="http://schemas.microsoft.com/office/drawing/2014/main" id="{F9C0C5DE-6C8C-4CD0-9C91-6A132A06DA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4" name="Rectangle 41">
                <a:extLst>
                  <a:ext uri="{FF2B5EF4-FFF2-40B4-BE49-F238E27FC236}">
                    <a16:creationId xmlns:a16="http://schemas.microsoft.com/office/drawing/2014/main" id="{955A7039-8B66-4CF0-8048-0AD0F4A5B85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pic>
        <p:nvPicPr>
          <p:cNvPr id="103" name="Picture 2">
            <a:extLst>
              <a:ext uri="{FF2B5EF4-FFF2-40B4-BE49-F238E27FC236}">
                <a16:creationId xmlns:a16="http://schemas.microsoft.com/office/drawing/2014/main" id="{6D651BB0-1DFD-4941-83DD-704006F6B1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" name="Round Diagonal Corner Rectangle 6">
            <a:extLst>
              <a:ext uri="{FF2B5EF4-FFF2-40B4-BE49-F238E27FC236}">
                <a16:creationId xmlns:a16="http://schemas.microsoft.com/office/drawing/2014/main" id="{3D66C6E3-EBD2-40B7-8FD8-D6D2250FC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0544" y="808057"/>
            <a:ext cx="10227733" cy="5234394"/>
          </a:xfrm>
          <a:prstGeom prst="round2DiagRect">
            <a:avLst>
              <a:gd name="adj1" fmla="val 6185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DBA4AE-A40D-404C-8CDA-DA472793D5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2345" y="1093788"/>
            <a:ext cx="9387418" cy="467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491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Picture 2">
            <a:extLst>
              <a:ext uri="{FF2B5EF4-FFF2-40B4-BE49-F238E27FC236}">
                <a16:creationId xmlns:a16="http://schemas.microsoft.com/office/drawing/2014/main" id="{6551C300-1D7A-46C3-9EF6-0EAC9B1E1F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4" name="Group 61">
            <a:extLst>
              <a:ext uri="{FF2B5EF4-FFF2-40B4-BE49-F238E27FC236}">
                <a16:creationId xmlns:a16="http://schemas.microsoft.com/office/drawing/2014/main" id="{8EC1EDC6-1B42-4FCD-BC53-B1D05BFF2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633EFBCB-98A2-4F16-B3BB-BF9EC17846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75" name="Rectangle 5">
                <a:extLst>
                  <a:ext uri="{FF2B5EF4-FFF2-40B4-BE49-F238E27FC236}">
                    <a16:creationId xmlns:a16="http://schemas.microsoft.com/office/drawing/2014/main" id="{B399E29C-9CF8-4BD1-8750-949BA21268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76" name="Freeform 6">
                <a:extLst>
                  <a:ext uri="{FF2B5EF4-FFF2-40B4-BE49-F238E27FC236}">
                    <a16:creationId xmlns:a16="http://schemas.microsoft.com/office/drawing/2014/main" id="{CB02DFF7-56DA-42B6-B49A-C8926B841A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7" name="Freeform 7">
                <a:extLst>
                  <a:ext uri="{FF2B5EF4-FFF2-40B4-BE49-F238E27FC236}">
                    <a16:creationId xmlns:a16="http://schemas.microsoft.com/office/drawing/2014/main" id="{07F77B45-21CD-43DB-AD58-24F8145021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8" name="Freeform 8">
                <a:extLst>
                  <a:ext uri="{FF2B5EF4-FFF2-40B4-BE49-F238E27FC236}">
                    <a16:creationId xmlns:a16="http://schemas.microsoft.com/office/drawing/2014/main" id="{F0151C40-12A4-4A09-A8B6-179A062EF6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9" name="Freeform 9">
                <a:extLst>
                  <a:ext uri="{FF2B5EF4-FFF2-40B4-BE49-F238E27FC236}">
                    <a16:creationId xmlns:a16="http://schemas.microsoft.com/office/drawing/2014/main" id="{F0146EA7-EB82-410D-A6ED-7C10C525ADC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0" name="Freeform 10">
                <a:extLst>
                  <a:ext uri="{FF2B5EF4-FFF2-40B4-BE49-F238E27FC236}">
                    <a16:creationId xmlns:a16="http://schemas.microsoft.com/office/drawing/2014/main" id="{20DD5C02-0C86-4FA9-B82A-254EF58D37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1" name="Freeform 11">
                <a:extLst>
                  <a:ext uri="{FF2B5EF4-FFF2-40B4-BE49-F238E27FC236}">
                    <a16:creationId xmlns:a16="http://schemas.microsoft.com/office/drawing/2014/main" id="{19ED9FD5-1147-400A-8A32-82A74F7AD8F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2" name="Freeform 12">
                <a:extLst>
                  <a:ext uri="{FF2B5EF4-FFF2-40B4-BE49-F238E27FC236}">
                    <a16:creationId xmlns:a16="http://schemas.microsoft.com/office/drawing/2014/main" id="{E79E6A0D-4D79-4788-8769-B989488019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3" name="Freeform 13">
                <a:extLst>
                  <a:ext uri="{FF2B5EF4-FFF2-40B4-BE49-F238E27FC236}">
                    <a16:creationId xmlns:a16="http://schemas.microsoft.com/office/drawing/2014/main" id="{A6F42038-BF59-409A-902B-AD7799149A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4" name="Freeform 14">
                <a:extLst>
                  <a:ext uri="{FF2B5EF4-FFF2-40B4-BE49-F238E27FC236}">
                    <a16:creationId xmlns:a16="http://schemas.microsoft.com/office/drawing/2014/main" id="{D8B0BD48-5982-4C95-A7C8-E0D2306453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5" name="Freeform 15">
                <a:extLst>
                  <a:ext uri="{FF2B5EF4-FFF2-40B4-BE49-F238E27FC236}">
                    <a16:creationId xmlns:a16="http://schemas.microsoft.com/office/drawing/2014/main" id="{F6C539D3-C6BD-4FB0-AA91-5AF1BF14C5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6" name="Line 16">
                <a:extLst>
                  <a:ext uri="{FF2B5EF4-FFF2-40B4-BE49-F238E27FC236}">
                    <a16:creationId xmlns:a16="http://schemas.microsoft.com/office/drawing/2014/main" id="{34F70AD6-B8F4-4F9D-8593-D4047107BD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87" name="Freeform 17">
                <a:extLst>
                  <a:ext uri="{FF2B5EF4-FFF2-40B4-BE49-F238E27FC236}">
                    <a16:creationId xmlns:a16="http://schemas.microsoft.com/office/drawing/2014/main" id="{51EAB0E0-5DE2-4906-80B0-211A624789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8" name="Freeform 18">
                <a:extLst>
                  <a:ext uri="{FF2B5EF4-FFF2-40B4-BE49-F238E27FC236}">
                    <a16:creationId xmlns:a16="http://schemas.microsoft.com/office/drawing/2014/main" id="{38E8B65E-526B-458D-85A5-21C0A1A74F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9" name="Freeform 19">
                <a:extLst>
                  <a:ext uri="{FF2B5EF4-FFF2-40B4-BE49-F238E27FC236}">
                    <a16:creationId xmlns:a16="http://schemas.microsoft.com/office/drawing/2014/main" id="{CCE331A2-5388-42F4-A175-69310C1BEF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0" name="Freeform 20">
                <a:extLst>
                  <a:ext uri="{FF2B5EF4-FFF2-40B4-BE49-F238E27FC236}">
                    <a16:creationId xmlns:a16="http://schemas.microsoft.com/office/drawing/2014/main" id="{4E758D69-ACA2-4888-84BB-B05B1FAF2A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1" name="Rectangle 21">
                <a:extLst>
                  <a:ext uri="{FF2B5EF4-FFF2-40B4-BE49-F238E27FC236}">
                    <a16:creationId xmlns:a16="http://schemas.microsoft.com/office/drawing/2014/main" id="{078AAA22-796B-4F0E-85DA-B8B0E81115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92" name="Freeform 22">
                <a:extLst>
                  <a:ext uri="{FF2B5EF4-FFF2-40B4-BE49-F238E27FC236}">
                    <a16:creationId xmlns:a16="http://schemas.microsoft.com/office/drawing/2014/main" id="{D1254A9A-3E31-4A25-9A91-F9BC6CF6A3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3" name="Freeform 23">
                <a:extLst>
                  <a:ext uri="{FF2B5EF4-FFF2-40B4-BE49-F238E27FC236}">
                    <a16:creationId xmlns:a16="http://schemas.microsoft.com/office/drawing/2014/main" id="{18CADB3C-936C-476A-A261-28DD5ABA734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4" name="Freeform 24">
                <a:extLst>
                  <a:ext uri="{FF2B5EF4-FFF2-40B4-BE49-F238E27FC236}">
                    <a16:creationId xmlns:a16="http://schemas.microsoft.com/office/drawing/2014/main" id="{771961D1-28D7-4CC1-A720-2933E8B913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5" name="Freeform 25">
                <a:extLst>
                  <a:ext uri="{FF2B5EF4-FFF2-40B4-BE49-F238E27FC236}">
                    <a16:creationId xmlns:a16="http://schemas.microsoft.com/office/drawing/2014/main" id="{E7B8B616-B89E-4A1C-98DE-13B8B93947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6" name="Freeform 26">
                <a:extLst>
                  <a:ext uri="{FF2B5EF4-FFF2-40B4-BE49-F238E27FC236}">
                    <a16:creationId xmlns:a16="http://schemas.microsoft.com/office/drawing/2014/main" id="{5D6CC1A1-D003-44BA-87E4-B3A7F3D300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7" name="Freeform 27">
                <a:extLst>
                  <a:ext uri="{FF2B5EF4-FFF2-40B4-BE49-F238E27FC236}">
                    <a16:creationId xmlns:a16="http://schemas.microsoft.com/office/drawing/2014/main" id="{FF32749B-B34C-4FCB-A33A-0478844A93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8" name="Freeform 28">
                <a:extLst>
                  <a:ext uri="{FF2B5EF4-FFF2-40B4-BE49-F238E27FC236}">
                    <a16:creationId xmlns:a16="http://schemas.microsoft.com/office/drawing/2014/main" id="{4455F261-AC57-4085-8989-4DBED747F1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9" name="Freeform 29">
                <a:extLst>
                  <a:ext uri="{FF2B5EF4-FFF2-40B4-BE49-F238E27FC236}">
                    <a16:creationId xmlns:a16="http://schemas.microsoft.com/office/drawing/2014/main" id="{57CEA90D-DB58-4EC0-A55C-15FAF59E04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00" name="Freeform 30">
                <a:extLst>
                  <a:ext uri="{FF2B5EF4-FFF2-40B4-BE49-F238E27FC236}">
                    <a16:creationId xmlns:a16="http://schemas.microsoft.com/office/drawing/2014/main" id="{66BBB005-2E38-496A-A46C-FD2B0605C1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01" name="Freeform 31">
                <a:extLst>
                  <a:ext uri="{FF2B5EF4-FFF2-40B4-BE49-F238E27FC236}">
                    <a16:creationId xmlns:a16="http://schemas.microsoft.com/office/drawing/2014/main" id="{E1A7618C-DE9D-401A-AD7A-784F19DA85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5E441C57-A0CF-4D49-9609-55CB4646BD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65" name="Freeform 32">
                <a:extLst>
                  <a:ext uri="{FF2B5EF4-FFF2-40B4-BE49-F238E27FC236}">
                    <a16:creationId xmlns:a16="http://schemas.microsoft.com/office/drawing/2014/main" id="{2D3240AD-75B9-452B-9967-D05B40DE5F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66" name="Freeform 33">
                <a:extLst>
                  <a:ext uri="{FF2B5EF4-FFF2-40B4-BE49-F238E27FC236}">
                    <a16:creationId xmlns:a16="http://schemas.microsoft.com/office/drawing/2014/main" id="{6A557EE5-4777-4655-A433-05006D8410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67" name="Freeform 34">
                <a:extLst>
                  <a:ext uri="{FF2B5EF4-FFF2-40B4-BE49-F238E27FC236}">
                    <a16:creationId xmlns:a16="http://schemas.microsoft.com/office/drawing/2014/main" id="{6B721B6E-8FF2-470B-A180-C594E82718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68" name="Freeform 35">
                <a:extLst>
                  <a:ext uri="{FF2B5EF4-FFF2-40B4-BE49-F238E27FC236}">
                    <a16:creationId xmlns:a16="http://schemas.microsoft.com/office/drawing/2014/main" id="{23E045A6-2D54-488D-B5F0-6885184308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69" name="Freeform 36">
                <a:extLst>
                  <a:ext uri="{FF2B5EF4-FFF2-40B4-BE49-F238E27FC236}">
                    <a16:creationId xmlns:a16="http://schemas.microsoft.com/office/drawing/2014/main" id="{2A4F07ED-57C7-4FF7-ABF8-793FC03A24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0" name="Freeform 37">
                <a:extLst>
                  <a:ext uri="{FF2B5EF4-FFF2-40B4-BE49-F238E27FC236}">
                    <a16:creationId xmlns:a16="http://schemas.microsoft.com/office/drawing/2014/main" id="{8829D0E6-D04F-4297-A784-6837F13ECA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1" name="Freeform 38">
                <a:extLst>
                  <a:ext uri="{FF2B5EF4-FFF2-40B4-BE49-F238E27FC236}">
                    <a16:creationId xmlns:a16="http://schemas.microsoft.com/office/drawing/2014/main" id="{9477D3D3-AA00-446F-B05D-EBBA25D3C9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2" name="Freeform 39">
                <a:extLst>
                  <a:ext uri="{FF2B5EF4-FFF2-40B4-BE49-F238E27FC236}">
                    <a16:creationId xmlns:a16="http://schemas.microsoft.com/office/drawing/2014/main" id="{5AC450AD-A350-42FA-B7EA-103D4416B4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3" name="Freeform 40">
                <a:extLst>
                  <a:ext uri="{FF2B5EF4-FFF2-40B4-BE49-F238E27FC236}">
                    <a16:creationId xmlns:a16="http://schemas.microsoft.com/office/drawing/2014/main" id="{A10F783A-EC27-47BE-A21D-3531A036FA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4" name="Rectangle 41">
                <a:extLst>
                  <a:ext uri="{FF2B5EF4-FFF2-40B4-BE49-F238E27FC236}">
                    <a16:creationId xmlns:a16="http://schemas.microsoft.com/office/drawing/2014/main" id="{A2CBE444-D00C-4C80-9F29-42A250C500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pic>
        <p:nvPicPr>
          <p:cNvPr id="175" name="Picture 2">
            <a:extLst>
              <a:ext uri="{FF2B5EF4-FFF2-40B4-BE49-F238E27FC236}">
                <a16:creationId xmlns:a16="http://schemas.microsoft.com/office/drawing/2014/main" id="{705E34FB-F15B-4B97-A591-8EE92E5FAE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" name="Round Diagonal Corner Rectangle 6">
            <a:extLst>
              <a:ext uri="{FF2B5EF4-FFF2-40B4-BE49-F238E27FC236}">
                <a16:creationId xmlns:a16="http://schemas.microsoft.com/office/drawing/2014/main" id="{1E43660D-412A-41EF-9745-E92C0AC604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0544" y="808057"/>
            <a:ext cx="10227733" cy="5234394"/>
          </a:xfrm>
          <a:prstGeom prst="round2DiagRect">
            <a:avLst>
              <a:gd name="adj1" fmla="val 6185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E659AA-2075-4432-99E4-5B93AAA0CEC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41"/>
          <a:stretch/>
        </p:blipFill>
        <p:spPr>
          <a:xfrm>
            <a:off x="1302278" y="1136606"/>
            <a:ext cx="9584265" cy="457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214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DE0F5-1361-4940-81CD-66F94F528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ru-RU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производителност с целочислени данни (IOPS)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86A0-A6BD-45EE-8925-A489D0353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097088"/>
            <a:ext cx="10301904" cy="4339223"/>
          </a:xfrm>
        </p:spPr>
        <p:txBody>
          <a:bodyPr/>
          <a:lstStyle/>
          <a:p>
            <a:r>
              <a:rPr lang="ru-RU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IOPS (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Input/output operations per second</a:t>
            </a:r>
            <a:r>
              <a:rPr lang="ru-RU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- броят на входно-изходните операции, извършвани от системата за съхранение на данни в секунда. Един от параметрите, използван за сравняване на системи за съхранение (твърди дискове (HDD), SSD устройства, SAN, NAS) и оценка на тяхната производителност. 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По долу се виждат резултатите от бенчмарка. Те показват, че повечето стойности на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MDC 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WS 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машините надвишават 100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GIOPS,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 докато половината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MC 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машини са със стойности до 50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GIOPS, 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а другата – под 100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GIOPS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569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6551C300-1D7A-46C3-9EF6-0EAC9B1E1F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8EC1EDC6-1B42-4FCD-BC53-B1D05BFF2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33EFBCB-98A2-4F16-B3BB-BF9EC17846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4" name="Rectangle 5">
                <a:extLst>
                  <a:ext uri="{FF2B5EF4-FFF2-40B4-BE49-F238E27FC236}">
                    <a16:creationId xmlns:a16="http://schemas.microsoft.com/office/drawing/2014/main" id="{B399E29C-9CF8-4BD1-8750-949BA21268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6">
                <a:extLst>
                  <a:ext uri="{FF2B5EF4-FFF2-40B4-BE49-F238E27FC236}">
                    <a16:creationId xmlns:a16="http://schemas.microsoft.com/office/drawing/2014/main" id="{CB02DFF7-56DA-42B6-B49A-C8926B841A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7">
                <a:extLst>
                  <a:ext uri="{FF2B5EF4-FFF2-40B4-BE49-F238E27FC236}">
                    <a16:creationId xmlns:a16="http://schemas.microsoft.com/office/drawing/2014/main" id="{07F77B45-21CD-43DB-AD58-24F8145021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8">
                <a:extLst>
                  <a:ext uri="{FF2B5EF4-FFF2-40B4-BE49-F238E27FC236}">
                    <a16:creationId xmlns:a16="http://schemas.microsoft.com/office/drawing/2014/main" id="{F0151C40-12A4-4A09-A8B6-179A062EF6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9">
                <a:extLst>
                  <a:ext uri="{FF2B5EF4-FFF2-40B4-BE49-F238E27FC236}">
                    <a16:creationId xmlns:a16="http://schemas.microsoft.com/office/drawing/2014/main" id="{F0146EA7-EB82-410D-A6ED-7C10C525ADC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0">
                <a:extLst>
                  <a:ext uri="{FF2B5EF4-FFF2-40B4-BE49-F238E27FC236}">
                    <a16:creationId xmlns:a16="http://schemas.microsoft.com/office/drawing/2014/main" id="{20DD5C02-0C86-4FA9-B82A-254EF58D37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1">
                <a:extLst>
                  <a:ext uri="{FF2B5EF4-FFF2-40B4-BE49-F238E27FC236}">
                    <a16:creationId xmlns:a16="http://schemas.microsoft.com/office/drawing/2014/main" id="{19ED9FD5-1147-400A-8A32-82A74F7AD8F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2">
                <a:extLst>
                  <a:ext uri="{FF2B5EF4-FFF2-40B4-BE49-F238E27FC236}">
                    <a16:creationId xmlns:a16="http://schemas.microsoft.com/office/drawing/2014/main" id="{E79E6A0D-4D79-4788-8769-B989488019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Freeform 13">
                <a:extLst>
                  <a:ext uri="{FF2B5EF4-FFF2-40B4-BE49-F238E27FC236}">
                    <a16:creationId xmlns:a16="http://schemas.microsoft.com/office/drawing/2014/main" id="{A6F42038-BF59-409A-902B-AD7799149A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3" name="Freeform 14">
                <a:extLst>
                  <a:ext uri="{FF2B5EF4-FFF2-40B4-BE49-F238E27FC236}">
                    <a16:creationId xmlns:a16="http://schemas.microsoft.com/office/drawing/2014/main" id="{D8B0BD48-5982-4C95-A7C8-E0D2306453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5">
                <a:extLst>
                  <a:ext uri="{FF2B5EF4-FFF2-40B4-BE49-F238E27FC236}">
                    <a16:creationId xmlns:a16="http://schemas.microsoft.com/office/drawing/2014/main" id="{F6C539D3-C6BD-4FB0-AA91-5AF1BF14C5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Line 16">
                <a:extLst>
                  <a:ext uri="{FF2B5EF4-FFF2-40B4-BE49-F238E27FC236}">
                    <a16:creationId xmlns:a16="http://schemas.microsoft.com/office/drawing/2014/main" id="{34F70AD6-B8F4-4F9D-8593-D4047107BD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6" name="Freeform 17">
                <a:extLst>
                  <a:ext uri="{FF2B5EF4-FFF2-40B4-BE49-F238E27FC236}">
                    <a16:creationId xmlns:a16="http://schemas.microsoft.com/office/drawing/2014/main" id="{51EAB0E0-5DE2-4906-80B0-211A624789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Freeform 18">
                <a:extLst>
                  <a:ext uri="{FF2B5EF4-FFF2-40B4-BE49-F238E27FC236}">
                    <a16:creationId xmlns:a16="http://schemas.microsoft.com/office/drawing/2014/main" id="{38E8B65E-526B-458D-85A5-21C0A1A74F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19">
                <a:extLst>
                  <a:ext uri="{FF2B5EF4-FFF2-40B4-BE49-F238E27FC236}">
                    <a16:creationId xmlns:a16="http://schemas.microsoft.com/office/drawing/2014/main" id="{CCE331A2-5388-42F4-A175-69310C1BEF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0">
                <a:extLst>
                  <a:ext uri="{FF2B5EF4-FFF2-40B4-BE49-F238E27FC236}">
                    <a16:creationId xmlns:a16="http://schemas.microsoft.com/office/drawing/2014/main" id="{4E758D69-ACA2-4888-84BB-B05B1FAF2A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Rectangle 21">
                <a:extLst>
                  <a:ext uri="{FF2B5EF4-FFF2-40B4-BE49-F238E27FC236}">
                    <a16:creationId xmlns:a16="http://schemas.microsoft.com/office/drawing/2014/main" id="{078AAA22-796B-4F0E-85DA-B8B0E81115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2">
                <a:extLst>
                  <a:ext uri="{FF2B5EF4-FFF2-40B4-BE49-F238E27FC236}">
                    <a16:creationId xmlns:a16="http://schemas.microsoft.com/office/drawing/2014/main" id="{D1254A9A-3E31-4A25-9A91-F9BC6CF6A3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3">
                <a:extLst>
                  <a:ext uri="{FF2B5EF4-FFF2-40B4-BE49-F238E27FC236}">
                    <a16:creationId xmlns:a16="http://schemas.microsoft.com/office/drawing/2014/main" id="{18CADB3C-936C-476A-A261-28DD5ABA734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4">
                <a:extLst>
                  <a:ext uri="{FF2B5EF4-FFF2-40B4-BE49-F238E27FC236}">
                    <a16:creationId xmlns:a16="http://schemas.microsoft.com/office/drawing/2014/main" id="{771961D1-28D7-4CC1-A720-2933E8B913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5">
                <a:extLst>
                  <a:ext uri="{FF2B5EF4-FFF2-40B4-BE49-F238E27FC236}">
                    <a16:creationId xmlns:a16="http://schemas.microsoft.com/office/drawing/2014/main" id="{E7B8B616-B89E-4A1C-98DE-13B8B93947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6">
                <a:extLst>
                  <a:ext uri="{FF2B5EF4-FFF2-40B4-BE49-F238E27FC236}">
                    <a16:creationId xmlns:a16="http://schemas.microsoft.com/office/drawing/2014/main" id="{5D6CC1A1-D003-44BA-87E4-B3A7F3D300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27">
                <a:extLst>
                  <a:ext uri="{FF2B5EF4-FFF2-40B4-BE49-F238E27FC236}">
                    <a16:creationId xmlns:a16="http://schemas.microsoft.com/office/drawing/2014/main" id="{FF32749B-B34C-4FCB-A33A-0478844A93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28">
                <a:extLst>
                  <a:ext uri="{FF2B5EF4-FFF2-40B4-BE49-F238E27FC236}">
                    <a16:creationId xmlns:a16="http://schemas.microsoft.com/office/drawing/2014/main" id="{4455F261-AC57-4085-8989-4DBED747F1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8" name="Freeform 29">
                <a:extLst>
                  <a:ext uri="{FF2B5EF4-FFF2-40B4-BE49-F238E27FC236}">
                    <a16:creationId xmlns:a16="http://schemas.microsoft.com/office/drawing/2014/main" id="{57CEA90D-DB58-4EC0-A55C-15FAF59E04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9" name="Freeform 30">
                <a:extLst>
                  <a:ext uri="{FF2B5EF4-FFF2-40B4-BE49-F238E27FC236}">
                    <a16:creationId xmlns:a16="http://schemas.microsoft.com/office/drawing/2014/main" id="{66BBB005-2E38-496A-A46C-FD2B0605C1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0" name="Freeform 31">
                <a:extLst>
                  <a:ext uri="{FF2B5EF4-FFF2-40B4-BE49-F238E27FC236}">
                    <a16:creationId xmlns:a16="http://schemas.microsoft.com/office/drawing/2014/main" id="{E1A7618C-DE9D-401A-AD7A-784F19DA85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E441C57-A0CF-4D49-9609-55CB4646BD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4" name="Freeform 32">
                <a:extLst>
                  <a:ext uri="{FF2B5EF4-FFF2-40B4-BE49-F238E27FC236}">
                    <a16:creationId xmlns:a16="http://schemas.microsoft.com/office/drawing/2014/main" id="{2D3240AD-75B9-452B-9967-D05B40DE5F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3">
                <a:extLst>
                  <a:ext uri="{FF2B5EF4-FFF2-40B4-BE49-F238E27FC236}">
                    <a16:creationId xmlns:a16="http://schemas.microsoft.com/office/drawing/2014/main" id="{6A557EE5-4777-4655-A433-05006D8410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4">
                <a:extLst>
                  <a:ext uri="{FF2B5EF4-FFF2-40B4-BE49-F238E27FC236}">
                    <a16:creationId xmlns:a16="http://schemas.microsoft.com/office/drawing/2014/main" id="{6B721B6E-8FF2-470B-A180-C594E82718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5">
                <a:extLst>
                  <a:ext uri="{FF2B5EF4-FFF2-40B4-BE49-F238E27FC236}">
                    <a16:creationId xmlns:a16="http://schemas.microsoft.com/office/drawing/2014/main" id="{23E045A6-2D54-488D-B5F0-6885184308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6">
                <a:extLst>
                  <a:ext uri="{FF2B5EF4-FFF2-40B4-BE49-F238E27FC236}">
                    <a16:creationId xmlns:a16="http://schemas.microsoft.com/office/drawing/2014/main" id="{2A4F07ED-57C7-4FF7-ABF8-793FC03A24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37">
                <a:extLst>
                  <a:ext uri="{FF2B5EF4-FFF2-40B4-BE49-F238E27FC236}">
                    <a16:creationId xmlns:a16="http://schemas.microsoft.com/office/drawing/2014/main" id="{8829D0E6-D04F-4297-A784-6837F13ECA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Freeform 38">
                <a:extLst>
                  <a:ext uri="{FF2B5EF4-FFF2-40B4-BE49-F238E27FC236}">
                    <a16:creationId xmlns:a16="http://schemas.microsoft.com/office/drawing/2014/main" id="{9477D3D3-AA00-446F-B05D-EBBA25D3C9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1" name="Freeform 39">
                <a:extLst>
                  <a:ext uri="{FF2B5EF4-FFF2-40B4-BE49-F238E27FC236}">
                    <a16:creationId xmlns:a16="http://schemas.microsoft.com/office/drawing/2014/main" id="{5AC450AD-A350-42FA-B7EA-103D4416B4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40">
                <a:extLst>
                  <a:ext uri="{FF2B5EF4-FFF2-40B4-BE49-F238E27FC236}">
                    <a16:creationId xmlns:a16="http://schemas.microsoft.com/office/drawing/2014/main" id="{A10F783A-EC27-47BE-A21D-3531A036FA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Rectangle 41">
                <a:extLst>
                  <a:ext uri="{FF2B5EF4-FFF2-40B4-BE49-F238E27FC236}">
                    <a16:creationId xmlns:a16="http://schemas.microsoft.com/office/drawing/2014/main" id="{A2CBE444-D00C-4C80-9F29-42A250C500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pic>
        <p:nvPicPr>
          <p:cNvPr id="52" name="Picture 2">
            <a:extLst>
              <a:ext uri="{FF2B5EF4-FFF2-40B4-BE49-F238E27FC236}">
                <a16:creationId xmlns:a16="http://schemas.microsoft.com/office/drawing/2014/main" id="{705E34FB-F15B-4B97-A591-8EE92E5FAE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Round Diagonal Corner Rectangle 6">
            <a:extLst>
              <a:ext uri="{FF2B5EF4-FFF2-40B4-BE49-F238E27FC236}">
                <a16:creationId xmlns:a16="http://schemas.microsoft.com/office/drawing/2014/main" id="{1E43660D-412A-41EF-9745-E92C0AC604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0544" y="808057"/>
            <a:ext cx="10227733" cy="5234394"/>
          </a:xfrm>
          <a:prstGeom prst="round2DiagRect">
            <a:avLst>
              <a:gd name="adj1" fmla="val 6185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0A1BD8-433A-4054-B7CC-CDD278CE225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" b="2535"/>
          <a:stretch/>
        </p:blipFill>
        <p:spPr>
          <a:xfrm>
            <a:off x="1302278" y="1136606"/>
            <a:ext cx="9584265" cy="457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80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Picture 2">
            <a:extLst>
              <a:ext uri="{FF2B5EF4-FFF2-40B4-BE49-F238E27FC236}">
                <a16:creationId xmlns:a16="http://schemas.microsoft.com/office/drawing/2014/main" id="{6551C300-1D7A-46C3-9EF6-0EAC9B1E1F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2" name="Group 211">
            <a:extLst>
              <a:ext uri="{FF2B5EF4-FFF2-40B4-BE49-F238E27FC236}">
                <a16:creationId xmlns:a16="http://schemas.microsoft.com/office/drawing/2014/main" id="{8EC1EDC6-1B42-4FCD-BC53-B1D05BFF2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213" name="Group 212">
              <a:extLst>
                <a:ext uri="{FF2B5EF4-FFF2-40B4-BE49-F238E27FC236}">
                  <a16:creationId xmlns:a16="http://schemas.microsoft.com/office/drawing/2014/main" id="{633EFBCB-98A2-4F16-B3BB-BF9EC17846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25" name="Rectangle 5">
                <a:extLst>
                  <a:ext uri="{FF2B5EF4-FFF2-40B4-BE49-F238E27FC236}">
                    <a16:creationId xmlns:a16="http://schemas.microsoft.com/office/drawing/2014/main" id="{B399E29C-9CF8-4BD1-8750-949BA21268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6" name="Freeform 6">
                <a:extLst>
                  <a:ext uri="{FF2B5EF4-FFF2-40B4-BE49-F238E27FC236}">
                    <a16:creationId xmlns:a16="http://schemas.microsoft.com/office/drawing/2014/main" id="{CB02DFF7-56DA-42B6-B49A-C8926B841A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27" name="Freeform 7">
                <a:extLst>
                  <a:ext uri="{FF2B5EF4-FFF2-40B4-BE49-F238E27FC236}">
                    <a16:creationId xmlns:a16="http://schemas.microsoft.com/office/drawing/2014/main" id="{07F77B45-21CD-43DB-AD58-24F8145021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28" name="Freeform 8">
                <a:extLst>
                  <a:ext uri="{FF2B5EF4-FFF2-40B4-BE49-F238E27FC236}">
                    <a16:creationId xmlns:a16="http://schemas.microsoft.com/office/drawing/2014/main" id="{F0151C40-12A4-4A09-A8B6-179A062EF6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29" name="Freeform 9">
                <a:extLst>
                  <a:ext uri="{FF2B5EF4-FFF2-40B4-BE49-F238E27FC236}">
                    <a16:creationId xmlns:a16="http://schemas.microsoft.com/office/drawing/2014/main" id="{F0146EA7-EB82-410D-A6ED-7C10C525ADC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0" name="Freeform 10">
                <a:extLst>
                  <a:ext uri="{FF2B5EF4-FFF2-40B4-BE49-F238E27FC236}">
                    <a16:creationId xmlns:a16="http://schemas.microsoft.com/office/drawing/2014/main" id="{20DD5C02-0C86-4FA9-B82A-254EF58D37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1" name="Freeform 11">
                <a:extLst>
                  <a:ext uri="{FF2B5EF4-FFF2-40B4-BE49-F238E27FC236}">
                    <a16:creationId xmlns:a16="http://schemas.microsoft.com/office/drawing/2014/main" id="{19ED9FD5-1147-400A-8A32-82A74F7AD8F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2" name="Freeform 12">
                <a:extLst>
                  <a:ext uri="{FF2B5EF4-FFF2-40B4-BE49-F238E27FC236}">
                    <a16:creationId xmlns:a16="http://schemas.microsoft.com/office/drawing/2014/main" id="{E79E6A0D-4D79-4788-8769-B989488019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3" name="Freeform 13">
                <a:extLst>
                  <a:ext uri="{FF2B5EF4-FFF2-40B4-BE49-F238E27FC236}">
                    <a16:creationId xmlns:a16="http://schemas.microsoft.com/office/drawing/2014/main" id="{A6F42038-BF59-409A-902B-AD7799149A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4" name="Freeform 14">
                <a:extLst>
                  <a:ext uri="{FF2B5EF4-FFF2-40B4-BE49-F238E27FC236}">
                    <a16:creationId xmlns:a16="http://schemas.microsoft.com/office/drawing/2014/main" id="{D8B0BD48-5982-4C95-A7C8-E0D2306453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5" name="Freeform 15">
                <a:extLst>
                  <a:ext uri="{FF2B5EF4-FFF2-40B4-BE49-F238E27FC236}">
                    <a16:creationId xmlns:a16="http://schemas.microsoft.com/office/drawing/2014/main" id="{F6C539D3-C6BD-4FB0-AA91-5AF1BF14C5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6" name="Line 16">
                <a:extLst>
                  <a:ext uri="{FF2B5EF4-FFF2-40B4-BE49-F238E27FC236}">
                    <a16:creationId xmlns:a16="http://schemas.microsoft.com/office/drawing/2014/main" id="{34F70AD6-B8F4-4F9D-8593-D4047107BD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237" name="Freeform 17">
                <a:extLst>
                  <a:ext uri="{FF2B5EF4-FFF2-40B4-BE49-F238E27FC236}">
                    <a16:creationId xmlns:a16="http://schemas.microsoft.com/office/drawing/2014/main" id="{51EAB0E0-5DE2-4906-80B0-211A624789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8" name="Freeform 18">
                <a:extLst>
                  <a:ext uri="{FF2B5EF4-FFF2-40B4-BE49-F238E27FC236}">
                    <a16:creationId xmlns:a16="http://schemas.microsoft.com/office/drawing/2014/main" id="{38E8B65E-526B-458D-85A5-21C0A1A74F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9" name="Freeform 19">
                <a:extLst>
                  <a:ext uri="{FF2B5EF4-FFF2-40B4-BE49-F238E27FC236}">
                    <a16:creationId xmlns:a16="http://schemas.microsoft.com/office/drawing/2014/main" id="{CCE331A2-5388-42F4-A175-69310C1BEF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0" name="Freeform 20">
                <a:extLst>
                  <a:ext uri="{FF2B5EF4-FFF2-40B4-BE49-F238E27FC236}">
                    <a16:creationId xmlns:a16="http://schemas.microsoft.com/office/drawing/2014/main" id="{4E758D69-ACA2-4888-84BB-B05B1FAF2A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1" name="Rectangle 21">
                <a:extLst>
                  <a:ext uri="{FF2B5EF4-FFF2-40B4-BE49-F238E27FC236}">
                    <a16:creationId xmlns:a16="http://schemas.microsoft.com/office/drawing/2014/main" id="{078AAA22-796B-4F0E-85DA-B8B0E81115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42" name="Freeform 22">
                <a:extLst>
                  <a:ext uri="{FF2B5EF4-FFF2-40B4-BE49-F238E27FC236}">
                    <a16:creationId xmlns:a16="http://schemas.microsoft.com/office/drawing/2014/main" id="{D1254A9A-3E31-4A25-9A91-F9BC6CF6A3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3" name="Freeform 23">
                <a:extLst>
                  <a:ext uri="{FF2B5EF4-FFF2-40B4-BE49-F238E27FC236}">
                    <a16:creationId xmlns:a16="http://schemas.microsoft.com/office/drawing/2014/main" id="{18CADB3C-936C-476A-A261-28DD5ABA734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4" name="Freeform 24">
                <a:extLst>
                  <a:ext uri="{FF2B5EF4-FFF2-40B4-BE49-F238E27FC236}">
                    <a16:creationId xmlns:a16="http://schemas.microsoft.com/office/drawing/2014/main" id="{771961D1-28D7-4CC1-A720-2933E8B913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5" name="Freeform 25">
                <a:extLst>
                  <a:ext uri="{FF2B5EF4-FFF2-40B4-BE49-F238E27FC236}">
                    <a16:creationId xmlns:a16="http://schemas.microsoft.com/office/drawing/2014/main" id="{E7B8B616-B89E-4A1C-98DE-13B8B93947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6" name="Freeform 26">
                <a:extLst>
                  <a:ext uri="{FF2B5EF4-FFF2-40B4-BE49-F238E27FC236}">
                    <a16:creationId xmlns:a16="http://schemas.microsoft.com/office/drawing/2014/main" id="{5D6CC1A1-D003-44BA-87E4-B3A7F3D300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7" name="Freeform 27">
                <a:extLst>
                  <a:ext uri="{FF2B5EF4-FFF2-40B4-BE49-F238E27FC236}">
                    <a16:creationId xmlns:a16="http://schemas.microsoft.com/office/drawing/2014/main" id="{FF32749B-B34C-4FCB-A33A-0478844A93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8" name="Freeform 28">
                <a:extLst>
                  <a:ext uri="{FF2B5EF4-FFF2-40B4-BE49-F238E27FC236}">
                    <a16:creationId xmlns:a16="http://schemas.microsoft.com/office/drawing/2014/main" id="{4455F261-AC57-4085-8989-4DBED747F1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9" name="Freeform 29">
                <a:extLst>
                  <a:ext uri="{FF2B5EF4-FFF2-40B4-BE49-F238E27FC236}">
                    <a16:creationId xmlns:a16="http://schemas.microsoft.com/office/drawing/2014/main" id="{57CEA90D-DB58-4EC0-A55C-15FAF59E04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0" name="Freeform 30">
                <a:extLst>
                  <a:ext uri="{FF2B5EF4-FFF2-40B4-BE49-F238E27FC236}">
                    <a16:creationId xmlns:a16="http://schemas.microsoft.com/office/drawing/2014/main" id="{66BBB005-2E38-496A-A46C-FD2B0605C1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1" name="Freeform 31">
                <a:extLst>
                  <a:ext uri="{FF2B5EF4-FFF2-40B4-BE49-F238E27FC236}">
                    <a16:creationId xmlns:a16="http://schemas.microsoft.com/office/drawing/2014/main" id="{E1A7618C-DE9D-401A-AD7A-784F19DA85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5E441C57-A0CF-4D49-9609-55CB4646BD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5" name="Freeform 32">
                <a:extLst>
                  <a:ext uri="{FF2B5EF4-FFF2-40B4-BE49-F238E27FC236}">
                    <a16:creationId xmlns:a16="http://schemas.microsoft.com/office/drawing/2014/main" id="{2D3240AD-75B9-452B-9967-D05B40DE5F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16" name="Freeform 33">
                <a:extLst>
                  <a:ext uri="{FF2B5EF4-FFF2-40B4-BE49-F238E27FC236}">
                    <a16:creationId xmlns:a16="http://schemas.microsoft.com/office/drawing/2014/main" id="{6A557EE5-4777-4655-A433-05006D8410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17" name="Freeform 34">
                <a:extLst>
                  <a:ext uri="{FF2B5EF4-FFF2-40B4-BE49-F238E27FC236}">
                    <a16:creationId xmlns:a16="http://schemas.microsoft.com/office/drawing/2014/main" id="{6B721B6E-8FF2-470B-A180-C594E82718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18" name="Freeform 35">
                <a:extLst>
                  <a:ext uri="{FF2B5EF4-FFF2-40B4-BE49-F238E27FC236}">
                    <a16:creationId xmlns:a16="http://schemas.microsoft.com/office/drawing/2014/main" id="{23E045A6-2D54-488D-B5F0-6885184308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19" name="Freeform 36">
                <a:extLst>
                  <a:ext uri="{FF2B5EF4-FFF2-40B4-BE49-F238E27FC236}">
                    <a16:creationId xmlns:a16="http://schemas.microsoft.com/office/drawing/2014/main" id="{2A4F07ED-57C7-4FF7-ABF8-793FC03A24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20" name="Freeform 37">
                <a:extLst>
                  <a:ext uri="{FF2B5EF4-FFF2-40B4-BE49-F238E27FC236}">
                    <a16:creationId xmlns:a16="http://schemas.microsoft.com/office/drawing/2014/main" id="{8829D0E6-D04F-4297-A784-6837F13ECA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21" name="Freeform 38">
                <a:extLst>
                  <a:ext uri="{FF2B5EF4-FFF2-40B4-BE49-F238E27FC236}">
                    <a16:creationId xmlns:a16="http://schemas.microsoft.com/office/drawing/2014/main" id="{9477D3D3-AA00-446F-B05D-EBBA25D3C9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22" name="Freeform 39">
                <a:extLst>
                  <a:ext uri="{FF2B5EF4-FFF2-40B4-BE49-F238E27FC236}">
                    <a16:creationId xmlns:a16="http://schemas.microsoft.com/office/drawing/2014/main" id="{5AC450AD-A350-42FA-B7EA-103D4416B4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23" name="Freeform 40">
                <a:extLst>
                  <a:ext uri="{FF2B5EF4-FFF2-40B4-BE49-F238E27FC236}">
                    <a16:creationId xmlns:a16="http://schemas.microsoft.com/office/drawing/2014/main" id="{A10F783A-EC27-47BE-A21D-3531A036FA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24" name="Rectangle 41">
                <a:extLst>
                  <a:ext uri="{FF2B5EF4-FFF2-40B4-BE49-F238E27FC236}">
                    <a16:creationId xmlns:a16="http://schemas.microsoft.com/office/drawing/2014/main" id="{A2CBE444-D00C-4C80-9F29-42A250C500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pic>
        <p:nvPicPr>
          <p:cNvPr id="253" name="Picture 2">
            <a:extLst>
              <a:ext uri="{FF2B5EF4-FFF2-40B4-BE49-F238E27FC236}">
                <a16:creationId xmlns:a16="http://schemas.microsoft.com/office/drawing/2014/main" id="{705E34FB-F15B-4B97-A591-8EE92E5FAE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5" name="Round Diagonal Corner Rectangle 6">
            <a:extLst>
              <a:ext uri="{FF2B5EF4-FFF2-40B4-BE49-F238E27FC236}">
                <a16:creationId xmlns:a16="http://schemas.microsoft.com/office/drawing/2014/main" id="{1E43660D-412A-41EF-9745-E92C0AC604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0544" y="808057"/>
            <a:ext cx="10227733" cy="5234394"/>
          </a:xfrm>
          <a:prstGeom prst="round2DiagRect">
            <a:avLst>
              <a:gd name="adj1" fmla="val 6185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CE45D3-E7BA-4CB0-9EEC-686C891C79C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019" r="1" b="1"/>
          <a:stretch/>
        </p:blipFill>
        <p:spPr>
          <a:xfrm>
            <a:off x="1302278" y="1136606"/>
            <a:ext cx="9584265" cy="457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112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70D82-D80D-4818-9368-457B3C94E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производителност с данни с плаваща запетая (FLOPS)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F3566-3CC9-4F20-B96D-EB2ED854D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FLOPS (Floating point operations per second) 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е мярка за производителността на компютрите. Показва броя операции с плаваща запетая, които компютърът може да извърши за една секунда.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Тук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MC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 машините държат много близки резултати от 89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GFLOPS 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за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Double-Precision 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до 222 за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Single-Precision FLOPS. 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Десктоп машините и работните станции имат около 50% по-висок резултат спрямо предходните конфигурации.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0937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Picture 2">
            <a:extLst>
              <a:ext uri="{FF2B5EF4-FFF2-40B4-BE49-F238E27FC236}">
                <a16:creationId xmlns:a16="http://schemas.microsoft.com/office/drawing/2014/main" id="{EA8ADA9F-99E3-4964-8962-1118D1439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8" name="Group 11">
            <a:extLst>
              <a:ext uri="{FF2B5EF4-FFF2-40B4-BE49-F238E27FC236}">
                <a16:creationId xmlns:a16="http://schemas.microsoft.com/office/drawing/2014/main" id="{366C3164-AA9F-47E3-913A-4F002BC0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3FFBAC2-26D2-48B6-B2AA-34AEA0E79E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5" name="Rectangle 5">
                <a:extLst>
                  <a:ext uri="{FF2B5EF4-FFF2-40B4-BE49-F238E27FC236}">
                    <a16:creationId xmlns:a16="http://schemas.microsoft.com/office/drawing/2014/main" id="{9B164BCB-27D3-4B8C-AC13-0A6F461082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6">
                <a:extLst>
                  <a:ext uri="{FF2B5EF4-FFF2-40B4-BE49-F238E27FC236}">
                    <a16:creationId xmlns:a16="http://schemas.microsoft.com/office/drawing/2014/main" id="{10B247BE-F4A2-4259-9B20-FB9A555D28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7">
                <a:extLst>
                  <a:ext uri="{FF2B5EF4-FFF2-40B4-BE49-F238E27FC236}">
                    <a16:creationId xmlns:a16="http://schemas.microsoft.com/office/drawing/2014/main" id="{39322C5A-DB6D-4B28-8C1C-1B1E896789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8">
                <a:extLst>
                  <a:ext uri="{FF2B5EF4-FFF2-40B4-BE49-F238E27FC236}">
                    <a16:creationId xmlns:a16="http://schemas.microsoft.com/office/drawing/2014/main" id="{67009B08-E345-4516-96EC-ED0AB1F30B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9">
                <a:extLst>
                  <a:ext uri="{FF2B5EF4-FFF2-40B4-BE49-F238E27FC236}">
                    <a16:creationId xmlns:a16="http://schemas.microsoft.com/office/drawing/2014/main" id="{DFE2793C-165C-4635-A26E-C569C8E0C5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0">
                <a:extLst>
                  <a:ext uri="{FF2B5EF4-FFF2-40B4-BE49-F238E27FC236}">
                    <a16:creationId xmlns:a16="http://schemas.microsoft.com/office/drawing/2014/main" id="{ECDFEF2C-7B0A-41A1-BB61-C92CB3E3A7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1">
                <a:extLst>
                  <a:ext uri="{FF2B5EF4-FFF2-40B4-BE49-F238E27FC236}">
                    <a16:creationId xmlns:a16="http://schemas.microsoft.com/office/drawing/2014/main" id="{0012A396-1946-4B40-AA39-0790157CE9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Freeform 12">
                <a:extLst>
                  <a:ext uri="{FF2B5EF4-FFF2-40B4-BE49-F238E27FC236}">
                    <a16:creationId xmlns:a16="http://schemas.microsoft.com/office/drawing/2014/main" id="{CD6C6024-F73D-4991-97B9-BE53FF24E3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3" name="Freeform 13">
                <a:extLst>
                  <a:ext uri="{FF2B5EF4-FFF2-40B4-BE49-F238E27FC236}">
                    <a16:creationId xmlns:a16="http://schemas.microsoft.com/office/drawing/2014/main" id="{5977EDD1-3D10-43FA-B800-7A7C8112B7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4">
                <a:extLst>
                  <a:ext uri="{FF2B5EF4-FFF2-40B4-BE49-F238E27FC236}">
                    <a16:creationId xmlns:a16="http://schemas.microsoft.com/office/drawing/2014/main" id="{D37988CF-9FC6-48F5-82F8-D2EB0178A3B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5">
                <a:extLst>
                  <a:ext uri="{FF2B5EF4-FFF2-40B4-BE49-F238E27FC236}">
                    <a16:creationId xmlns:a16="http://schemas.microsoft.com/office/drawing/2014/main" id="{EC5BB05B-491C-414A-91C3-B1CAB785A8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Line 16">
                <a:extLst>
                  <a:ext uri="{FF2B5EF4-FFF2-40B4-BE49-F238E27FC236}">
                    <a16:creationId xmlns:a16="http://schemas.microsoft.com/office/drawing/2014/main" id="{F3180CB6-F8D2-4596-B6CB-F9CEF5D389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7" name="Freeform 17">
                <a:extLst>
                  <a:ext uri="{FF2B5EF4-FFF2-40B4-BE49-F238E27FC236}">
                    <a16:creationId xmlns:a16="http://schemas.microsoft.com/office/drawing/2014/main" id="{DF338DD3-80F8-4F68-AC7C-361ABF2A9B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18">
                <a:extLst>
                  <a:ext uri="{FF2B5EF4-FFF2-40B4-BE49-F238E27FC236}">
                    <a16:creationId xmlns:a16="http://schemas.microsoft.com/office/drawing/2014/main" id="{9666E4DB-B855-4A4E-BB50-1880738C11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19">
                <a:extLst>
                  <a:ext uri="{FF2B5EF4-FFF2-40B4-BE49-F238E27FC236}">
                    <a16:creationId xmlns:a16="http://schemas.microsoft.com/office/drawing/2014/main" id="{F570FD9C-B435-4EF1-962C-621F1261AA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0">
                <a:extLst>
                  <a:ext uri="{FF2B5EF4-FFF2-40B4-BE49-F238E27FC236}">
                    <a16:creationId xmlns:a16="http://schemas.microsoft.com/office/drawing/2014/main" id="{E236AF0B-3BDC-43C3-8FFC-2A94121E94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Rectangle 21">
                <a:extLst>
                  <a:ext uri="{FF2B5EF4-FFF2-40B4-BE49-F238E27FC236}">
                    <a16:creationId xmlns:a16="http://schemas.microsoft.com/office/drawing/2014/main" id="{3BA2C208-5097-4497-AA2C-ADDDAB48B6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2">
                <a:extLst>
                  <a:ext uri="{FF2B5EF4-FFF2-40B4-BE49-F238E27FC236}">
                    <a16:creationId xmlns:a16="http://schemas.microsoft.com/office/drawing/2014/main" id="{6A45DD96-8D07-43CA-B036-6FDA880A17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3">
                <a:extLst>
                  <a:ext uri="{FF2B5EF4-FFF2-40B4-BE49-F238E27FC236}">
                    <a16:creationId xmlns:a16="http://schemas.microsoft.com/office/drawing/2014/main" id="{AF7F7CBB-E154-4CD5-9ED0-D5DDC1DFEAE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4">
                <a:extLst>
                  <a:ext uri="{FF2B5EF4-FFF2-40B4-BE49-F238E27FC236}">
                    <a16:creationId xmlns:a16="http://schemas.microsoft.com/office/drawing/2014/main" id="{EFF4AB16-41DD-4877-8C28-ED78F4CA7F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5">
                <a:extLst>
                  <a:ext uri="{FF2B5EF4-FFF2-40B4-BE49-F238E27FC236}">
                    <a16:creationId xmlns:a16="http://schemas.microsoft.com/office/drawing/2014/main" id="{30BCBD5D-92EB-487E-B1D0-F9000D45D1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26">
                <a:extLst>
                  <a:ext uri="{FF2B5EF4-FFF2-40B4-BE49-F238E27FC236}">
                    <a16:creationId xmlns:a16="http://schemas.microsoft.com/office/drawing/2014/main" id="{DA07BDB8-9827-4EBF-9B99-6C503EA0BC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27">
                <a:extLst>
                  <a:ext uri="{FF2B5EF4-FFF2-40B4-BE49-F238E27FC236}">
                    <a16:creationId xmlns:a16="http://schemas.microsoft.com/office/drawing/2014/main" id="{7F41FB05-1B3F-450A-A1A7-8C8BD182A5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8" name="Freeform 28">
                <a:extLst>
                  <a:ext uri="{FF2B5EF4-FFF2-40B4-BE49-F238E27FC236}">
                    <a16:creationId xmlns:a16="http://schemas.microsoft.com/office/drawing/2014/main" id="{0629E219-1F32-41C1-B921-05E4561179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9" name="Freeform 29">
                <a:extLst>
                  <a:ext uri="{FF2B5EF4-FFF2-40B4-BE49-F238E27FC236}">
                    <a16:creationId xmlns:a16="http://schemas.microsoft.com/office/drawing/2014/main" id="{8081FB28-486E-4C09-9D15-0B2657B56F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0" name="Freeform 30">
                <a:extLst>
                  <a:ext uri="{FF2B5EF4-FFF2-40B4-BE49-F238E27FC236}">
                    <a16:creationId xmlns:a16="http://schemas.microsoft.com/office/drawing/2014/main" id="{CB547EFB-F29D-4336-9644-0AE7A94EA4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1" name="Freeform 31">
                <a:extLst>
                  <a:ext uri="{FF2B5EF4-FFF2-40B4-BE49-F238E27FC236}">
                    <a16:creationId xmlns:a16="http://schemas.microsoft.com/office/drawing/2014/main" id="{BB2793F4-FAD7-459A-BC46-06BB1D4FAA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C01589C-0235-4B21-B264-777746D4D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5" name="Freeform 32">
                <a:extLst>
                  <a:ext uri="{FF2B5EF4-FFF2-40B4-BE49-F238E27FC236}">
                    <a16:creationId xmlns:a16="http://schemas.microsoft.com/office/drawing/2014/main" id="{678F5669-8CE7-445E-8D54-49C5E2013B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3">
                <a:extLst>
                  <a:ext uri="{FF2B5EF4-FFF2-40B4-BE49-F238E27FC236}">
                    <a16:creationId xmlns:a16="http://schemas.microsoft.com/office/drawing/2014/main" id="{E93A3F8E-D876-485E-9EDC-43E315DE1E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4">
                <a:extLst>
                  <a:ext uri="{FF2B5EF4-FFF2-40B4-BE49-F238E27FC236}">
                    <a16:creationId xmlns:a16="http://schemas.microsoft.com/office/drawing/2014/main" id="{B4F848A6-931A-4CC9-9B29-C7A9CEA3AC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5">
                <a:extLst>
                  <a:ext uri="{FF2B5EF4-FFF2-40B4-BE49-F238E27FC236}">
                    <a16:creationId xmlns:a16="http://schemas.microsoft.com/office/drawing/2014/main" id="{5C4204D4-6782-4DB1-8FF8-86CC698AF2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36">
                <a:extLst>
                  <a:ext uri="{FF2B5EF4-FFF2-40B4-BE49-F238E27FC236}">
                    <a16:creationId xmlns:a16="http://schemas.microsoft.com/office/drawing/2014/main" id="{3907C583-5764-43DC-8AF9-992D3472F6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Freeform 37">
                <a:extLst>
                  <a:ext uri="{FF2B5EF4-FFF2-40B4-BE49-F238E27FC236}">
                    <a16:creationId xmlns:a16="http://schemas.microsoft.com/office/drawing/2014/main" id="{56CE3D6E-1121-4EF2-9DFB-7F3937FCCD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1" name="Freeform 38">
                <a:extLst>
                  <a:ext uri="{FF2B5EF4-FFF2-40B4-BE49-F238E27FC236}">
                    <a16:creationId xmlns:a16="http://schemas.microsoft.com/office/drawing/2014/main" id="{3AEB7245-E197-4AE5-BCFC-7821E49EFE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39">
                <a:extLst>
                  <a:ext uri="{FF2B5EF4-FFF2-40B4-BE49-F238E27FC236}">
                    <a16:creationId xmlns:a16="http://schemas.microsoft.com/office/drawing/2014/main" id="{801E9C76-F4FB-4C4D-9350-B526F294E0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40">
                <a:extLst>
                  <a:ext uri="{FF2B5EF4-FFF2-40B4-BE49-F238E27FC236}">
                    <a16:creationId xmlns:a16="http://schemas.microsoft.com/office/drawing/2014/main" id="{F9C0C5DE-6C8C-4CD0-9C91-6A132A06DA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Rectangle 41">
                <a:extLst>
                  <a:ext uri="{FF2B5EF4-FFF2-40B4-BE49-F238E27FC236}">
                    <a16:creationId xmlns:a16="http://schemas.microsoft.com/office/drawing/2014/main" id="{955A7039-8B66-4CF0-8048-0AD0F4A5B85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pic>
        <p:nvPicPr>
          <p:cNvPr id="59" name="Picture 2">
            <a:extLst>
              <a:ext uri="{FF2B5EF4-FFF2-40B4-BE49-F238E27FC236}">
                <a16:creationId xmlns:a16="http://schemas.microsoft.com/office/drawing/2014/main" id="{6D651BB0-1DFD-4941-83DD-704006F6B1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Round Diagonal Corner Rectangle 6">
            <a:extLst>
              <a:ext uri="{FF2B5EF4-FFF2-40B4-BE49-F238E27FC236}">
                <a16:creationId xmlns:a16="http://schemas.microsoft.com/office/drawing/2014/main" id="{3D66C6E3-EBD2-40B7-8FD8-D6D2250FC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0544" y="808057"/>
            <a:ext cx="10227733" cy="5234394"/>
          </a:xfrm>
          <a:prstGeom prst="round2DiagRect">
            <a:avLst>
              <a:gd name="adj1" fmla="val 6185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30EC2B-31BD-487D-9AA9-72B60382A7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4758" y="1136606"/>
            <a:ext cx="9019305" cy="457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435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6551C300-1D7A-46C3-9EF6-0EAC9B1E1F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8EC1EDC6-1B42-4FCD-BC53-B1D05BFF2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33EFBCB-98A2-4F16-B3BB-BF9EC17846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4" name="Rectangle 5">
                <a:extLst>
                  <a:ext uri="{FF2B5EF4-FFF2-40B4-BE49-F238E27FC236}">
                    <a16:creationId xmlns:a16="http://schemas.microsoft.com/office/drawing/2014/main" id="{B399E29C-9CF8-4BD1-8750-949BA21268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6">
                <a:extLst>
                  <a:ext uri="{FF2B5EF4-FFF2-40B4-BE49-F238E27FC236}">
                    <a16:creationId xmlns:a16="http://schemas.microsoft.com/office/drawing/2014/main" id="{CB02DFF7-56DA-42B6-B49A-C8926B841A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7">
                <a:extLst>
                  <a:ext uri="{FF2B5EF4-FFF2-40B4-BE49-F238E27FC236}">
                    <a16:creationId xmlns:a16="http://schemas.microsoft.com/office/drawing/2014/main" id="{07F77B45-21CD-43DB-AD58-24F8145021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8">
                <a:extLst>
                  <a:ext uri="{FF2B5EF4-FFF2-40B4-BE49-F238E27FC236}">
                    <a16:creationId xmlns:a16="http://schemas.microsoft.com/office/drawing/2014/main" id="{F0151C40-12A4-4A09-A8B6-179A062EF6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9">
                <a:extLst>
                  <a:ext uri="{FF2B5EF4-FFF2-40B4-BE49-F238E27FC236}">
                    <a16:creationId xmlns:a16="http://schemas.microsoft.com/office/drawing/2014/main" id="{F0146EA7-EB82-410D-A6ED-7C10C525ADC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0">
                <a:extLst>
                  <a:ext uri="{FF2B5EF4-FFF2-40B4-BE49-F238E27FC236}">
                    <a16:creationId xmlns:a16="http://schemas.microsoft.com/office/drawing/2014/main" id="{20DD5C02-0C86-4FA9-B82A-254EF58D37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1">
                <a:extLst>
                  <a:ext uri="{FF2B5EF4-FFF2-40B4-BE49-F238E27FC236}">
                    <a16:creationId xmlns:a16="http://schemas.microsoft.com/office/drawing/2014/main" id="{19ED9FD5-1147-400A-8A32-82A74F7AD8F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2">
                <a:extLst>
                  <a:ext uri="{FF2B5EF4-FFF2-40B4-BE49-F238E27FC236}">
                    <a16:creationId xmlns:a16="http://schemas.microsoft.com/office/drawing/2014/main" id="{E79E6A0D-4D79-4788-8769-B989488019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Freeform 13">
                <a:extLst>
                  <a:ext uri="{FF2B5EF4-FFF2-40B4-BE49-F238E27FC236}">
                    <a16:creationId xmlns:a16="http://schemas.microsoft.com/office/drawing/2014/main" id="{A6F42038-BF59-409A-902B-AD7799149A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3" name="Freeform 14">
                <a:extLst>
                  <a:ext uri="{FF2B5EF4-FFF2-40B4-BE49-F238E27FC236}">
                    <a16:creationId xmlns:a16="http://schemas.microsoft.com/office/drawing/2014/main" id="{D8B0BD48-5982-4C95-A7C8-E0D2306453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5">
                <a:extLst>
                  <a:ext uri="{FF2B5EF4-FFF2-40B4-BE49-F238E27FC236}">
                    <a16:creationId xmlns:a16="http://schemas.microsoft.com/office/drawing/2014/main" id="{F6C539D3-C6BD-4FB0-AA91-5AF1BF14C5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Line 16">
                <a:extLst>
                  <a:ext uri="{FF2B5EF4-FFF2-40B4-BE49-F238E27FC236}">
                    <a16:creationId xmlns:a16="http://schemas.microsoft.com/office/drawing/2014/main" id="{34F70AD6-B8F4-4F9D-8593-D4047107BD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6" name="Freeform 17">
                <a:extLst>
                  <a:ext uri="{FF2B5EF4-FFF2-40B4-BE49-F238E27FC236}">
                    <a16:creationId xmlns:a16="http://schemas.microsoft.com/office/drawing/2014/main" id="{51EAB0E0-5DE2-4906-80B0-211A624789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Freeform 18">
                <a:extLst>
                  <a:ext uri="{FF2B5EF4-FFF2-40B4-BE49-F238E27FC236}">
                    <a16:creationId xmlns:a16="http://schemas.microsoft.com/office/drawing/2014/main" id="{38E8B65E-526B-458D-85A5-21C0A1A74F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19">
                <a:extLst>
                  <a:ext uri="{FF2B5EF4-FFF2-40B4-BE49-F238E27FC236}">
                    <a16:creationId xmlns:a16="http://schemas.microsoft.com/office/drawing/2014/main" id="{CCE331A2-5388-42F4-A175-69310C1BEF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0">
                <a:extLst>
                  <a:ext uri="{FF2B5EF4-FFF2-40B4-BE49-F238E27FC236}">
                    <a16:creationId xmlns:a16="http://schemas.microsoft.com/office/drawing/2014/main" id="{4E758D69-ACA2-4888-84BB-B05B1FAF2A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Rectangle 21">
                <a:extLst>
                  <a:ext uri="{FF2B5EF4-FFF2-40B4-BE49-F238E27FC236}">
                    <a16:creationId xmlns:a16="http://schemas.microsoft.com/office/drawing/2014/main" id="{078AAA22-796B-4F0E-85DA-B8B0E81115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2">
                <a:extLst>
                  <a:ext uri="{FF2B5EF4-FFF2-40B4-BE49-F238E27FC236}">
                    <a16:creationId xmlns:a16="http://schemas.microsoft.com/office/drawing/2014/main" id="{D1254A9A-3E31-4A25-9A91-F9BC6CF6A3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3">
                <a:extLst>
                  <a:ext uri="{FF2B5EF4-FFF2-40B4-BE49-F238E27FC236}">
                    <a16:creationId xmlns:a16="http://schemas.microsoft.com/office/drawing/2014/main" id="{18CADB3C-936C-476A-A261-28DD5ABA734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4">
                <a:extLst>
                  <a:ext uri="{FF2B5EF4-FFF2-40B4-BE49-F238E27FC236}">
                    <a16:creationId xmlns:a16="http://schemas.microsoft.com/office/drawing/2014/main" id="{771961D1-28D7-4CC1-A720-2933E8B913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5">
                <a:extLst>
                  <a:ext uri="{FF2B5EF4-FFF2-40B4-BE49-F238E27FC236}">
                    <a16:creationId xmlns:a16="http://schemas.microsoft.com/office/drawing/2014/main" id="{E7B8B616-B89E-4A1C-98DE-13B8B93947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6">
                <a:extLst>
                  <a:ext uri="{FF2B5EF4-FFF2-40B4-BE49-F238E27FC236}">
                    <a16:creationId xmlns:a16="http://schemas.microsoft.com/office/drawing/2014/main" id="{5D6CC1A1-D003-44BA-87E4-B3A7F3D300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27">
                <a:extLst>
                  <a:ext uri="{FF2B5EF4-FFF2-40B4-BE49-F238E27FC236}">
                    <a16:creationId xmlns:a16="http://schemas.microsoft.com/office/drawing/2014/main" id="{FF32749B-B34C-4FCB-A33A-0478844A93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28">
                <a:extLst>
                  <a:ext uri="{FF2B5EF4-FFF2-40B4-BE49-F238E27FC236}">
                    <a16:creationId xmlns:a16="http://schemas.microsoft.com/office/drawing/2014/main" id="{4455F261-AC57-4085-8989-4DBED747F1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8" name="Freeform 29">
                <a:extLst>
                  <a:ext uri="{FF2B5EF4-FFF2-40B4-BE49-F238E27FC236}">
                    <a16:creationId xmlns:a16="http://schemas.microsoft.com/office/drawing/2014/main" id="{57CEA90D-DB58-4EC0-A55C-15FAF59E04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9" name="Freeform 30">
                <a:extLst>
                  <a:ext uri="{FF2B5EF4-FFF2-40B4-BE49-F238E27FC236}">
                    <a16:creationId xmlns:a16="http://schemas.microsoft.com/office/drawing/2014/main" id="{66BBB005-2E38-496A-A46C-FD2B0605C1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0" name="Freeform 31">
                <a:extLst>
                  <a:ext uri="{FF2B5EF4-FFF2-40B4-BE49-F238E27FC236}">
                    <a16:creationId xmlns:a16="http://schemas.microsoft.com/office/drawing/2014/main" id="{E1A7618C-DE9D-401A-AD7A-784F19DA85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E441C57-A0CF-4D49-9609-55CB4646BD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4" name="Freeform 32">
                <a:extLst>
                  <a:ext uri="{FF2B5EF4-FFF2-40B4-BE49-F238E27FC236}">
                    <a16:creationId xmlns:a16="http://schemas.microsoft.com/office/drawing/2014/main" id="{2D3240AD-75B9-452B-9967-D05B40DE5F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3">
                <a:extLst>
                  <a:ext uri="{FF2B5EF4-FFF2-40B4-BE49-F238E27FC236}">
                    <a16:creationId xmlns:a16="http://schemas.microsoft.com/office/drawing/2014/main" id="{6A557EE5-4777-4655-A433-05006D8410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4">
                <a:extLst>
                  <a:ext uri="{FF2B5EF4-FFF2-40B4-BE49-F238E27FC236}">
                    <a16:creationId xmlns:a16="http://schemas.microsoft.com/office/drawing/2014/main" id="{6B721B6E-8FF2-470B-A180-C594E82718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5">
                <a:extLst>
                  <a:ext uri="{FF2B5EF4-FFF2-40B4-BE49-F238E27FC236}">
                    <a16:creationId xmlns:a16="http://schemas.microsoft.com/office/drawing/2014/main" id="{23E045A6-2D54-488D-B5F0-6885184308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6">
                <a:extLst>
                  <a:ext uri="{FF2B5EF4-FFF2-40B4-BE49-F238E27FC236}">
                    <a16:creationId xmlns:a16="http://schemas.microsoft.com/office/drawing/2014/main" id="{2A4F07ED-57C7-4FF7-ABF8-793FC03A24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37">
                <a:extLst>
                  <a:ext uri="{FF2B5EF4-FFF2-40B4-BE49-F238E27FC236}">
                    <a16:creationId xmlns:a16="http://schemas.microsoft.com/office/drawing/2014/main" id="{8829D0E6-D04F-4297-A784-6837F13ECA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Freeform 38">
                <a:extLst>
                  <a:ext uri="{FF2B5EF4-FFF2-40B4-BE49-F238E27FC236}">
                    <a16:creationId xmlns:a16="http://schemas.microsoft.com/office/drawing/2014/main" id="{9477D3D3-AA00-446F-B05D-EBBA25D3C9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1" name="Freeform 39">
                <a:extLst>
                  <a:ext uri="{FF2B5EF4-FFF2-40B4-BE49-F238E27FC236}">
                    <a16:creationId xmlns:a16="http://schemas.microsoft.com/office/drawing/2014/main" id="{5AC450AD-A350-42FA-B7EA-103D4416B4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40">
                <a:extLst>
                  <a:ext uri="{FF2B5EF4-FFF2-40B4-BE49-F238E27FC236}">
                    <a16:creationId xmlns:a16="http://schemas.microsoft.com/office/drawing/2014/main" id="{A10F783A-EC27-47BE-A21D-3531A036FA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Rectangle 41">
                <a:extLst>
                  <a:ext uri="{FF2B5EF4-FFF2-40B4-BE49-F238E27FC236}">
                    <a16:creationId xmlns:a16="http://schemas.microsoft.com/office/drawing/2014/main" id="{A2CBE444-D00C-4C80-9F29-42A250C500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pic>
        <p:nvPicPr>
          <p:cNvPr id="52" name="Picture 2">
            <a:extLst>
              <a:ext uri="{FF2B5EF4-FFF2-40B4-BE49-F238E27FC236}">
                <a16:creationId xmlns:a16="http://schemas.microsoft.com/office/drawing/2014/main" id="{705E34FB-F15B-4B97-A591-8EE92E5FAE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Round Diagonal Corner Rectangle 6">
            <a:extLst>
              <a:ext uri="{FF2B5EF4-FFF2-40B4-BE49-F238E27FC236}">
                <a16:creationId xmlns:a16="http://schemas.microsoft.com/office/drawing/2014/main" id="{1E43660D-412A-41EF-9745-E92C0AC604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0544" y="808057"/>
            <a:ext cx="10227733" cy="5234394"/>
          </a:xfrm>
          <a:prstGeom prst="round2DiagRect">
            <a:avLst>
              <a:gd name="adj1" fmla="val 6185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hart, bar chart&#10;&#10;Description automatically generated">
            <a:extLst>
              <a:ext uri="{FF2B5EF4-FFF2-40B4-BE49-F238E27FC236}">
                <a16:creationId xmlns:a16="http://schemas.microsoft.com/office/drawing/2014/main" id="{CEBDA774-F3E2-4B8D-9F6E-16A9BEA70E1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" b="505"/>
          <a:stretch/>
        </p:blipFill>
        <p:spPr>
          <a:xfrm>
            <a:off x="1302278" y="1136606"/>
            <a:ext cx="9584265" cy="457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850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62DB5-0FC2-4BC0-BFA8-8BF92AB47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210145"/>
            <a:ext cx="10213127" cy="1478570"/>
          </a:xfrm>
        </p:spPr>
        <p:txBody>
          <a:bodyPr/>
          <a:lstStyle/>
          <a:p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4.</a:t>
            </a:r>
            <a:r>
              <a:rPr lang="bg-BG" sz="3600" b="0" i="0" u="none" strike="noStrike" baseline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Производителност според </a:t>
            </a:r>
            <a:r>
              <a:rPr lang="en-US" sz="3600" b="0" i="0" u="none" strike="noStrike" baseline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Julia</a:t>
            </a:r>
            <a:r>
              <a:rPr lang="bg-BG" sz="3600" b="0" i="0" u="none" strike="noStrike" baseline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0" i="0" u="none" strike="noStrike" baseline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0" i="0" u="none" strike="noStrike" baseline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Mandel</a:t>
            </a:r>
            <a:r>
              <a:rPr lang="bg-BG" sz="3600" b="0" i="0" u="none" strike="noStrike" baseline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фрактали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29817-32AA-4B49-B353-54AE6A113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688716"/>
            <a:ext cx="10213127" cy="4747596"/>
          </a:xfrm>
        </p:spPr>
        <p:txBody>
          <a:bodyPr>
            <a:normAutofit fontScale="92500" lnSpcReduction="10000"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Single-Precision Julia: Измерва производителност с плаваща запетая с една точност (32-битова, „с плаваща запетая“) чрез изчисляване на няколко кадъра от популярния фрактал „Julia“.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Double-Precision Mandel: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Измерва производителност с двойна точност (64-битова, „двойна“) с плаваща запетая чрез изчисляване на няколко кадъра от популярния фрактал „Манделброт“. Не всички графични процесори поддържат операции с двойна точност с плаваща запетая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като лабораторната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MDC 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машина. Но при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MC 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машините се вижда, че по-новите генерации Интел вградени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GPU 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поддържат този стандарт. </a:t>
            </a:r>
          </a:p>
          <a:p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Безспорен победител и в двата случая е видео картата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Nvidia GTX 1060 3GB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. Видео картите за настолни компютри по принцип са по-мощни и държат по-ниски температури от тези при преносимите компютри.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7113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EA8ADA9F-99E3-4964-8962-1118D1439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66C3164-AA9F-47E3-913A-4F002BC0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3FFBAC2-26D2-48B6-B2AA-34AEA0E79E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4" name="Rectangle 5">
                <a:extLst>
                  <a:ext uri="{FF2B5EF4-FFF2-40B4-BE49-F238E27FC236}">
                    <a16:creationId xmlns:a16="http://schemas.microsoft.com/office/drawing/2014/main" id="{9B164BCB-27D3-4B8C-AC13-0A6F461082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6">
                <a:extLst>
                  <a:ext uri="{FF2B5EF4-FFF2-40B4-BE49-F238E27FC236}">
                    <a16:creationId xmlns:a16="http://schemas.microsoft.com/office/drawing/2014/main" id="{10B247BE-F4A2-4259-9B20-FB9A555D28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7">
                <a:extLst>
                  <a:ext uri="{FF2B5EF4-FFF2-40B4-BE49-F238E27FC236}">
                    <a16:creationId xmlns:a16="http://schemas.microsoft.com/office/drawing/2014/main" id="{39322C5A-DB6D-4B28-8C1C-1B1E896789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8">
                <a:extLst>
                  <a:ext uri="{FF2B5EF4-FFF2-40B4-BE49-F238E27FC236}">
                    <a16:creationId xmlns:a16="http://schemas.microsoft.com/office/drawing/2014/main" id="{67009B08-E345-4516-96EC-ED0AB1F30B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9">
                <a:extLst>
                  <a:ext uri="{FF2B5EF4-FFF2-40B4-BE49-F238E27FC236}">
                    <a16:creationId xmlns:a16="http://schemas.microsoft.com/office/drawing/2014/main" id="{DFE2793C-165C-4635-A26E-C569C8E0C5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0">
                <a:extLst>
                  <a:ext uri="{FF2B5EF4-FFF2-40B4-BE49-F238E27FC236}">
                    <a16:creationId xmlns:a16="http://schemas.microsoft.com/office/drawing/2014/main" id="{ECDFEF2C-7B0A-41A1-BB61-C92CB3E3A7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1">
                <a:extLst>
                  <a:ext uri="{FF2B5EF4-FFF2-40B4-BE49-F238E27FC236}">
                    <a16:creationId xmlns:a16="http://schemas.microsoft.com/office/drawing/2014/main" id="{0012A396-1946-4B40-AA39-0790157CE9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2">
                <a:extLst>
                  <a:ext uri="{FF2B5EF4-FFF2-40B4-BE49-F238E27FC236}">
                    <a16:creationId xmlns:a16="http://schemas.microsoft.com/office/drawing/2014/main" id="{CD6C6024-F73D-4991-97B9-BE53FF24E3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Freeform 13">
                <a:extLst>
                  <a:ext uri="{FF2B5EF4-FFF2-40B4-BE49-F238E27FC236}">
                    <a16:creationId xmlns:a16="http://schemas.microsoft.com/office/drawing/2014/main" id="{5977EDD1-3D10-43FA-B800-7A7C8112B7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3" name="Freeform 14">
                <a:extLst>
                  <a:ext uri="{FF2B5EF4-FFF2-40B4-BE49-F238E27FC236}">
                    <a16:creationId xmlns:a16="http://schemas.microsoft.com/office/drawing/2014/main" id="{D37988CF-9FC6-48F5-82F8-D2EB0178A3B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5">
                <a:extLst>
                  <a:ext uri="{FF2B5EF4-FFF2-40B4-BE49-F238E27FC236}">
                    <a16:creationId xmlns:a16="http://schemas.microsoft.com/office/drawing/2014/main" id="{EC5BB05B-491C-414A-91C3-B1CAB785A8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Line 16">
                <a:extLst>
                  <a:ext uri="{FF2B5EF4-FFF2-40B4-BE49-F238E27FC236}">
                    <a16:creationId xmlns:a16="http://schemas.microsoft.com/office/drawing/2014/main" id="{F3180CB6-F8D2-4596-B6CB-F9CEF5D389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6" name="Freeform 17">
                <a:extLst>
                  <a:ext uri="{FF2B5EF4-FFF2-40B4-BE49-F238E27FC236}">
                    <a16:creationId xmlns:a16="http://schemas.microsoft.com/office/drawing/2014/main" id="{DF338DD3-80F8-4F68-AC7C-361ABF2A9B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Freeform 18">
                <a:extLst>
                  <a:ext uri="{FF2B5EF4-FFF2-40B4-BE49-F238E27FC236}">
                    <a16:creationId xmlns:a16="http://schemas.microsoft.com/office/drawing/2014/main" id="{9666E4DB-B855-4A4E-BB50-1880738C11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19">
                <a:extLst>
                  <a:ext uri="{FF2B5EF4-FFF2-40B4-BE49-F238E27FC236}">
                    <a16:creationId xmlns:a16="http://schemas.microsoft.com/office/drawing/2014/main" id="{F570FD9C-B435-4EF1-962C-621F1261AA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0">
                <a:extLst>
                  <a:ext uri="{FF2B5EF4-FFF2-40B4-BE49-F238E27FC236}">
                    <a16:creationId xmlns:a16="http://schemas.microsoft.com/office/drawing/2014/main" id="{E236AF0B-3BDC-43C3-8FFC-2A94121E94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Rectangle 21">
                <a:extLst>
                  <a:ext uri="{FF2B5EF4-FFF2-40B4-BE49-F238E27FC236}">
                    <a16:creationId xmlns:a16="http://schemas.microsoft.com/office/drawing/2014/main" id="{3BA2C208-5097-4497-AA2C-ADDDAB48B6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2">
                <a:extLst>
                  <a:ext uri="{FF2B5EF4-FFF2-40B4-BE49-F238E27FC236}">
                    <a16:creationId xmlns:a16="http://schemas.microsoft.com/office/drawing/2014/main" id="{6A45DD96-8D07-43CA-B036-6FDA880A17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3">
                <a:extLst>
                  <a:ext uri="{FF2B5EF4-FFF2-40B4-BE49-F238E27FC236}">
                    <a16:creationId xmlns:a16="http://schemas.microsoft.com/office/drawing/2014/main" id="{AF7F7CBB-E154-4CD5-9ED0-D5DDC1DFEAE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4">
                <a:extLst>
                  <a:ext uri="{FF2B5EF4-FFF2-40B4-BE49-F238E27FC236}">
                    <a16:creationId xmlns:a16="http://schemas.microsoft.com/office/drawing/2014/main" id="{EFF4AB16-41DD-4877-8C28-ED78F4CA7F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5">
                <a:extLst>
                  <a:ext uri="{FF2B5EF4-FFF2-40B4-BE49-F238E27FC236}">
                    <a16:creationId xmlns:a16="http://schemas.microsoft.com/office/drawing/2014/main" id="{30BCBD5D-92EB-487E-B1D0-F9000D45D1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6">
                <a:extLst>
                  <a:ext uri="{FF2B5EF4-FFF2-40B4-BE49-F238E27FC236}">
                    <a16:creationId xmlns:a16="http://schemas.microsoft.com/office/drawing/2014/main" id="{DA07BDB8-9827-4EBF-9B99-6C503EA0BC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27">
                <a:extLst>
                  <a:ext uri="{FF2B5EF4-FFF2-40B4-BE49-F238E27FC236}">
                    <a16:creationId xmlns:a16="http://schemas.microsoft.com/office/drawing/2014/main" id="{7F41FB05-1B3F-450A-A1A7-8C8BD182A5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28">
                <a:extLst>
                  <a:ext uri="{FF2B5EF4-FFF2-40B4-BE49-F238E27FC236}">
                    <a16:creationId xmlns:a16="http://schemas.microsoft.com/office/drawing/2014/main" id="{0629E219-1F32-41C1-B921-05E4561179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8" name="Freeform 29">
                <a:extLst>
                  <a:ext uri="{FF2B5EF4-FFF2-40B4-BE49-F238E27FC236}">
                    <a16:creationId xmlns:a16="http://schemas.microsoft.com/office/drawing/2014/main" id="{8081FB28-486E-4C09-9D15-0B2657B56F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9" name="Freeform 30">
                <a:extLst>
                  <a:ext uri="{FF2B5EF4-FFF2-40B4-BE49-F238E27FC236}">
                    <a16:creationId xmlns:a16="http://schemas.microsoft.com/office/drawing/2014/main" id="{CB547EFB-F29D-4336-9644-0AE7A94EA4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0" name="Freeform 31">
                <a:extLst>
                  <a:ext uri="{FF2B5EF4-FFF2-40B4-BE49-F238E27FC236}">
                    <a16:creationId xmlns:a16="http://schemas.microsoft.com/office/drawing/2014/main" id="{BB2793F4-FAD7-459A-BC46-06BB1D4FAA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C01589C-0235-4B21-B264-777746D4D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4" name="Freeform 32">
                <a:extLst>
                  <a:ext uri="{FF2B5EF4-FFF2-40B4-BE49-F238E27FC236}">
                    <a16:creationId xmlns:a16="http://schemas.microsoft.com/office/drawing/2014/main" id="{678F5669-8CE7-445E-8D54-49C5E2013B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3">
                <a:extLst>
                  <a:ext uri="{FF2B5EF4-FFF2-40B4-BE49-F238E27FC236}">
                    <a16:creationId xmlns:a16="http://schemas.microsoft.com/office/drawing/2014/main" id="{E93A3F8E-D876-485E-9EDC-43E315DE1E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4">
                <a:extLst>
                  <a:ext uri="{FF2B5EF4-FFF2-40B4-BE49-F238E27FC236}">
                    <a16:creationId xmlns:a16="http://schemas.microsoft.com/office/drawing/2014/main" id="{B4F848A6-931A-4CC9-9B29-C7A9CEA3AC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5">
                <a:extLst>
                  <a:ext uri="{FF2B5EF4-FFF2-40B4-BE49-F238E27FC236}">
                    <a16:creationId xmlns:a16="http://schemas.microsoft.com/office/drawing/2014/main" id="{5C4204D4-6782-4DB1-8FF8-86CC698AF2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6">
                <a:extLst>
                  <a:ext uri="{FF2B5EF4-FFF2-40B4-BE49-F238E27FC236}">
                    <a16:creationId xmlns:a16="http://schemas.microsoft.com/office/drawing/2014/main" id="{3907C583-5764-43DC-8AF9-992D3472F6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37">
                <a:extLst>
                  <a:ext uri="{FF2B5EF4-FFF2-40B4-BE49-F238E27FC236}">
                    <a16:creationId xmlns:a16="http://schemas.microsoft.com/office/drawing/2014/main" id="{56CE3D6E-1121-4EF2-9DFB-7F3937FCCD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Freeform 38">
                <a:extLst>
                  <a:ext uri="{FF2B5EF4-FFF2-40B4-BE49-F238E27FC236}">
                    <a16:creationId xmlns:a16="http://schemas.microsoft.com/office/drawing/2014/main" id="{3AEB7245-E197-4AE5-BCFC-7821E49EFE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1" name="Freeform 39">
                <a:extLst>
                  <a:ext uri="{FF2B5EF4-FFF2-40B4-BE49-F238E27FC236}">
                    <a16:creationId xmlns:a16="http://schemas.microsoft.com/office/drawing/2014/main" id="{801E9C76-F4FB-4C4D-9350-B526F294E0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40">
                <a:extLst>
                  <a:ext uri="{FF2B5EF4-FFF2-40B4-BE49-F238E27FC236}">
                    <a16:creationId xmlns:a16="http://schemas.microsoft.com/office/drawing/2014/main" id="{F9C0C5DE-6C8C-4CD0-9C91-6A132A06DA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Rectangle 41">
                <a:extLst>
                  <a:ext uri="{FF2B5EF4-FFF2-40B4-BE49-F238E27FC236}">
                    <a16:creationId xmlns:a16="http://schemas.microsoft.com/office/drawing/2014/main" id="{955A7039-8B66-4CF0-8048-0AD0F4A5B85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pic>
        <p:nvPicPr>
          <p:cNvPr id="52" name="Picture 2">
            <a:extLst>
              <a:ext uri="{FF2B5EF4-FFF2-40B4-BE49-F238E27FC236}">
                <a16:creationId xmlns:a16="http://schemas.microsoft.com/office/drawing/2014/main" id="{6D651BB0-1DFD-4941-83DD-704006F6B1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5" name="Round Diagonal Corner Rectangle 6">
            <a:extLst>
              <a:ext uri="{FF2B5EF4-FFF2-40B4-BE49-F238E27FC236}">
                <a16:creationId xmlns:a16="http://schemas.microsoft.com/office/drawing/2014/main" id="{3D66C6E3-EBD2-40B7-8FD8-D6D2250FC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0544" y="808057"/>
            <a:ext cx="10227733" cy="5234394"/>
          </a:xfrm>
          <a:prstGeom prst="round2DiagRect">
            <a:avLst>
              <a:gd name="adj1" fmla="val 6185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C300CC-B346-4301-B978-7356D54A00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4288" y="-1"/>
            <a:ext cx="12215816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9270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A8F8863-5A18-4956-B325-E8365F194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2445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65FE2-9C9D-418B-87DC-05B5A9475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12491"/>
            <a:ext cx="10417314" cy="1478570"/>
          </a:xfrm>
        </p:spPr>
        <p:txBody>
          <a:bodyPr>
            <a:normAutofit fontScale="90000"/>
          </a:bodyPr>
          <a:lstStyle/>
          <a:p>
            <a:r>
              <a:rPr lang="bg-BG">
                <a:latin typeface="Arial" panose="020B0604020202020204" pitchFamily="34" charset="0"/>
                <a:cs typeface="Arial" panose="020B0604020202020204" pitchFamily="34" charset="0"/>
              </a:rPr>
              <a:t>5.</a:t>
            </a:r>
            <a:r>
              <a:rPr lang="ru-RU">
                <a:latin typeface="Arial" panose="020B0604020202020204" pitchFamily="34" charset="0"/>
                <a:cs typeface="Arial" panose="020B0604020202020204" pitchFamily="34" charset="0"/>
              </a:rPr>
              <a:t> класация на машините по производителност на централния процесор и графичния процесор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B9B5B-828E-498D-9311-0D53B5E47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796725"/>
            <a:ext cx="10674766" cy="4948783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CPU(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базова конфигурация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HP EliteDesk,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лабораторнат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машина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На първо място са двата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процесора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Intel Xeon ES-2676 v3 (Haswell-EP)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 на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WS 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среден клас(2*12=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24 cores, 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2*24=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48 threads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Най-слабият процесор е двуядреният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AMD A4-4000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AMD Desktop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),който се представя по-слабо във всички тестове;</a:t>
            </a:r>
          </a:p>
          <a:p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Останалите машини се представят главно по-добре от базовата конфигурация, но се забелязва, че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MDC 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WS 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компютрите се представят по-добре в повече тестове спрямо преносимите компютри.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D65CA80-8ECC-4414-977B-D2298A4B50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3697460"/>
              </p:ext>
            </p:extLst>
          </p:nvPr>
        </p:nvGraphicFramePr>
        <p:xfrm>
          <a:off x="1144586" y="2298842"/>
          <a:ext cx="9906001" cy="14899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78926">
                  <a:extLst>
                    <a:ext uri="{9D8B030D-6E8A-4147-A177-3AD203B41FA5}">
                      <a16:colId xmlns:a16="http://schemas.microsoft.com/office/drawing/2014/main" val="3707450380"/>
                    </a:ext>
                  </a:extLst>
                </a:gridCol>
                <a:gridCol w="905117">
                  <a:extLst>
                    <a:ext uri="{9D8B030D-6E8A-4147-A177-3AD203B41FA5}">
                      <a16:colId xmlns:a16="http://schemas.microsoft.com/office/drawing/2014/main" val="2956640984"/>
                    </a:ext>
                  </a:extLst>
                </a:gridCol>
                <a:gridCol w="1440644">
                  <a:extLst>
                    <a:ext uri="{9D8B030D-6E8A-4147-A177-3AD203B41FA5}">
                      <a16:colId xmlns:a16="http://schemas.microsoft.com/office/drawing/2014/main" val="636235024"/>
                    </a:ext>
                  </a:extLst>
                </a:gridCol>
                <a:gridCol w="744207">
                  <a:extLst>
                    <a:ext uri="{9D8B030D-6E8A-4147-A177-3AD203B41FA5}">
                      <a16:colId xmlns:a16="http://schemas.microsoft.com/office/drawing/2014/main" val="2823082569"/>
                    </a:ext>
                  </a:extLst>
                </a:gridCol>
                <a:gridCol w="804549">
                  <a:extLst>
                    <a:ext uri="{9D8B030D-6E8A-4147-A177-3AD203B41FA5}">
                      <a16:colId xmlns:a16="http://schemas.microsoft.com/office/drawing/2014/main" val="91780224"/>
                    </a:ext>
                  </a:extLst>
                </a:gridCol>
                <a:gridCol w="807062">
                  <a:extLst>
                    <a:ext uri="{9D8B030D-6E8A-4147-A177-3AD203B41FA5}">
                      <a16:colId xmlns:a16="http://schemas.microsoft.com/office/drawing/2014/main" val="3521511923"/>
                    </a:ext>
                  </a:extLst>
                </a:gridCol>
                <a:gridCol w="1410474">
                  <a:extLst>
                    <a:ext uri="{9D8B030D-6E8A-4147-A177-3AD203B41FA5}">
                      <a16:colId xmlns:a16="http://schemas.microsoft.com/office/drawing/2014/main" val="424655753"/>
                    </a:ext>
                  </a:extLst>
                </a:gridCol>
                <a:gridCol w="1380303">
                  <a:extLst>
                    <a:ext uri="{9D8B030D-6E8A-4147-A177-3AD203B41FA5}">
                      <a16:colId xmlns:a16="http://schemas.microsoft.com/office/drawing/2014/main" val="3653056532"/>
                    </a:ext>
                  </a:extLst>
                </a:gridCol>
                <a:gridCol w="834719">
                  <a:extLst>
                    <a:ext uri="{9D8B030D-6E8A-4147-A177-3AD203B41FA5}">
                      <a16:colId xmlns:a16="http://schemas.microsoft.com/office/drawing/2014/main" val="1401244915"/>
                    </a:ext>
                  </a:extLst>
                </a:gridCol>
              </a:tblGrid>
              <a:tr h="151006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MDC AMD Desktop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MDC Custom Build Gaming PC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WS </a:t>
                      </a:r>
                      <a:r>
                        <a:rPr lang="bg-BG" sz="900" u="none" strike="noStrike">
                          <a:effectLst/>
                        </a:rPr>
                        <a:t>нисък клас</a:t>
                      </a:r>
                      <a:endParaRPr lang="bg-BG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WS </a:t>
                      </a:r>
                      <a:r>
                        <a:rPr lang="bg-BG" sz="900" u="none" strike="noStrike">
                          <a:effectLst/>
                        </a:rPr>
                        <a:t>среден клас</a:t>
                      </a:r>
                      <a:endParaRPr lang="bg-BG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MC Lenovo Yoga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MC Lenovo Thinkpad Yoga X1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MC Lenovo Thinkpad Yoga 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MC HP EliteBook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extLst>
                  <a:ext uri="{0D108BD9-81ED-4DB2-BD59-A6C34878D82A}">
                    <a16:rowId xmlns:a16="http://schemas.microsoft.com/office/drawing/2014/main" val="3954621283"/>
                  </a:ext>
                </a:extLst>
              </a:tr>
              <a:tr h="151006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Memory read,  MB/s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-20,69%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141,39%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97,49%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428,10%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0,38%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114,68%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72,93%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70,64%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extLst>
                  <a:ext uri="{0D108BD9-81ED-4DB2-BD59-A6C34878D82A}">
                    <a16:rowId xmlns:a16="http://schemas.microsoft.com/office/drawing/2014/main" val="266237946"/>
                  </a:ext>
                </a:extLst>
              </a:tr>
              <a:tr h="151006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Memory write, MB/s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-42,71%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144,51%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86,60%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277,89%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-3,71%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120,57%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90,72%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91,31%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extLst>
                  <a:ext uri="{0D108BD9-81ED-4DB2-BD59-A6C34878D82A}">
                    <a16:rowId xmlns:a16="http://schemas.microsoft.com/office/drawing/2014/main" val="908374050"/>
                  </a:ext>
                </a:extLst>
              </a:tr>
              <a:tr h="151006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Memory copy, MB/s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-32,34%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101,81%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82,47%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388,29%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1,07%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109,61%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76,39%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76,89%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extLst>
                  <a:ext uri="{0D108BD9-81ED-4DB2-BD59-A6C34878D82A}">
                    <a16:rowId xmlns:a16="http://schemas.microsoft.com/office/drawing/2014/main" val="3145503349"/>
                  </a:ext>
                </a:extLst>
              </a:tr>
              <a:tr h="151006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Single-Precision FLOPS, GFLOPS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-87,50%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1,52%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-42,85%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400,98%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-56,31%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-45,59%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-54,75%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-53,65%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extLst>
                  <a:ext uri="{0D108BD9-81ED-4DB2-BD59-A6C34878D82A}">
                    <a16:rowId xmlns:a16="http://schemas.microsoft.com/office/drawing/2014/main" val="2434417110"/>
                  </a:ext>
                </a:extLst>
              </a:tr>
              <a:tr h="151006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Double-Precision FLOPS, GFLOPS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-87,49%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1,08%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-42,80%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400,98%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-56,30%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-45,64%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-54,73%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-53,83%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extLst>
                  <a:ext uri="{0D108BD9-81ED-4DB2-BD59-A6C34878D82A}">
                    <a16:rowId xmlns:a16="http://schemas.microsoft.com/office/drawing/2014/main" val="2075650416"/>
                  </a:ext>
                </a:extLst>
              </a:tr>
              <a:tr h="151006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24-bit Integer IOPS, GIOPS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-88,23%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70,97%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6,91%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371,61%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-26,26%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-8,27%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-57,39%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-55,93%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extLst>
                  <a:ext uri="{0D108BD9-81ED-4DB2-BD59-A6C34878D82A}">
                    <a16:rowId xmlns:a16="http://schemas.microsoft.com/office/drawing/2014/main" val="2440084863"/>
                  </a:ext>
                </a:extLst>
              </a:tr>
              <a:tr h="151006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32-bit Integer IOPS, GIOPS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-88,23%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68,66%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6,91%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371,52%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-26,26%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-8,29%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-57,39%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-55,92%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extLst>
                  <a:ext uri="{0D108BD9-81ED-4DB2-BD59-A6C34878D82A}">
                    <a16:rowId xmlns:a16="http://schemas.microsoft.com/office/drawing/2014/main" val="2201915307"/>
                  </a:ext>
                </a:extLst>
              </a:tr>
              <a:tr h="151006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64-bit Integer IOPS, GIOPS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-88,35%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-5,12%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7,11%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371,43%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-55,95%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-42,79%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-57,43%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-55,95%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50" marR="7550" marT="7550" marB="0" anchor="b"/>
                </a:tc>
                <a:extLst>
                  <a:ext uri="{0D108BD9-81ED-4DB2-BD59-A6C34878D82A}">
                    <a16:rowId xmlns:a16="http://schemas.microsoft.com/office/drawing/2014/main" val="3550131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53688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04D9D80-3348-4985-A685-64F7A8B10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6136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8552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B8176-857E-4A95-86B2-25B578348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2051" y="150920"/>
            <a:ext cx="6132051" cy="6707079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GPU(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базова конфигурация = HP EliteDesk, лабораторнатa машина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  <a:endParaRPr lang="bg-B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1. MDC Custom Build Gaming PC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nVIDIA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GeForce GTX 1060 3GB) +999,91%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2. WS 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нисък клас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nVIDIA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GeForce GTX 1050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+551,25%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3. MC Lenovo Yoga (GeForce 940M, Intel® HD Graphics 520) +180,43%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4. MC Lenovo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Thinkpad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Yoga X1 (Intel® HD Graphics 620) +46,42%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5. MC Lenovo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Thinkpad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Yoga 12 (Intel® HD Graphics 5500) -0,49%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6. MC HP EliteBook (Intel® HD Graphics 4400) 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-7,55%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7. MDC AMD Desktop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nVIDIA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GeForce 605) 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-75,68%</a:t>
            </a:r>
          </a:p>
          <a:p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Няма как да се направи съпоставка със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Double-Precision Mandel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, защото базовата машина не го поддържа.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5F940C-1976-4324-9E6E-C0B48C534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" y="3328704"/>
            <a:ext cx="6132051" cy="35292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6B1E802-EF34-41DA-AC55-D95D7453F8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6132051" cy="3328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7436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A9C61-B7CB-41BB-BE0D-4DF674120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689715"/>
            <a:ext cx="9905998" cy="1478570"/>
          </a:xfrm>
        </p:spPr>
        <p:txBody>
          <a:bodyPr>
            <a:normAutofit/>
          </a:bodyPr>
          <a:lstStyle/>
          <a:p>
            <a:r>
              <a:rPr lang="bg-BG" sz="4400" dirty="0">
                <a:latin typeface="Arial" panose="020B0604020202020204" pitchFamily="34" charset="0"/>
                <a:cs typeface="Arial" panose="020B0604020202020204" pitchFamily="34" charset="0"/>
              </a:rPr>
              <a:t>Благодаря ви за вниманието!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80890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218</TotalTime>
  <Words>960</Words>
  <Application>Microsoft Office PowerPoint</Application>
  <PresentationFormat>Widescreen</PresentationFormat>
  <Paragraphs>123</Paragraphs>
  <Slides>17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Tw Cen MT</vt:lpstr>
      <vt:lpstr>Circuit</vt:lpstr>
      <vt:lpstr>Анализ на данните от тестове за оценка на производителността на компютърни системи</vt:lpstr>
      <vt:lpstr>1. работа на паметта</vt:lpstr>
      <vt:lpstr>PowerPoint Presentation</vt:lpstr>
      <vt:lpstr>PowerPoint Presentation</vt:lpstr>
      <vt:lpstr>2. производителност с целочислени данни (IOPS)</vt:lpstr>
      <vt:lpstr>PowerPoint Presentation</vt:lpstr>
      <vt:lpstr>PowerPoint Presentation</vt:lpstr>
      <vt:lpstr>3. производителност с данни с плаваща запетая (FLOPS)</vt:lpstr>
      <vt:lpstr>PowerPoint Presentation</vt:lpstr>
      <vt:lpstr>PowerPoint Presentation</vt:lpstr>
      <vt:lpstr>4. Производителност според Julia / Mandel фрактали</vt:lpstr>
      <vt:lpstr>PowerPoint Presentation</vt:lpstr>
      <vt:lpstr>PowerPoint Presentation</vt:lpstr>
      <vt:lpstr>5. класация на машините по производителност на централния процесор и графичния процесор</vt:lpstr>
      <vt:lpstr>PowerPoint Presentation</vt:lpstr>
      <vt:lpstr>PowerPoint Presentation</vt:lpstr>
      <vt:lpstr>Благодаря ви за вниманието!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на данните от тестове за оценка на производителността на компютърни системи</dc:title>
  <dc:creator>Kiril Kiskinov</dc:creator>
  <cp:lastModifiedBy>Kiril Kiskinov</cp:lastModifiedBy>
  <cp:revision>20</cp:revision>
  <dcterms:created xsi:type="dcterms:W3CDTF">2021-03-11T00:26:10Z</dcterms:created>
  <dcterms:modified xsi:type="dcterms:W3CDTF">2021-03-11T04:04:47Z</dcterms:modified>
</cp:coreProperties>
</file>