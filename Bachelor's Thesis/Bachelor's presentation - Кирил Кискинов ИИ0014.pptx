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926638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Consolas" panose="020B0609020204030204" pitchFamily="49" charset="0"/>
      <p:regular r:id="rId24"/>
      <p:bold r:id="rId25"/>
      <p:italic r:id="rId26"/>
      <p:boldItalic r:id="rId27"/>
    </p:embeddedFont>
    <p:embeddedFont>
      <p:font typeface="Gill Sans" panose="020B0604020202020204" charset="0"/>
      <p:regular r:id="rId28"/>
      <p:bold r:id="rId29"/>
    </p:embeddedFont>
    <p:embeddedFont>
      <p:font typeface="Sorts Mill Goudy" panose="020B0604020202020204" charset="0"/>
      <p:regular r:id="rId30"/>
      <p: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444" autoAdjust="0"/>
  </p:normalViewPr>
  <p:slideViewPr>
    <p:cSldViewPr snapToGrid="0">
      <p:cViewPr varScale="1">
        <p:scale>
          <a:sx n="93" d="100"/>
          <a:sy n="93" d="100"/>
        </p:scale>
        <p:origin x="12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52438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776788"/>
            <a:ext cx="5486400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9750"/>
            <a:ext cx="29718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9429750"/>
            <a:ext cx="29718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776788"/>
            <a:ext cx="5486400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9429750"/>
            <a:ext cx="29718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776788"/>
            <a:ext cx="5486400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/>
              <a:t> Уважаема госпожо председател на Държавната изпитна комисия, уважаеми членове на Държавната изпитна комисия, уважаеми колеги и гости. 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/>
              <a:t> Позволете да представя на вашето внимание дипломната си работа на тема: „Спецификация на софтуерните изисквания на система за онлайн консултации с медицински специалисти“.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 txBox="1">
            <a:spLocks noGrp="1"/>
          </p:cNvSpPr>
          <p:nvPr>
            <p:ph type="sldNum" idx="12"/>
          </p:nvPr>
        </p:nvSpPr>
        <p:spPr>
          <a:xfrm>
            <a:off x="3884613" y="9429750"/>
            <a:ext cx="29718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776788"/>
            <a:ext cx="5486400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/>
              <a:t>Основната цел на дипломната работа е да се предостави подробно описание на функционалните и нефункционалните изисквания на системата за управление на онлайн консултации с лекар.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/>
              <a:t>	За постигането на тази цел са решени следните задачи: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/>
              <a:t>	1. Проучени са моделите за анализ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/>
              <a:t>	2. Проектирана е система за онлайн консултации с медицински специалисти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/>
              <a:t>	3. Приложен е подходящ потребителски интерфейс и са проведени всички необходими тестове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/>
              <a:t>	Темата е особено важна днес заради пандемията, която подчерта необходимостта от дистанционни медицински услуги. Системите за онлайн консултации позволяват на пациентите да получат необходимата медицинска помощ без да напускат дома си.</a:t>
            </a:r>
            <a:endParaRPr/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/>
              <a:t>Разработването на добре специфицирани функционални и нефункционални изисквания е критично за успешното внедряване и работата на такива системи, осигурявайки тяхната надеждност, сигурност и ефективност.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 txBox="1">
            <a:spLocks noGrp="1"/>
          </p:cNvSpPr>
          <p:nvPr>
            <p:ph type="sldNum" idx="12"/>
          </p:nvPr>
        </p:nvSpPr>
        <p:spPr>
          <a:xfrm>
            <a:off x="3884613" y="9429750"/>
            <a:ext cx="29718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ed7bdf1a28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200" cy="334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ed7bdf1a28_2_0:notes"/>
          <p:cNvSpPr txBox="1">
            <a:spLocks noGrp="1"/>
          </p:cNvSpPr>
          <p:nvPr>
            <p:ph type="body" idx="1"/>
          </p:nvPr>
        </p:nvSpPr>
        <p:spPr>
          <a:xfrm>
            <a:off x="685800" y="4776788"/>
            <a:ext cx="54864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bg-BG"/>
              <a:t>Тук са изброени част от функционалните изисквания. Функционалните изисквания описват какви конкретни функции и задачи трябва да изпълнява софтуерната система, за да удовлетвори нуждите на потребителите.</a:t>
            </a:r>
            <a:endParaRPr/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/>
              <a:t>Едни от по-интересните са тези за записване на час при лекар, търсене на лекар по определено направление и промяна на резервация на час.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2ed7bdf1a28_2_0:notes"/>
          <p:cNvSpPr txBox="1">
            <a:spLocks noGrp="1"/>
          </p:cNvSpPr>
          <p:nvPr>
            <p:ph type="sldNum" idx="12"/>
          </p:nvPr>
        </p:nvSpPr>
        <p:spPr>
          <a:xfrm>
            <a:off x="3884613" y="9429750"/>
            <a:ext cx="2971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bg-BG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ed7ec33754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200" cy="334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ed7ec33754_0_13:notes"/>
          <p:cNvSpPr txBox="1">
            <a:spLocks noGrp="1"/>
          </p:cNvSpPr>
          <p:nvPr>
            <p:ph type="body" idx="1"/>
          </p:nvPr>
        </p:nvSpPr>
        <p:spPr>
          <a:xfrm>
            <a:off x="685800" y="4776788"/>
            <a:ext cx="54864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/>
              <a:t>Тук са изброени част от нефункционалните изисквания. Нефункционалните изисквания описват характеристиките и качествените аспекти на софтуерната система, като производителност, сигурност, надеждност и използваемост. Те определят стандартите и критериите, които системата трябва да покрива, за да бъде ефективна и удовлетворяваща за потребителите.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2ed7ec33754_0_13:notes"/>
          <p:cNvSpPr txBox="1">
            <a:spLocks noGrp="1"/>
          </p:cNvSpPr>
          <p:nvPr>
            <p:ph type="sldNum" idx="12"/>
          </p:nvPr>
        </p:nvSpPr>
        <p:spPr>
          <a:xfrm>
            <a:off x="3884613" y="9429750"/>
            <a:ext cx="2971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bg-BG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ed7ec33754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200" cy="334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ed7ec33754_0_40:notes"/>
          <p:cNvSpPr txBox="1">
            <a:spLocks noGrp="1"/>
          </p:cNvSpPr>
          <p:nvPr>
            <p:ph type="body" idx="1"/>
          </p:nvPr>
        </p:nvSpPr>
        <p:spPr>
          <a:xfrm>
            <a:off x="685800" y="4776788"/>
            <a:ext cx="54864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/>
              <a:t>Дадена е подробна спецификация на случаите на употреба. Тя дава детайлно описание на взаимодействието между потребителите и системата за постигане на конкретна цел. Фигурата представя потокът от събития при търсене на лекар. Това е таблица 7 от общо 9, които могат да бъдат намерени от страница 53 в дипломната работа.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2ed7ec33754_0_40:notes"/>
          <p:cNvSpPr txBox="1">
            <a:spLocks noGrp="1"/>
          </p:cNvSpPr>
          <p:nvPr>
            <p:ph type="sldNum" idx="12"/>
          </p:nvPr>
        </p:nvSpPr>
        <p:spPr>
          <a:xfrm>
            <a:off x="3884613" y="9429750"/>
            <a:ext cx="2971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bg-BG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ed7ec3375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200" cy="334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ed7ec33754_0_65:notes"/>
          <p:cNvSpPr txBox="1">
            <a:spLocks noGrp="1"/>
          </p:cNvSpPr>
          <p:nvPr>
            <p:ph type="body" idx="1"/>
          </p:nvPr>
        </p:nvSpPr>
        <p:spPr>
          <a:xfrm>
            <a:off x="685800" y="4776788"/>
            <a:ext cx="54864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/>
              <a:t>Дадена е диаграма на случаите на използване. Тя предоставя преглед на взаимодействията на актьорите със системата. Диаграмата очертава основните случаи на употреба за три типа потребители: пациенти, лекари и администратори.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2ed7ec33754_0_65:notes"/>
          <p:cNvSpPr txBox="1">
            <a:spLocks noGrp="1"/>
          </p:cNvSpPr>
          <p:nvPr>
            <p:ph type="sldNum" idx="12"/>
          </p:nvPr>
        </p:nvSpPr>
        <p:spPr>
          <a:xfrm>
            <a:off x="3884613" y="9429750"/>
            <a:ext cx="2971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bg-BG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ed7ec33754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200" cy="334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ed7ec33754_0_79:notes"/>
          <p:cNvSpPr txBox="1">
            <a:spLocks noGrp="1"/>
          </p:cNvSpPr>
          <p:nvPr>
            <p:ph type="body" idx="1"/>
          </p:nvPr>
        </p:nvSpPr>
        <p:spPr>
          <a:xfrm>
            <a:off x="685800" y="4776788"/>
            <a:ext cx="54864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sz="1100"/>
              <a:t>Дадена е диаграма на класовете. Тя описва подробно различните класове, техните атрибути, методи и връзки. В примерът има 8 класа. Клас User (Потребител) има атрибути:</a:t>
            </a:r>
            <a:endParaRPr sz="11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sz="1100"/>
              <a:t>ID : Int и методи Login() ; Logout() ; Register() .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g2ed7ec33754_0_79:notes"/>
          <p:cNvSpPr txBox="1">
            <a:spLocks noGrp="1"/>
          </p:cNvSpPr>
          <p:nvPr>
            <p:ph type="sldNum" idx="12"/>
          </p:nvPr>
        </p:nvSpPr>
        <p:spPr>
          <a:xfrm>
            <a:off x="3884613" y="9429750"/>
            <a:ext cx="2971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ed7ec33754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200" cy="334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ed7ec33754_0_93:notes"/>
          <p:cNvSpPr txBox="1">
            <a:spLocks noGrp="1"/>
          </p:cNvSpPr>
          <p:nvPr>
            <p:ph type="body" idx="1"/>
          </p:nvPr>
        </p:nvSpPr>
        <p:spPr>
          <a:xfrm>
            <a:off x="685800" y="4776788"/>
            <a:ext cx="54864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sz="1100"/>
              <a:t>Дадена е ER диаграма (Entity-Relationship). Това е модел за визуално представяне на структурите на база данни, който показва как данните са организирани и как различните елементи на данните са свързани помежду си. В случаят най-горе имаме как пациентите са свързани с направените запитвания. Един пациент може да прави множество запитвания (1:n).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2ed7ec33754_0_93:notes"/>
          <p:cNvSpPr txBox="1">
            <a:spLocks noGrp="1"/>
          </p:cNvSpPr>
          <p:nvPr>
            <p:ph type="sldNum" idx="12"/>
          </p:nvPr>
        </p:nvSpPr>
        <p:spPr>
          <a:xfrm>
            <a:off x="3884613" y="9429750"/>
            <a:ext cx="2971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ed7ec33754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200" cy="334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ed7ec33754_0_106:notes"/>
          <p:cNvSpPr txBox="1">
            <a:spLocks noGrp="1"/>
          </p:cNvSpPr>
          <p:nvPr>
            <p:ph type="body" idx="1"/>
          </p:nvPr>
        </p:nvSpPr>
        <p:spPr>
          <a:xfrm>
            <a:off x="685800" y="4776788"/>
            <a:ext cx="54864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sz="1100"/>
              <a:t>Представен е модел на диаграма на потока от данни (Data Flow Diagram). Използва се за визуализиране на потока на информация в рамките на системата или процеса. Основните компоненти са процеси (“Appointment”, “Registration”, “Info management”), потоци от данни (данните „Cus info“ от “Patient” се предават към “Appointment”), хранилища на данни (“Customer Database” и “Doctor Database”) и външни обекти(“Patient” и “Doctor”).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2ed7ec33754_0_106:notes"/>
          <p:cNvSpPr txBox="1">
            <a:spLocks noGrp="1"/>
          </p:cNvSpPr>
          <p:nvPr>
            <p:ph type="sldNum" idx="12"/>
          </p:nvPr>
        </p:nvSpPr>
        <p:spPr>
          <a:xfrm>
            <a:off x="3884613" y="9429750"/>
            <a:ext cx="2971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ed7ec33754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200" cy="334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ed7ec33754_0_120:notes"/>
          <p:cNvSpPr txBox="1">
            <a:spLocks noGrp="1"/>
          </p:cNvSpPr>
          <p:nvPr>
            <p:ph type="body" idx="1"/>
          </p:nvPr>
        </p:nvSpPr>
        <p:spPr>
          <a:xfrm>
            <a:off x="685800" y="4776788"/>
            <a:ext cx="54864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sz="1100"/>
              <a:t>Представена е диаграма на последователността (Sequence Diagram). Използва се за визуално представяне на последователността на взаимодействия между обекти в определен сценарий. В случая диаграмата включва три вертикални жизнени линии (lifelines), маркирани като “User”, “HTML Browser” и “DataBase”, които представят потока на взаимодействие за процеса на вход в системата.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2ed7ec33754_0_120:notes"/>
          <p:cNvSpPr txBox="1">
            <a:spLocks noGrp="1"/>
          </p:cNvSpPr>
          <p:nvPr>
            <p:ph type="sldNum" idx="12"/>
          </p:nvPr>
        </p:nvSpPr>
        <p:spPr>
          <a:xfrm>
            <a:off x="3884613" y="9429750"/>
            <a:ext cx="2971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ed7ec33754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200" cy="334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ed7ec33754_0_133:notes"/>
          <p:cNvSpPr txBox="1">
            <a:spLocks noGrp="1"/>
          </p:cNvSpPr>
          <p:nvPr>
            <p:ph type="body" idx="1"/>
          </p:nvPr>
        </p:nvSpPr>
        <p:spPr>
          <a:xfrm>
            <a:off x="685800" y="4776788"/>
            <a:ext cx="54864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sz="1100"/>
              <a:t>Даден е един от приемните тестови случаи. В случаят е даден тест за приемане на потребителски профил. Тези тестове се извършват, за да се гарантира, че системата отговаря на предварително определените изисквания и работи според очакванията на потребителите и заинтересованите страни . Това е пример 5 от общо 8, които могат да бъдат намерени от страница 72 в дипломната работа.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2ed7ec33754_0_133:notes"/>
          <p:cNvSpPr txBox="1">
            <a:spLocks noGrp="1"/>
          </p:cNvSpPr>
          <p:nvPr>
            <p:ph type="sldNum" idx="12"/>
          </p:nvPr>
        </p:nvSpPr>
        <p:spPr>
          <a:xfrm>
            <a:off x="3884613" y="9429750"/>
            <a:ext cx="2971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bg-BG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ed7ec33754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200" cy="334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ed7ec33754_0_147:notes"/>
          <p:cNvSpPr txBox="1">
            <a:spLocks noGrp="1"/>
          </p:cNvSpPr>
          <p:nvPr>
            <p:ph type="body" idx="1"/>
          </p:nvPr>
        </p:nvSpPr>
        <p:spPr>
          <a:xfrm>
            <a:off x="685800" y="4776788"/>
            <a:ext cx="54864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bg-BG" sz="1100"/>
              <a:t>На следващите слайдове е даден примерен потребителски интерфейс на системата. Горе вдясно се вижда изглед от страницата за вход като пациент, а долу вляво - изглед от таблото за управление на пациента.</a:t>
            </a:r>
            <a:endParaRPr sz="11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g2ed7ec33754_0_147:notes"/>
          <p:cNvSpPr txBox="1">
            <a:spLocks noGrp="1"/>
          </p:cNvSpPr>
          <p:nvPr>
            <p:ph type="sldNum" idx="12"/>
          </p:nvPr>
        </p:nvSpPr>
        <p:spPr>
          <a:xfrm>
            <a:off x="3884613" y="9429750"/>
            <a:ext cx="2971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ed7ec33754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200" cy="334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ed7ec33754_0_168:notes"/>
          <p:cNvSpPr txBox="1">
            <a:spLocks noGrp="1"/>
          </p:cNvSpPr>
          <p:nvPr>
            <p:ph type="body" idx="1"/>
          </p:nvPr>
        </p:nvSpPr>
        <p:spPr>
          <a:xfrm>
            <a:off x="685800" y="4776788"/>
            <a:ext cx="54864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bg-BG" sz="1100"/>
              <a:t>Горе вдясно се вижда изглед от формулярa за записване на час, а долу вляво -потвърждение за успешно резервиране на час.</a:t>
            </a:r>
            <a:endParaRPr sz="11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2ed7ec33754_0_168:notes"/>
          <p:cNvSpPr txBox="1">
            <a:spLocks noGrp="1"/>
          </p:cNvSpPr>
          <p:nvPr>
            <p:ph type="sldNum" idx="12"/>
          </p:nvPr>
        </p:nvSpPr>
        <p:spPr>
          <a:xfrm>
            <a:off x="3884613" y="9429750"/>
            <a:ext cx="2971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ed7ec33754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200" cy="334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ed7ec33754_0_186:notes"/>
          <p:cNvSpPr txBox="1">
            <a:spLocks noGrp="1"/>
          </p:cNvSpPr>
          <p:nvPr>
            <p:ph type="body" idx="1"/>
          </p:nvPr>
        </p:nvSpPr>
        <p:spPr>
          <a:xfrm>
            <a:off x="685800" y="4776788"/>
            <a:ext cx="54864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sz="1100"/>
              <a:t>Горе вдясно се вижда изглед от модула за история на срещите, а долу вляво - изглед от страницата за контакт.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g2ed7ec33754_0_186:notes"/>
          <p:cNvSpPr txBox="1">
            <a:spLocks noGrp="1"/>
          </p:cNvSpPr>
          <p:nvPr>
            <p:ph type="sldNum" idx="12"/>
          </p:nvPr>
        </p:nvSpPr>
        <p:spPr>
          <a:xfrm>
            <a:off x="3884613" y="9429750"/>
            <a:ext cx="2971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edfdbe2fc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200" cy="334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edfdbe2fcf_0_14:notes"/>
          <p:cNvSpPr txBox="1">
            <a:spLocks noGrp="1"/>
          </p:cNvSpPr>
          <p:nvPr>
            <p:ph type="body" idx="1"/>
          </p:nvPr>
        </p:nvSpPr>
        <p:spPr>
          <a:xfrm>
            <a:off x="685800" y="4776788"/>
            <a:ext cx="54864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sz="1100"/>
              <a:t>Изготвените UML диаграми дават ясно представяне на структурата и взаимодействията между различните компоненти на системата. Резултатите от извършените приемни тестове демонстрират висока степен на функционалност и стабилност на системата. Проектираният потребителски интерфейс предлага интуитивно и лесно използване за потребителите.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2edfdbe2fcf_0_14:notes"/>
          <p:cNvSpPr txBox="1">
            <a:spLocks noGrp="1"/>
          </p:cNvSpPr>
          <p:nvPr>
            <p:ph type="sldNum" idx="12"/>
          </p:nvPr>
        </p:nvSpPr>
        <p:spPr>
          <a:xfrm>
            <a:off x="3884613" y="9429750"/>
            <a:ext cx="2971800" cy="49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bg-BG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" name="Google Shape;303;p12:notes"/>
          <p:cNvSpPr txBox="1">
            <a:spLocks noGrp="1"/>
          </p:cNvSpPr>
          <p:nvPr>
            <p:ph type="body" idx="1"/>
          </p:nvPr>
        </p:nvSpPr>
        <p:spPr>
          <a:xfrm>
            <a:off x="685800" y="4776788"/>
            <a:ext cx="5486400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2:notes"/>
          <p:cNvSpPr txBox="1">
            <a:spLocks noGrp="1"/>
          </p:cNvSpPr>
          <p:nvPr>
            <p:ph type="sldNum" idx="12"/>
          </p:nvPr>
        </p:nvSpPr>
        <p:spPr>
          <a:xfrm>
            <a:off x="3884613" y="9429750"/>
            <a:ext cx="29718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2057400" y="685801"/>
            <a:ext cx="8115300" cy="3046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rts Mill Goudy"/>
              <a:buNone/>
              <a:defRPr sz="36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057400" y="4114800"/>
            <a:ext cx="81153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80"/>
              <a:buNone/>
              <a:defRPr sz="2400" i="1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2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2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Sorts Mill Goudy"/>
              <a:buNone/>
              <a:defRPr sz="3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1371599" y="2254103"/>
            <a:ext cx="9486901" cy="3918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1pPr>
            <a:lvl2pPr marL="914400" lvl="1" indent="-30861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2pPr>
            <a:lvl3pPr marL="1371600" lvl="2" indent="-30861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3pPr>
            <a:lvl4pPr marL="1828800" lvl="3" indent="-30861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77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Sorts Mill Goudy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641624"/>
            <a:ext cx="10515600" cy="1448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2400" i="1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6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1346071" y="566278"/>
            <a:ext cx="9512429" cy="9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rts Mill Goudy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909758" y="2057400"/>
            <a:ext cx="5031521" cy="4119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1pPr>
            <a:lvl2pPr marL="914400" lvl="1" indent="-30861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2pPr>
            <a:lvl3pPr marL="1371600" lvl="2" indent="-30861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3pPr>
            <a:lvl4pPr marL="1828800" lvl="3" indent="-30861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265408" y="2057401"/>
            <a:ext cx="5016834" cy="411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1pPr>
            <a:lvl2pPr marL="914400" lvl="1" indent="-30861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2pPr>
            <a:lvl3pPr marL="1371600" lvl="2" indent="-30861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3pPr>
            <a:lvl4pPr marL="1828800" lvl="3" indent="-30861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276552" cy="1149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Sorts Mill Goudy"/>
              <a:buNone/>
              <a:defRPr sz="3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80"/>
              <a:buNone/>
              <a:defRPr sz="2400" b="1" i="0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2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1pPr>
            <a:lvl2pPr marL="914400" lvl="1" indent="-30861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2pPr>
            <a:lvl3pPr marL="1371600" lvl="2" indent="-30861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3pPr>
            <a:lvl4pPr marL="1828800" lvl="3" indent="-30861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8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2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1pPr>
            <a:lvl2pPr marL="914400" lvl="1" indent="-30861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2pPr>
            <a:lvl3pPr marL="1371600" lvl="2" indent="-30861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3pPr>
            <a:lvl4pPr marL="1828800" lvl="3" indent="-30861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Sorts Mill Goud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08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40"/>
              <a:buChar char="•"/>
              <a:defRPr sz="3200"/>
            </a:lvl1pPr>
            <a:lvl2pPr marL="914400" lvl="1" indent="-35306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960"/>
              <a:buChar char="•"/>
              <a:defRPr sz="2800"/>
            </a:lvl2pPr>
            <a:lvl3pPr marL="1371600" lvl="2" indent="-33528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80"/>
              <a:buChar char="•"/>
              <a:defRPr sz="2400"/>
            </a:lvl3pPr>
            <a:lvl4pPr marL="1828800" lvl="3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2000"/>
            </a:lvl4pPr>
            <a:lvl5pPr marL="2286000" lvl="4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2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8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4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Sorts Mill Goud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2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8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4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4156001" y="-530298"/>
            <a:ext cx="3918098" cy="948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1pPr>
            <a:lvl2pPr marL="914400" lvl="1" indent="-30861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2pPr>
            <a:lvl3pPr marL="1371600" lvl="2" indent="-30861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3pPr>
            <a:lvl4pPr marL="1828800" lvl="3" indent="-30861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1pPr>
            <a:lvl2pPr marL="914400" lvl="1" indent="-30861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2pPr>
            <a:lvl3pPr marL="1371600" lvl="2" indent="-30861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3pPr>
            <a:lvl4pPr marL="1828800" lvl="3" indent="-30861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rts Mill Goudy"/>
              <a:buNone/>
              <a:defRPr sz="3600" b="0" i="0" u="none" strike="noStrike" cap="non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371599" y="2254103"/>
            <a:ext cx="9486901" cy="3918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528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1371600" marR="0" lvl="2" indent="-30861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1828800" marR="0" lvl="3" indent="-299719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2286000" marR="0" lvl="4" indent="-29972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486E8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486E8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486E8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486E8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486E8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486E8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486E8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486E8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486E8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486E8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486E8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t="2677" b="22323"/>
          <a:stretch/>
        </p:blipFill>
        <p:spPr>
          <a:xfrm>
            <a:off x="20" y="10"/>
            <a:ext cx="12191980" cy="6857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1824" y="916034"/>
            <a:ext cx="2759904" cy="466054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</p:pic>
      <p:sp>
        <p:nvSpPr>
          <p:cNvPr id="92" name="Google Shape;92;p13"/>
          <p:cNvSpPr txBox="1"/>
          <p:nvPr/>
        </p:nvSpPr>
        <p:spPr>
          <a:xfrm>
            <a:off x="678603" y="353896"/>
            <a:ext cx="221086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катедра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АВТОМАТИЗАЦИЯ НА</a:t>
            </a:r>
            <a:br>
              <a:rPr lang="bg-BG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bg-BG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ПРОИЗВОДСТВОТО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513071" y="5068583"/>
            <a:ext cx="2717411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ХИМИКОТЕХНОЛОГИЧЕН И</a:t>
            </a:r>
            <a:br>
              <a:rPr lang="bg-BG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bg-BG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МЕТАЛУРГИЧЕН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УНИВЕРСИТЕТ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СОФИЯ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72884" y="927464"/>
            <a:ext cx="2759904" cy="466054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9159663" y="365326"/>
            <a:ext cx="221086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 b="1" i="0" u="none" strike="noStrike" cap="non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катедра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 b="1" i="0" u="none" strike="noStrike" cap="non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АВТОМАТИЗАЦИЯ НА</a:t>
            </a:r>
            <a:br>
              <a:rPr lang="bg-BG" sz="1800" b="1" i="0" u="none" strike="noStrike" cap="non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bg-BG" sz="1800" b="1" i="0" u="none" strike="noStrike" cap="non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ПРОИЗВОДСТВОТО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994131" y="5080013"/>
            <a:ext cx="2717411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 b="1" i="0" u="none" strike="noStrike" cap="non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ХИМИКОТЕХНОЛОГИЧЕН И</a:t>
            </a:r>
            <a:br>
              <a:rPr lang="bg-BG" sz="1800" b="1" i="0" u="none" strike="noStrike" cap="non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bg-BG" sz="1800" b="1" i="0" u="none" strike="noStrike" cap="non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МЕТАЛУРГИЧЕН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 b="1" i="0" u="none" strike="noStrike" cap="non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УНИВЕРСИТЕТ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00206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 b="1" i="0" u="none" strike="noStrike" cap="non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СОФИЯ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462707" y="1075011"/>
            <a:ext cx="525817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4800" b="1" i="0" u="none" strike="noStrike" cap="non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ДИПЛОМНА РАБОТА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35138" y="2454781"/>
            <a:ext cx="6513300" cy="20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3200" b="1" i="0" u="none" strike="noStrike" cap="non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Спецификация на софтуерните изисквания на система за онлайн консултации с медицински специалисти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16138" y="5110791"/>
            <a:ext cx="71514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400">
                <a:solidFill>
                  <a:srgbClr val="165271"/>
                </a:solidFill>
                <a:latin typeface="Consolas"/>
                <a:ea typeface="Consolas"/>
                <a:cs typeface="Consolas"/>
                <a:sym typeface="Consolas"/>
              </a:rPr>
              <a:t>Кирил Николаев Кискинов</a:t>
            </a:r>
            <a:r>
              <a:rPr lang="bg-BG" sz="2400" b="0" i="0" u="none" strike="noStrike" cap="none">
                <a:solidFill>
                  <a:srgbClr val="165271"/>
                </a:solidFill>
                <a:latin typeface="Consolas"/>
                <a:ea typeface="Consolas"/>
                <a:cs typeface="Consolas"/>
                <a:sym typeface="Consolas"/>
              </a:rPr>
              <a:t>, фак.№ </a:t>
            </a:r>
            <a:r>
              <a:rPr lang="bg-BG" sz="2400">
                <a:solidFill>
                  <a:srgbClr val="165271"/>
                </a:solidFill>
                <a:latin typeface="Consolas"/>
                <a:ea typeface="Consolas"/>
                <a:cs typeface="Consolas"/>
                <a:sym typeface="Consolas"/>
              </a:rPr>
              <a:t>ИИ0014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400">
                <a:solidFill>
                  <a:srgbClr val="165271"/>
                </a:solidFill>
                <a:latin typeface="Consolas"/>
                <a:ea typeface="Consolas"/>
                <a:cs typeface="Consolas"/>
                <a:sym typeface="Consolas"/>
              </a:rPr>
              <a:t>бакалавър</a:t>
            </a:r>
            <a:r>
              <a:rPr lang="bg-BG" sz="2400" b="0" i="0" u="none" strike="noStrike" cap="none">
                <a:solidFill>
                  <a:srgbClr val="165271"/>
                </a:solidFill>
                <a:latin typeface="Consolas"/>
                <a:ea typeface="Consolas"/>
                <a:cs typeface="Consolas"/>
                <a:sym typeface="Consolas"/>
              </a:rPr>
              <a:t>, специалност И</a:t>
            </a:r>
            <a:r>
              <a:rPr lang="bg-BG" sz="2400">
                <a:solidFill>
                  <a:srgbClr val="165271"/>
                </a:solidFill>
                <a:latin typeface="Consolas"/>
                <a:ea typeface="Consolas"/>
                <a:cs typeface="Consolas"/>
                <a:sym typeface="Consolas"/>
              </a:rPr>
              <a:t>И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16527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600" b="0" i="0" u="none" strike="noStrike" cap="none">
                <a:solidFill>
                  <a:srgbClr val="165271"/>
                </a:solidFill>
                <a:latin typeface="Consolas"/>
                <a:ea typeface="Consolas"/>
                <a:cs typeface="Consolas"/>
                <a:sym typeface="Consolas"/>
              </a:rPr>
              <a:t>ръководител – д-р инж. Васил Методиев</a:t>
            </a:r>
            <a:endParaRPr sz="1600" b="0" i="0" u="none" strike="noStrike" cap="none">
              <a:solidFill>
                <a:srgbClr val="A5A5A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5" name="Google Shape;105;p14"/>
          <p:cNvCxnSpPr/>
          <p:nvPr/>
        </p:nvCxnSpPr>
        <p:spPr>
          <a:xfrm>
            <a:off x="519289" y="2257778"/>
            <a:ext cx="7405511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 result for target"/>
          <p:cNvPicPr preferRelativeResize="0"/>
          <p:nvPr/>
        </p:nvPicPr>
        <p:blipFill rotWithShape="1">
          <a:blip r:embed="rId3">
            <a:alphaModFix/>
          </a:blip>
          <a:srcRect b="12070"/>
          <a:stretch/>
        </p:blipFill>
        <p:spPr>
          <a:xfrm>
            <a:off x="386419" y="814950"/>
            <a:ext cx="929685" cy="9809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5"/>
          <p:cNvGrpSpPr/>
          <p:nvPr/>
        </p:nvGrpSpPr>
        <p:grpSpPr>
          <a:xfrm>
            <a:off x="39572" y="0"/>
            <a:ext cx="11971806" cy="1095020"/>
            <a:chOff x="39572" y="0"/>
            <a:chExt cx="11971806" cy="1095020"/>
          </a:xfrm>
        </p:grpSpPr>
        <p:sp>
          <p:nvSpPr>
            <p:cNvPr id="113" name="Google Shape;113;p15"/>
            <p:cNvSpPr txBox="1"/>
            <p:nvPr/>
          </p:nvSpPr>
          <p:spPr>
            <a:xfrm>
              <a:off x="39572" y="0"/>
              <a:ext cx="11971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ПЕЦИФИКАЦИЯ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НА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СОФТУЕРНИТЕ ИЗИСКВАНИЯ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НА СИСТЕМА ЗА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ОНЛАЙН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КОНСУЛТАЦИИ С МЕДИЦИНСКИ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СПЕЦИАЛИСТИ</a:t>
              </a:r>
              <a:endParaRPr/>
            </a:p>
          </p:txBody>
        </p:sp>
        <p:sp>
          <p:nvSpPr>
            <p:cNvPr id="114" name="Google Shape;114;p15"/>
            <p:cNvSpPr txBox="1"/>
            <p:nvPr/>
          </p:nvSpPr>
          <p:spPr>
            <a:xfrm>
              <a:off x="9775499" y="369325"/>
              <a:ext cx="1587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>
                  <a:solidFill>
                    <a:srgbClr val="165271"/>
                  </a:solidFill>
                  <a:latin typeface="Consolas"/>
                  <a:ea typeface="Consolas"/>
                  <a:cs typeface="Consolas"/>
                  <a:sym typeface="Consolas"/>
                </a:rPr>
                <a:t>Кирил Кискинов</a:t>
              </a:r>
              <a:endParaRPr sz="1050" b="0" i="0" u="none" strike="noStrike" cap="none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15" name="Google Shape;115;p15"/>
            <p:cNvCxnSpPr/>
            <p:nvPr/>
          </p:nvCxnSpPr>
          <p:spPr>
            <a:xfrm>
              <a:off x="180622" y="369332"/>
              <a:ext cx="11492089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pic>
          <p:nvPicPr>
            <p:cNvPr id="116" name="Google Shape;116;p1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362923" y="0"/>
              <a:ext cx="648455" cy="10950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7" name="Google Shape;117;p15"/>
          <p:cNvSpPr txBox="1"/>
          <p:nvPr/>
        </p:nvSpPr>
        <p:spPr>
          <a:xfrm>
            <a:off x="1575200" y="814950"/>
            <a:ext cx="9500100" cy="23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400" b="0" i="0" u="none" strike="noStrike" cap="none">
                <a:solidFill>
                  <a:srgbClr val="165271"/>
                </a:solidFill>
                <a:latin typeface="Consolas"/>
                <a:ea typeface="Consolas"/>
                <a:cs typeface="Consolas"/>
                <a:sym typeface="Consolas"/>
              </a:rPr>
              <a:t>Цел на дипломната работа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16527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0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Да се предостави подробно описание на функционалните и нефункционалните изисквания на системата за управление на онлайн консултации с лекар. Документът служи като ръководство за екипа на разработка, заинтересованите страни и потребителите на системата - лекари, пациенти и разработчици (администратор).</a:t>
            </a:r>
            <a:endParaRPr sz="1600" b="1">
              <a:solidFill>
                <a:srgbClr val="A5A5A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1543075" y="3444600"/>
            <a:ext cx="10396800" cy="31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000">
                <a:solidFill>
                  <a:srgbClr val="165271"/>
                </a:solidFill>
                <a:latin typeface="Consolas"/>
                <a:ea typeface="Consolas"/>
                <a:cs typeface="Consolas"/>
                <a:sym typeface="Consolas"/>
              </a:rPr>
              <a:t>Задачи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16527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bg-BG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Да се проучат моделите за анализ, спецификациите на хардуер, софтуер и интерфейсни спецификации, тестването на функционалности и сигурност на системите и изграждането на потребителски интерфейси за системи за онлайн консултации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bg-BG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Да се проектира система за онлайн консултации с медицински специалисти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bg-BG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Да се приложи подходящ потребителски интерфейс и да се проведат всички необходими тестове</a:t>
            </a:r>
            <a:endParaRPr/>
          </a:p>
        </p:txBody>
      </p:sp>
      <p:grpSp>
        <p:nvGrpSpPr>
          <p:cNvPr id="119" name="Google Shape;119;p15"/>
          <p:cNvGrpSpPr/>
          <p:nvPr/>
        </p:nvGrpSpPr>
        <p:grpSpPr>
          <a:xfrm>
            <a:off x="386392" y="3444591"/>
            <a:ext cx="929727" cy="923347"/>
            <a:chOff x="1112967" y="2659673"/>
            <a:chExt cx="1535723" cy="1538655"/>
          </a:xfrm>
        </p:grpSpPr>
        <p:grpSp>
          <p:nvGrpSpPr>
            <p:cNvPr id="120" name="Google Shape;120;p15"/>
            <p:cNvGrpSpPr/>
            <p:nvPr/>
          </p:nvGrpSpPr>
          <p:grpSpPr>
            <a:xfrm>
              <a:off x="1112967" y="2659673"/>
              <a:ext cx="1535723" cy="1538655"/>
              <a:chOff x="4709747" y="1208942"/>
              <a:chExt cx="1535723" cy="1538655"/>
            </a:xfrm>
          </p:grpSpPr>
          <p:sp>
            <p:nvSpPr>
              <p:cNvPr id="121" name="Google Shape;121;p15"/>
              <p:cNvSpPr/>
              <p:nvPr/>
            </p:nvSpPr>
            <p:spPr>
              <a:xfrm>
                <a:off x="4709747" y="1208942"/>
                <a:ext cx="1535723" cy="1538655"/>
              </a:xfrm>
              <a:prstGeom prst="ellipse">
                <a:avLst/>
              </a:prstGeom>
              <a:solidFill>
                <a:srgbClr val="D8D8D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22" name="Google Shape;122;p15"/>
              <p:cNvSpPr/>
              <p:nvPr/>
            </p:nvSpPr>
            <p:spPr>
              <a:xfrm>
                <a:off x="4850423" y="1345223"/>
                <a:ext cx="1254370" cy="1266092"/>
              </a:xfrm>
              <a:prstGeom prst="ellipse">
                <a:avLst/>
              </a:prstGeom>
              <a:solidFill>
                <a:srgbClr val="86C6E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</p:grpSp>
        <p:grpSp>
          <p:nvGrpSpPr>
            <p:cNvPr id="123" name="Google Shape;123;p15"/>
            <p:cNvGrpSpPr/>
            <p:nvPr/>
          </p:nvGrpSpPr>
          <p:grpSpPr>
            <a:xfrm>
              <a:off x="1583787" y="3135181"/>
              <a:ext cx="594083" cy="587639"/>
              <a:chOff x="2311401" y="612776"/>
              <a:chExt cx="1709738" cy="1627188"/>
            </a:xfrm>
          </p:grpSpPr>
          <p:sp>
            <p:nvSpPr>
              <p:cNvPr id="124" name="Google Shape;124;p15"/>
              <p:cNvSpPr/>
              <p:nvPr/>
            </p:nvSpPr>
            <p:spPr>
              <a:xfrm>
                <a:off x="2311401" y="612776"/>
                <a:ext cx="1276350" cy="1490663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2818" extrusionOk="0">
                    <a:moveTo>
                      <a:pt x="261" y="0"/>
                    </a:moveTo>
                    <a:lnTo>
                      <a:pt x="2141" y="0"/>
                    </a:lnTo>
                    <a:lnTo>
                      <a:pt x="2181" y="3"/>
                    </a:lnTo>
                    <a:lnTo>
                      <a:pt x="2219" y="12"/>
                    </a:lnTo>
                    <a:lnTo>
                      <a:pt x="2255" y="26"/>
                    </a:lnTo>
                    <a:lnTo>
                      <a:pt x="2288" y="45"/>
                    </a:lnTo>
                    <a:lnTo>
                      <a:pt x="2318" y="68"/>
                    </a:lnTo>
                    <a:lnTo>
                      <a:pt x="2345" y="95"/>
                    </a:lnTo>
                    <a:lnTo>
                      <a:pt x="2368" y="126"/>
                    </a:lnTo>
                    <a:lnTo>
                      <a:pt x="2386" y="159"/>
                    </a:lnTo>
                    <a:lnTo>
                      <a:pt x="2400" y="195"/>
                    </a:lnTo>
                    <a:lnTo>
                      <a:pt x="2408" y="234"/>
                    </a:lnTo>
                    <a:lnTo>
                      <a:pt x="2411" y="274"/>
                    </a:lnTo>
                    <a:lnTo>
                      <a:pt x="2411" y="1716"/>
                    </a:lnTo>
                    <a:lnTo>
                      <a:pt x="2142" y="2036"/>
                    </a:lnTo>
                    <a:lnTo>
                      <a:pt x="2142" y="474"/>
                    </a:lnTo>
                    <a:lnTo>
                      <a:pt x="2140" y="440"/>
                    </a:lnTo>
                    <a:lnTo>
                      <a:pt x="2132" y="409"/>
                    </a:lnTo>
                    <a:lnTo>
                      <a:pt x="2119" y="379"/>
                    </a:lnTo>
                    <a:lnTo>
                      <a:pt x="2102" y="353"/>
                    </a:lnTo>
                    <a:lnTo>
                      <a:pt x="2081" y="329"/>
                    </a:lnTo>
                    <a:lnTo>
                      <a:pt x="2056" y="309"/>
                    </a:lnTo>
                    <a:lnTo>
                      <a:pt x="2029" y="292"/>
                    </a:lnTo>
                    <a:lnTo>
                      <a:pt x="1999" y="279"/>
                    </a:lnTo>
                    <a:lnTo>
                      <a:pt x="1967" y="272"/>
                    </a:lnTo>
                    <a:lnTo>
                      <a:pt x="1934" y="269"/>
                    </a:lnTo>
                    <a:lnTo>
                      <a:pt x="479" y="269"/>
                    </a:lnTo>
                    <a:lnTo>
                      <a:pt x="445" y="272"/>
                    </a:lnTo>
                    <a:lnTo>
                      <a:pt x="412" y="279"/>
                    </a:lnTo>
                    <a:lnTo>
                      <a:pt x="382" y="292"/>
                    </a:lnTo>
                    <a:lnTo>
                      <a:pt x="355" y="309"/>
                    </a:lnTo>
                    <a:lnTo>
                      <a:pt x="330" y="329"/>
                    </a:lnTo>
                    <a:lnTo>
                      <a:pt x="309" y="353"/>
                    </a:lnTo>
                    <a:lnTo>
                      <a:pt x="292" y="379"/>
                    </a:lnTo>
                    <a:lnTo>
                      <a:pt x="279" y="409"/>
                    </a:lnTo>
                    <a:lnTo>
                      <a:pt x="271" y="440"/>
                    </a:lnTo>
                    <a:lnTo>
                      <a:pt x="269" y="474"/>
                    </a:lnTo>
                    <a:lnTo>
                      <a:pt x="269" y="2338"/>
                    </a:lnTo>
                    <a:lnTo>
                      <a:pt x="271" y="2371"/>
                    </a:lnTo>
                    <a:lnTo>
                      <a:pt x="279" y="2403"/>
                    </a:lnTo>
                    <a:lnTo>
                      <a:pt x="292" y="2432"/>
                    </a:lnTo>
                    <a:lnTo>
                      <a:pt x="309" y="2459"/>
                    </a:lnTo>
                    <a:lnTo>
                      <a:pt x="330" y="2483"/>
                    </a:lnTo>
                    <a:lnTo>
                      <a:pt x="355" y="2503"/>
                    </a:lnTo>
                    <a:lnTo>
                      <a:pt x="382" y="2520"/>
                    </a:lnTo>
                    <a:lnTo>
                      <a:pt x="412" y="2533"/>
                    </a:lnTo>
                    <a:lnTo>
                      <a:pt x="445" y="2540"/>
                    </a:lnTo>
                    <a:lnTo>
                      <a:pt x="479" y="2543"/>
                    </a:lnTo>
                    <a:lnTo>
                      <a:pt x="1080" y="2543"/>
                    </a:lnTo>
                    <a:lnTo>
                      <a:pt x="1098" y="2579"/>
                    </a:lnTo>
                    <a:lnTo>
                      <a:pt x="1119" y="2615"/>
                    </a:lnTo>
                    <a:lnTo>
                      <a:pt x="1144" y="2648"/>
                    </a:lnTo>
                    <a:lnTo>
                      <a:pt x="1171" y="2680"/>
                    </a:lnTo>
                    <a:lnTo>
                      <a:pt x="1202" y="2710"/>
                    </a:lnTo>
                    <a:lnTo>
                      <a:pt x="1328" y="2818"/>
                    </a:lnTo>
                    <a:lnTo>
                      <a:pt x="272" y="2818"/>
                    </a:lnTo>
                    <a:lnTo>
                      <a:pt x="232" y="2815"/>
                    </a:lnTo>
                    <a:lnTo>
                      <a:pt x="194" y="2807"/>
                    </a:lnTo>
                    <a:lnTo>
                      <a:pt x="157" y="2793"/>
                    </a:lnTo>
                    <a:lnTo>
                      <a:pt x="123" y="2773"/>
                    </a:lnTo>
                    <a:lnTo>
                      <a:pt x="93" y="2750"/>
                    </a:lnTo>
                    <a:lnTo>
                      <a:pt x="66" y="2723"/>
                    </a:lnTo>
                    <a:lnTo>
                      <a:pt x="43" y="2693"/>
                    </a:lnTo>
                    <a:lnTo>
                      <a:pt x="25" y="2660"/>
                    </a:lnTo>
                    <a:lnTo>
                      <a:pt x="11" y="2623"/>
                    </a:lnTo>
                    <a:lnTo>
                      <a:pt x="3" y="2585"/>
                    </a:lnTo>
                    <a:lnTo>
                      <a:pt x="0" y="2544"/>
                    </a:lnTo>
                    <a:lnTo>
                      <a:pt x="0" y="263"/>
                    </a:lnTo>
                    <a:lnTo>
                      <a:pt x="3" y="224"/>
                    </a:lnTo>
                    <a:lnTo>
                      <a:pt x="11" y="187"/>
                    </a:lnTo>
                    <a:lnTo>
                      <a:pt x="24" y="153"/>
                    </a:lnTo>
                    <a:lnTo>
                      <a:pt x="42" y="120"/>
                    </a:lnTo>
                    <a:lnTo>
                      <a:pt x="63" y="91"/>
                    </a:lnTo>
                    <a:lnTo>
                      <a:pt x="89" y="66"/>
                    </a:lnTo>
                    <a:lnTo>
                      <a:pt x="118" y="44"/>
                    </a:lnTo>
                    <a:lnTo>
                      <a:pt x="151" y="25"/>
                    </a:lnTo>
                    <a:lnTo>
                      <a:pt x="185" y="12"/>
                    </a:lnTo>
                    <a:lnTo>
                      <a:pt x="222" y="3"/>
                    </a:lnTo>
                    <a:lnTo>
                      <a:pt x="26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25" name="Google Shape;125;p15"/>
              <p:cNvSpPr/>
              <p:nvPr/>
            </p:nvSpPr>
            <p:spPr>
              <a:xfrm>
                <a:off x="2565401" y="938214"/>
                <a:ext cx="781050" cy="141288"/>
              </a:xfrm>
              <a:custGeom>
                <a:avLst/>
                <a:gdLst/>
                <a:ahLst/>
                <a:cxnLst/>
                <a:rect l="l" t="t" r="r" b="b"/>
                <a:pathLst>
                  <a:path w="1474" h="269" extrusionOk="0">
                    <a:moveTo>
                      <a:pt x="134" y="0"/>
                    </a:moveTo>
                    <a:lnTo>
                      <a:pt x="1341" y="0"/>
                    </a:lnTo>
                    <a:lnTo>
                      <a:pt x="1368" y="3"/>
                    </a:lnTo>
                    <a:lnTo>
                      <a:pt x="1393" y="11"/>
                    </a:lnTo>
                    <a:lnTo>
                      <a:pt x="1416" y="23"/>
                    </a:lnTo>
                    <a:lnTo>
                      <a:pt x="1435" y="40"/>
                    </a:lnTo>
                    <a:lnTo>
                      <a:pt x="1452" y="59"/>
                    </a:lnTo>
                    <a:lnTo>
                      <a:pt x="1464" y="82"/>
                    </a:lnTo>
                    <a:lnTo>
                      <a:pt x="1471" y="107"/>
                    </a:lnTo>
                    <a:lnTo>
                      <a:pt x="1474" y="134"/>
                    </a:lnTo>
                    <a:lnTo>
                      <a:pt x="1471" y="161"/>
                    </a:lnTo>
                    <a:lnTo>
                      <a:pt x="1464" y="186"/>
                    </a:lnTo>
                    <a:lnTo>
                      <a:pt x="1451" y="209"/>
                    </a:lnTo>
                    <a:lnTo>
                      <a:pt x="1435" y="229"/>
                    </a:lnTo>
                    <a:lnTo>
                      <a:pt x="1416" y="246"/>
                    </a:lnTo>
                    <a:lnTo>
                      <a:pt x="1393" y="258"/>
                    </a:lnTo>
                    <a:lnTo>
                      <a:pt x="1368" y="266"/>
                    </a:lnTo>
                    <a:lnTo>
                      <a:pt x="1341" y="269"/>
                    </a:lnTo>
                    <a:lnTo>
                      <a:pt x="134" y="269"/>
                    </a:lnTo>
                    <a:lnTo>
                      <a:pt x="107" y="266"/>
                    </a:lnTo>
                    <a:lnTo>
                      <a:pt x="82" y="258"/>
                    </a:lnTo>
                    <a:lnTo>
                      <a:pt x="59" y="246"/>
                    </a:lnTo>
                    <a:lnTo>
                      <a:pt x="39" y="229"/>
                    </a:lnTo>
                    <a:lnTo>
                      <a:pt x="23" y="209"/>
                    </a:lnTo>
                    <a:lnTo>
                      <a:pt x="11" y="186"/>
                    </a:lnTo>
                    <a:lnTo>
                      <a:pt x="3" y="161"/>
                    </a:lnTo>
                    <a:lnTo>
                      <a:pt x="0" y="134"/>
                    </a:lnTo>
                    <a:lnTo>
                      <a:pt x="3" y="107"/>
                    </a:lnTo>
                    <a:lnTo>
                      <a:pt x="11" y="82"/>
                    </a:lnTo>
                    <a:lnTo>
                      <a:pt x="23" y="59"/>
                    </a:lnTo>
                    <a:lnTo>
                      <a:pt x="39" y="40"/>
                    </a:lnTo>
                    <a:lnTo>
                      <a:pt x="59" y="23"/>
                    </a:lnTo>
                    <a:lnTo>
                      <a:pt x="82" y="11"/>
                    </a:lnTo>
                    <a:lnTo>
                      <a:pt x="107" y="3"/>
                    </a:lnTo>
                    <a:lnTo>
                      <a:pt x="1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26" name="Google Shape;126;p15"/>
              <p:cNvSpPr/>
              <p:nvPr/>
            </p:nvSpPr>
            <p:spPr>
              <a:xfrm>
                <a:off x="2565401" y="1174751"/>
                <a:ext cx="781050" cy="141288"/>
              </a:xfrm>
              <a:custGeom>
                <a:avLst/>
                <a:gdLst/>
                <a:ahLst/>
                <a:cxnLst/>
                <a:rect l="l" t="t" r="r" b="b"/>
                <a:pathLst>
                  <a:path w="1474" h="268" extrusionOk="0">
                    <a:moveTo>
                      <a:pt x="134" y="0"/>
                    </a:moveTo>
                    <a:lnTo>
                      <a:pt x="1341" y="0"/>
                    </a:lnTo>
                    <a:lnTo>
                      <a:pt x="1368" y="2"/>
                    </a:lnTo>
                    <a:lnTo>
                      <a:pt x="1393" y="10"/>
                    </a:lnTo>
                    <a:lnTo>
                      <a:pt x="1416" y="22"/>
                    </a:lnTo>
                    <a:lnTo>
                      <a:pt x="1435" y="39"/>
                    </a:lnTo>
                    <a:lnTo>
                      <a:pt x="1452" y="58"/>
                    </a:lnTo>
                    <a:lnTo>
                      <a:pt x="1464" y="82"/>
                    </a:lnTo>
                    <a:lnTo>
                      <a:pt x="1471" y="107"/>
                    </a:lnTo>
                    <a:lnTo>
                      <a:pt x="1474" y="134"/>
                    </a:lnTo>
                    <a:lnTo>
                      <a:pt x="1471" y="161"/>
                    </a:lnTo>
                    <a:lnTo>
                      <a:pt x="1464" y="186"/>
                    </a:lnTo>
                    <a:lnTo>
                      <a:pt x="1451" y="209"/>
                    </a:lnTo>
                    <a:lnTo>
                      <a:pt x="1435" y="229"/>
                    </a:lnTo>
                    <a:lnTo>
                      <a:pt x="1416" y="245"/>
                    </a:lnTo>
                    <a:lnTo>
                      <a:pt x="1393" y="257"/>
                    </a:lnTo>
                    <a:lnTo>
                      <a:pt x="1368" y="265"/>
                    </a:lnTo>
                    <a:lnTo>
                      <a:pt x="1341" y="268"/>
                    </a:lnTo>
                    <a:lnTo>
                      <a:pt x="134" y="268"/>
                    </a:lnTo>
                    <a:lnTo>
                      <a:pt x="107" y="265"/>
                    </a:lnTo>
                    <a:lnTo>
                      <a:pt x="82" y="257"/>
                    </a:lnTo>
                    <a:lnTo>
                      <a:pt x="59" y="245"/>
                    </a:lnTo>
                    <a:lnTo>
                      <a:pt x="39" y="229"/>
                    </a:lnTo>
                    <a:lnTo>
                      <a:pt x="23" y="209"/>
                    </a:lnTo>
                    <a:lnTo>
                      <a:pt x="11" y="186"/>
                    </a:lnTo>
                    <a:lnTo>
                      <a:pt x="3" y="161"/>
                    </a:lnTo>
                    <a:lnTo>
                      <a:pt x="0" y="134"/>
                    </a:lnTo>
                    <a:lnTo>
                      <a:pt x="3" y="107"/>
                    </a:lnTo>
                    <a:lnTo>
                      <a:pt x="11" y="82"/>
                    </a:lnTo>
                    <a:lnTo>
                      <a:pt x="23" y="58"/>
                    </a:lnTo>
                    <a:lnTo>
                      <a:pt x="39" y="39"/>
                    </a:lnTo>
                    <a:lnTo>
                      <a:pt x="59" y="22"/>
                    </a:lnTo>
                    <a:lnTo>
                      <a:pt x="82" y="10"/>
                    </a:lnTo>
                    <a:lnTo>
                      <a:pt x="107" y="2"/>
                    </a:lnTo>
                    <a:lnTo>
                      <a:pt x="1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27" name="Google Shape;127;p15"/>
              <p:cNvSpPr/>
              <p:nvPr/>
            </p:nvSpPr>
            <p:spPr>
              <a:xfrm>
                <a:off x="2565401" y="1411289"/>
                <a:ext cx="781050" cy="138113"/>
              </a:xfrm>
              <a:custGeom>
                <a:avLst/>
                <a:gdLst/>
                <a:ahLst/>
                <a:cxnLst/>
                <a:rect l="l" t="t" r="r" b="b"/>
                <a:pathLst>
                  <a:path w="1474" h="262" extrusionOk="0">
                    <a:moveTo>
                      <a:pt x="134" y="0"/>
                    </a:moveTo>
                    <a:lnTo>
                      <a:pt x="1341" y="0"/>
                    </a:lnTo>
                    <a:lnTo>
                      <a:pt x="1368" y="3"/>
                    </a:lnTo>
                    <a:lnTo>
                      <a:pt x="1393" y="10"/>
                    </a:lnTo>
                    <a:lnTo>
                      <a:pt x="1416" y="22"/>
                    </a:lnTo>
                    <a:lnTo>
                      <a:pt x="1435" y="38"/>
                    </a:lnTo>
                    <a:lnTo>
                      <a:pt x="1452" y="57"/>
                    </a:lnTo>
                    <a:lnTo>
                      <a:pt x="1464" y="79"/>
                    </a:lnTo>
                    <a:lnTo>
                      <a:pt x="1471" y="104"/>
                    </a:lnTo>
                    <a:lnTo>
                      <a:pt x="1474" y="131"/>
                    </a:lnTo>
                    <a:lnTo>
                      <a:pt x="1471" y="158"/>
                    </a:lnTo>
                    <a:lnTo>
                      <a:pt x="1464" y="183"/>
                    </a:lnTo>
                    <a:lnTo>
                      <a:pt x="1451" y="205"/>
                    </a:lnTo>
                    <a:lnTo>
                      <a:pt x="1435" y="225"/>
                    </a:lnTo>
                    <a:lnTo>
                      <a:pt x="1416" y="240"/>
                    </a:lnTo>
                    <a:lnTo>
                      <a:pt x="1393" y="252"/>
                    </a:lnTo>
                    <a:lnTo>
                      <a:pt x="1368" y="259"/>
                    </a:lnTo>
                    <a:lnTo>
                      <a:pt x="1341" y="262"/>
                    </a:lnTo>
                    <a:lnTo>
                      <a:pt x="134" y="262"/>
                    </a:lnTo>
                    <a:lnTo>
                      <a:pt x="107" y="259"/>
                    </a:lnTo>
                    <a:lnTo>
                      <a:pt x="82" y="252"/>
                    </a:lnTo>
                    <a:lnTo>
                      <a:pt x="59" y="240"/>
                    </a:lnTo>
                    <a:lnTo>
                      <a:pt x="39" y="225"/>
                    </a:lnTo>
                    <a:lnTo>
                      <a:pt x="23" y="205"/>
                    </a:lnTo>
                    <a:lnTo>
                      <a:pt x="11" y="183"/>
                    </a:lnTo>
                    <a:lnTo>
                      <a:pt x="3" y="158"/>
                    </a:lnTo>
                    <a:lnTo>
                      <a:pt x="0" y="131"/>
                    </a:lnTo>
                    <a:lnTo>
                      <a:pt x="3" y="104"/>
                    </a:lnTo>
                    <a:lnTo>
                      <a:pt x="11" y="79"/>
                    </a:lnTo>
                    <a:lnTo>
                      <a:pt x="23" y="57"/>
                    </a:lnTo>
                    <a:lnTo>
                      <a:pt x="39" y="38"/>
                    </a:lnTo>
                    <a:lnTo>
                      <a:pt x="59" y="22"/>
                    </a:lnTo>
                    <a:lnTo>
                      <a:pt x="82" y="10"/>
                    </a:lnTo>
                    <a:lnTo>
                      <a:pt x="107" y="3"/>
                    </a:lnTo>
                    <a:lnTo>
                      <a:pt x="1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28" name="Google Shape;128;p15"/>
              <p:cNvSpPr/>
              <p:nvPr/>
            </p:nvSpPr>
            <p:spPr>
              <a:xfrm>
                <a:off x="2565401" y="1636714"/>
                <a:ext cx="4318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816" h="262" extrusionOk="0">
                    <a:moveTo>
                      <a:pt x="134" y="0"/>
                    </a:moveTo>
                    <a:lnTo>
                      <a:pt x="816" y="0"/>
                    </a:lnTo>
                    <a:lnTo>
                      <a:pt x="777" y="22"/>
                    </a:lnTo>
                    <a:lnTo>
                      <a:pt x="738" y="49"/>
                    </a:lnTo>
                    <a:lnTo>
                      <a:pt x="704" y="78"/>
                    </a:lnTo>
                    <a:lnTo>
                      <a:pt x="671" y="112"/>
                    </a:lnTo>
                    <a:lnTo>
                      <a:pt x="644" y="148"/>
                    </a:lnTo>
                    <a:lnTo>
                      <a:pt x="620" y="186"/>
                    </a:lnTo>
                    <a:lnTo>
                      <a:pt x="600" y="225"/>
                    </a:lnTo>
                    <a:lnTo>
                      <a:pt x="584" y="262"/>
                    </a:lnTo>
                    <a:lnTo>
                      <a:pt x="134" y="262"/>
                    </a:lnTo>
                    <a:lnTo>
                      <a:pt x="107" y="259"/>
                    </a:lnTo>
                    <a:lnTo>
                      <a:pt x="82" y="252"/>
                    </a:lnTo>
                    <a:lnTo>
                      <a:pt x="59" y="240"/>
                    </a:lnTo>
                    <a:lnTo>
                      <a:pt x="39" y="224"/>
                    </a:lnTo>
                    <a:lnTo>
                      <a:pt x="23" y="205"/>
                    </a:lnTo>
                    <a:lnTo>
                      <a:pt x="10" y="183"/>
                    </a:lnTo>
                    <a:lnTo>
                      <a:pt x="3" y="158"/>
                    </a:lnTo>
                    <a:lnTo>
                      <a:pt x="0" y="132"/>
                    </a:lnTo>
                    <a:lnTo>
                      <a:pt x="3" y="105"/>
                    </a:lnTo>
                    <a:lnTo>
                      <a:pt x="10" y="80"/>
                    </a:lnTo>
                    <a:lnTo>
                      <a:pt x="23" y="58"/>
                    </a:lnTo>
                    <a:lnTo>
                      <a:pt x="39" y="39"/>
                    </a:lnTo>
                    <a:lnTo>
                      <a:pt x="59" y="22"/>
                    </a:lnTo>
                    <a:lnTo>
                      <a:pt x="82" y="10"/>
                    </a:lnTo>
                    <a:lnTo>
                      <a:pt x="107" y="2"/>
                    </a:lnTo>
                    <a:lnTo>
                      <a:pt x="1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29" name="Google Shape;129;p15"/>
              <p:cNvSpPr/>
              <p:nvPr/>
            </p:nvSpPr>
            <p:spPr>
              <a:xfrm>
                <a:off x="3221039" y="1636714"/>
                <a:ext cx="125413" cy="93663"/>
              </a:xfrm>
              <a:custGeom>
                <a:avLst/>
                <a:gdLst/>
                <a:ahLst/>
                <a:cxnLst/>
                <a:rect l="l" t="t" r="r" b="b"/>
                <a:pathLst>
                  <a:path w="236" h="177" extrusionOk="0">
                    <a:moveTo>
                      <a:pt x="0" y="0"/>
                    </a:moveTo>
                    <a:lnTo>
                      <a:pt x="102" y="0"/>
                    </a:lnTo>
                    <a:lnTo>
                      <a:pt x="129" y="3"/>
                    </a:lnTo>
                    <a:lnTo>
                      <a:pt x="154" y="10"/>
                    </a:lnTo>
                    <a:lnTo>
                      <a:pt x="177" y="22"/>
                    </a:lnTo>
                    <a:lnTo>
                      <a:pt x="196" y="39"/>
                    </a:lnTo>
                    <a:lnTo>
                      <a:pt x="213" y="59"/>
                    </a:lnTo>
                    <a:lnTo>
                      <a:pt x="225" y="81"/>
                    </a:lnTo>
                    <a:lnTo>
                      <a:pt x="233" y="106"/>
                    </a:lnTo>
                    <a:lnTo>
                      <a:pt x="236" y="133"/>
                    </a:lnTo>
                    <a:lnTo>
                      <a:pt x="234" y="156"/>
                    </a:lnTo>
                    <a:lnTo>
                      <a:pt x="228" y="177"/>
                    </a:lnTo>
                    <a:lnTo>
                      <a:pt x="95" y="63"/>
                    </a:lnTo>
                    <a:lnTo>
                      <a:pt x="72" y="45"/>
                    </a:lnTo>
                    <a:lnTo>
                      <a:pt x="49" y="28"/>
                    </a:lnTo>
                    <a:lnTo>
                      <a:pt x="25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30" name="Google Shape;130;p15"/>
              <p:cNvSpPr/>
              <p:nvPr/>
            </p:nvSpPr>
            <p:spPr>
              <a:xfrm>
                <a:off x="2986089" y="1417639"/>
                <a:ext cx="1035050" cy="822325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553" extrusionOk="0">
                    <a:moveTo>
                      <a:pt x="1719" y="0"/>
                    </a:moveTo>
                    <a:lnTo>
                      <a:pt x="1752" y="2"/>
                    </a:lnTo>
                    <a:lnTo>
                      <a:pt x="1784" y="9"/>
                    </a:lnTo>
                    <a:lnTo>
                      <a:pt x="1816" y="20"/>
                    </a:lnTo>
                    <a:lnTo>
                      <a:pt x="1845" y="36"/>
                    </a:lnTo>
                    <a:lnTo>
                      <a:pt x="1873" y="56"/>
                    </a:lnTo>
                    <a:lnTo>
                      <a:pt x="1898" y="81"/>
                    </a:lnTo>
                    <a:lnTo>
                      <a:pt x="1920" y="108"/>
                    </a:lnTo>
                    <a:lnTo>
                      <a:pt x="1935" y="137"/>
                    </a:lnTo>
                    <a:lnTo>
                      <a:pt x="1947" y="169"/>
                    </a:lnTo>
                    <a:lnTo>
                      <a:pt x="1954" y="201"/>
                    </a:lnTo>
                    <a:lnTo>
                      <a:pt x="1957" y="233"/>
                    </a:lnTo>
                    <a:lnTo>
                      <a:pt x="1955" y="266"/>
                    </a:lnTo>
                    <a:lnTo>
                      <a:pt x="1948" y="298"/>
                    </a:lnTo>
                    <a:lnTo>
                      <a:pt x="1937" y="329"/>
                    </a:lnTo>
                    <a:lnTo>
                      <a:pt x="1922" y="359"/>
                    </a:lnTo>
                    <a:lnTo>
                      <a:pt x="1901" y="387"/>
                    </a:lnTo>
                    <a:lnTo>
                      <a:pt x="976" y="1470"/>
                    </a:lnTo>
                    <a:lnTo>
                      <a:pt x="955" y="1492"/>
                    </a:lnTo>
                    <a:lnTo>
                      <a:pt x="931" y="1511"/>
                    </a:lnTo>
                    <a:lnTo>
                      <a:pt x="905" y="1527"/>
                    </a:lnTo>
                    <a:lnTo>
                      <a:pt x="877" y="1539"/>
                    </a:lnTo>
                    <a:lnTo>
                      <a:pt x="847" y="1548"/>
                    </a:lnTo>
                    <a:lnTo>
                      <a:pt x="817" y="1553"/>
                    </a:lnTo>
                    <a:lnTo>
                      <a:pt x="798" y="1553"/>
                    </a:lnTo>
                    <a:lnTo>
                      <a:pt x="764" y="1551"/>
                    </a:lnTo>
                    <a:lnTo>
                      <a:pt x="732" y="1544"/>
                    </a:lnTo>
                    <a:lnTo>
                      <a:pt x="701" y="1531"/>
                    </a:lnTo>
                    <a:lnTo>
                      <a:pt x="672" y="1515"/>
                    </a:lnTo>
                    <a:lnTo>
                      <a:pt x="645" y="1495"/>
                    </a:lnTo>
                    <a:lnTo>
                      <a:pt x="81" y="1012"/>
                    </a:lnTo>
                    <a:lnTo>
                      <a:pt x="57" y="987"/>
                    </a:lnTo>
                    <a:lnTo>
                      <a:pt x="36" y="959"/>
                    </a:lnTo>
                    <a:lnTo>
                      <a:pt x="21" y="930"/>
                    </a:lnTo>
                    <a:lnTo>
                      <a:pt x="9" y="900"/>
                    </a:lnTo>
                    <a:lnTo>
                      <a:pt x="2" y="868"/>
                    </a:lnTo>
                    <a:lnTo>
                      <a:pt x="0" y="835"/>
                    </a:lnTo>
                    <a:lnTo>
                      <a:pt x="2" y="803"/>
                    </a:lnTo>
                    <a:lnTo>
                      <a:pt x="8" y="770"/>
                    </a:lnTo>
                    <a:lnTo>
                      <a:pt x="19" y="739"/>
                    </a:lnTo>
                    <a:lnTo>
                      <a:pt x="35" y="708"/>
                    </a:lnTo>
                    <a:lnTo>
                      <a:pt x="56" y="680"/>
                    </a:lnTo>
                    <a:lnTo>
                      <a:pt x="80" y="656"/>
                    </a:lnTo>
                    <a:lnTo>
                      <a:pt x="107" y="636"/>
                    </a:lnTo>
                    <a:lnTo>
                      <a:pt x="136" y="620"/>
                    </a:lnTo>
                    <a:lnTo>
                      <a:pt x="167" y="608"/>
                    </a:lnTo>
                    <a:lnTo>
                      <a:pt x="199" y="601"/>
                    </a:lnTo>
                    <a:lnTo>
                      <a:pt x="232" y="599"/>
                    </a:lnTo>
                    <a:lnTo>
                      <a:pt x="265" y="601"/>
                    </a:lnTo>
                    <a:lnTo>
                      <a:pt x="297" y="608"/>
                    </a:lnTo>
                    <a:lnTo>
                      <a:pt x="329" y="619"/>
                    </a:lnTo>
                    <a:lnTo>
                      <a:pt x="359" y="635"/>
                    </a:lnTo>
                    <a:lnTo>
                      <a:pt x="386" y="655"/>
                    </a:lnTo>
                    <a:lnTo>
                      <a:pt x="772" y="986"/>
                    </a:lnTo>
                    <a:lnTo>
                      <a:pt x="1543" y="83"/>
                    </a:lnTo>
                    <a:lnTo>
                      <a:pt x="1567" y="58"/>
                    </a:lnTo>
                    <a:lnTo>
                      <a:pt x="1594" y="38"/>
                    </a:lnTo>
                    <a:lnTo>
                      <a:pt x="1624" y="22"/>
                    </a:lnTo>
                    <a:lnTo>
                      <a:pt x="1655" y="10"/>
                    </a:lnTo>
                    <a:lnTo>
                      <a:pt x="1687" y="3"/>
                    </a:lnTo>
                    <a:lnTo>
                      <a:pt x="171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>
            <a:spLocks noGrp="1"/>
          </p:cNvSpPr>
          <p:nvPr>
            <p:ph type="ctrTitle"/>
          </p:nvPr>
        </p:nvSpPr>
        <p:spPr>
          <a:xfrm>
            <a:off x="2038350" y="618150"/>
            <a:ext cx="8115300" cy="595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>
                <a:solidFill>
                  <a:srgbClr val="165271"/>
                </a:solidFill>
                <a:latin typeface="Consolas"/>
                <a:ea typeface="Consolas"/>
                <a:cs typeface="Consolas"/>
                <a:sym typeface="Consolas"/>
              </a:rPr>
              <a:t>Функционални изисквания</a:t>
            </a:r>
            <a:endParaRPr>
              <a:solidFill>
                <a:srgbClr val="16527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37" name="Google Shape;137;p16"/>
          <p:cNvGrpSpPr/>
          <p:nvPr/>
        </p:nvGrpSpPr>
        <p:grpSpPr>
          <a:xfrm>
            <a:off x="39572" y="0"/>
            <a:ext cx="11971807" cy="1095019"/>
            <a:chOff x="39572" y="0"/>
            <a:chExt cx="11971807" cy="1095019"/>
          </a:xfrm>
        </p:grpSpPr>
        <p:sp>
          <p:nvSpPr>
            <p:cNvPr id="138" name="Google Shape;138;p16"/>
            <p:cNvSpPr txBox="1"/>
            <p:nvPr/>
          </p:nvSpPr>
          <p:spPr>
            <a:xfrm>
              <a:off x="39572" y="0"/>
              <a:ext cx="11971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ПЕЦИФИКАЦИЯ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НА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СОФТУЕРНИТЕ ИЗИСКВАНИЯ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НА СИСТЕМА ЗА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ОНЛАЙН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КОНСУЛТАЦИИ С МЕДИЦИНСКИ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СПЕЦИАЛИСТИ</a:t>
              </a:r>
              <a:endParaRPr/>
            </a:p>
          </p:txBody>
        </p:sp>
        <p:sp>
          <p:nvSpPr>
            <p:cNvPr id="139" name="Google Shape;139;p16"/>
            <p:cNvSpPr txBox="1"/>
            <p:nvPr/>
          </p:nvSpPr>
          <p:spPr>
            <a:xfrm>
              <a:off x="9775499" y="369325"/>
              <a:ext cx="1587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>
                  <a:solidFill>
                    <a:srgbClr val="165271"/>
                  </a:solidFill>
                  <a:latin typeface="Consolas"/>
                  <a:ea typeface="Consolas"/>
                  <a:cs typeface="Consolas"/>
                  <a:sym typeface="Consolas"/>
                </a:rPr>
                <a:t>Кирил Кискинов</a:t>
              </a:r>
              <a:endParaRPr sz="1050" b="0" i="0" u="none" strike="noStrike" cap="none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40" name="Google Shape;140;p16"/>
            <p:cNvCxnSpPr/>
            <p:nvPr/>
          </p:nvCxnSpPr>
          <p:spPr>
            <a:xfrm>
              <a:off x="180622" y="369332"/>
              <a:ext cx="1149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pic>
          <p:nvPicPr>
            <p:cNvPr id="141" name="Google Shape;141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362923" y="0"/>
              <a:ext cx="648455" cy="109501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2" name="Google Shape;142;p16"/>
          <p:cNvSpPr txBox="1"/>
          <p:nvPr/>
        </p:nvSpPr>
        <p:spPr>
          <a:xfrm>
            <a:off x="346175" y="1436700"/>
            <a:ext cx="11845800" cy="52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1. Системата трябва да позволява на пациентите и лекарите да влизат (login).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2. Системата трябва да позволява регистрация на пациенти и лекари.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3. Системата трябва да позволява на пациентите и лекарите да излизат (logout).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4. Системата трябва да позволява на пациентите да записват час.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5. Системата трябва да позволява на пациентите да правят запитвания.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6. Системата трябва да позволява на пациентите да търсят налични лекари от определено медицинско направление.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7. Системата трябва да позволява на пациентите да променят или анулират своите резервации.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8. Системата трябва да позволява на пациентите и лекарите да преглеждат и променят своя профил.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9. Системата трябва да позволява на лекарите да определят своето налично време.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10. Системата трябва да позволява на администратора да достъпва и управлява базата данни.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>
            <a:spLocks noGrp="1"/>
          </p:cNvSpPr>
          <p:nvPr>
            <p:ph type="ctrTitle"/>
          </p:nvPr>
        </p:nvSpPr>
        <p:spPr>
          <a:xfrm>
            <a:off x="2038350" y="930675"/>
            <a:ext cx="8115300" cy="595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>
                <a:solidFill>
                  <a:srgbClr val="165271"/>
                </a:solidFill>
                <a:latin typeface="Consolas"/>
                <a:ea typeface="Consolas"/>
                <a:cs typeface="Consolas"/>
                <a:sym typeface="Consolas"/>
              </a:rPr>
              <a:t>Нефункционални изисквания</a:t>
            </a:r>
            <a:endParaRPr>
              <a:solidFill>
                <a:srgbClr val="16527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49" name="Google Shape;149;p17"/>
          <p:cNvGrpSpPr/>
          <p:nvPr/>
        </p:nvGrpSpPr>
        <p:grpSpPr>
          <a:xfrm>
            <a:off x="39572" y="0"/>
            <a:ext cx="11971807" cy="1095019"/>
            <a:chOff x="39572" y="0"/>
            <a:chExt cx="11971807" cy="1095019"/>
          </a:xfrm>
        </p:grpSpPr>
        <p:sp>
          <p:nvSpPr>
            <p:cNvPr id="150" name="Google Shape;150;p17"/>
            <p:cNvSpPr txBox="1"/>
            <p:nvPr/>
          </p:nvSpPr>
          <p:spPr>
            <a:xfrm>
              <a:off x="39572" y="0"/>
              <a:ext cx="11971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ПЕЦИФИКАЦИЯ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НА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СОФТУЕРНИТЕ ИЗИСКВАНИЯ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НА СИСТЕМА ЗА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ОНЛАЙН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КОНСУЛТАЦИИ С МЕДИЦИНСКИ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СПЕЦИАЛИСТИ</a:t>
              </a:r>
              <a:endParaRPr/>
            </a:p>
          </p:txBody>
        </p:sp>
        <p:sp>
          <p:nvSpPr>
            <p:cNvPr id="151" name="Google Shape;151;p17"/>
            <p:cNvSpPr txBox="1"/>
            <p:nvPr/>
          </p:nvSpPr>
          <p:spPr>
            <a:xfrm>
              <a:off x="9775499" y="369325"/>
              <a:ext cx="1587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>
                  <a:solidFill>
                    <a:srgbClr val="165271"/>
                  </a:solidFill>
                  <a:latin typeface="Consolas"/>
                  <a:ea typeface="Consolas"/>
                  <a:cs typeface="Consolas"/>
                  <a:sym typeface="Consolas"/>
                </a:rPr>
                <a:t>Кирил Кискинов</a:t>
              </a:r>
              <a:endParaRPr sz="1050" b="0" i="0" u="none" strike="noStrike" cap="none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52" name="Google Shape;152;p17"/>
            <p:cNvCxnSpPr/>
            <p:nvPr/>
          </p:nvCxnSpPr>
          <p:spPr>
            <a:xfrm>
              <a:off x="180622" y="369332"/>
              <a:ext cx="1149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pic>
          <p:nvPicPr>
            <p:cNvPr id="153" name="Google Shape;153;p1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362923" y="0"/>
              <a:ext cx="648455" cy="109501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7"/>
          <p:cNvSpPr txBox="1"/>
          <p:nvPr/>
        </p:nvSpPr>
        <p:spPr>
          <a:xfrm>
            <a:off x="227100" y="1853425"/>
            <a:ext cx="11784300" cy="48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 b="1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1. Надеждност</a:t>
            </a: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- Системата трябва да има много нисък процент на отказ.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 b="1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2. Производителност</a:t>
            </a: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- Системата трябва да има добро време за реакция. Системата трябва да може да издържи на голямо натоварване и трафик.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 b="1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3. Сигурност</a:t>
            </a: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- Всички външни комуникации между сървъра за данни на системата и клиентите трябва да бъдат криптирани.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 b="1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4. Използваемост</a:t>
            </a: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- Системата трябва да е удобна за работа и навигация.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 b="1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5. Безопасност</a:t>
            </a: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- Системата трябва да поддържа добро архивиране. Поддържането на резервни копия гарантира, че базата данни на системата е защитена, което означава, че в случай на авария или инцидент системата може лесно да бъде възстановена.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 b="1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6. Възможност за поддръжка (Supportability)</a:t>
            </a: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- Системата трябва да функционира правилно на различни платформи като хардуер, браузър, виртуална машина и т.н.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/>
          <p:nvPr/>
        </p:nvSpPr>
        <p:spPr>
          <a:xfrm>
            <a:off x="8144825" y="2433850"/>
            <a:ext cx="4211700" cy="42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- детайлно описание на взаимодействието между потребителите и системата за постигане на конкретна цел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- осигурява ясна и структурирана представа за изискванията към системата и служи като основа за разработка, тестване и валидиране 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61" name="Google Shape;161;p18"/>
          <p:cNvGrpSpPr/>
          <p:nvPr/>
        </p:nvGrpSpPr>
        <p:grpSpPr>
          <a:xfrm>
            <a:off x="39572" y="0"/>
            <a:ext cx="11971807" cy="1095019"/>
            <a:chOff x="39572" y="0"/>
            <a:chExt cx="11971807" cy="1095019"/>
          </a:xfrm>
        </p:grpSpPr>
        <p:sp>
          <p:nvSpPr>
            <p:cNvPr id="162" name="Google Shape;162;p18"/>
            <p:cNvSpPr txBox="1"/>
            <p:nvPr/>
          </p:nvSpPr>
          <p:spPr>
            <a:xfrm>
              <a:off x="39572" y="0"/>
              <a:ext cx="11971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ПЕЦИФИКАЦИЯ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НА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СОФТУЕРНИТЕ ИЗИСКВАНИЯ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НА СИСТЕМА ЗА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ОНЛАЙН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КОНСУЛТАЦИИ С МЕДИЦИНСКИ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СПЕЦИАЛИСТИ</a:t>
              </a:r>
              <a:endParaRPr/>
            </a:p>
          </p:txBody>
        </p:sp>
        <p:sp>
          <p:nvSpPr>
            <p:cNvPr id="163" name="Google Shape;163;p18"/>
            <p:cNvSpPr txBox="1"/>
            <p:nvPr/>
          </p:nvSpPr>
          <p:spPr>
            <a:xfrm>
              <a:off x="9775499" y="369325"/>
              <a:ext cx="1587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>
                  <a:solidFill>
                    <a:srgbClr val="165271"/>
                  </a:solidFill>
                  <a:latin typeface="Consolas"/>
                  <a:ea typeface="Consolas"/>
                  <a:cs typeface="Consolas"/>
                  <a:sym typeface="Consolas"/>
                </a:rPr>
                <a:t>Кирил Кискинов</a:t>
              </a:r>
              <a:endParaRPr sz="1050" b="0" i="0" u="none" strike="noStrike" cap="none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64" name="Google Shape;164;p18"/>
            <p:cNvCxnSpPr/>
            <p:nvPr/>
          </p:nvCxnSpPr>
          <p:spPr>
            <a:xfrm>
              <a:off x="180622" y="369332"/>
              <a:ext cx="1149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pic>
          <p:nvPicPr>
            <p:cNvPr id="165" name="Google Shape;165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362923" y="0"/>
              <a:ext cx="648455" cy="109501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6" name="Google Shape;16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43275"/>
            <a:ext cx="7903126" cy="626232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>
            <a:spLocks noGrp="1"/>
          </p:cNvSpPr>
          <p:nvPr>
            <p:ph type="ctrTitle"/>
          </p:nvPr>
        </p:nvSpPr>
        <p:spPr>
          <a:xfrm>
            <a:off x="8055525" y="871150"/>
            <a:ext cx="4136700" cy="1230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bg-BG" sz="2740">
                <a:solidFill>
                  <a:srgbClr val="165271"/>
                </a:solidFill>
                <a:latin typeface="Consolas"/>
                <a:ea typeface="Consolas"/>
                <a:cs typeface="Consolas"/>
                <a:sym typeface="Consolas"/>
              </a:rPr>
              <a:t>Подробна спецификация на случаите на употреба</a:t>
            </a:r>
            <a:endParaRPr sz="2740">
              <a:solidFill>
                <a:srgbClr val="16527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>
            <a:spLocks noGrp="1"/>
          </p:cNvSpPr>
          <p:nvPr>
            <p:ph type="ctrTitle"/>
          </p:nvPr>
        </p:nvSpPr>
        <p:spPr>
          <a:xfrm>
            <a:off x="7942050" y="876400"/>
            <a:ext cx="4260000" cy="100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ct val="32565"/>
              <a:buNone/>
            </a:pPr>
            <a:r>
              <a:rPr lang="bg-BG" sz="3040">
                <a:solidFill>
                  <a:srgbClr val="165271"/>
                </a:solidFill>
                <a:latin typeface="Consolas"/>
                <a:ea typeface="Consolas"/>
                <a:cs typeface="Consolas"/>
                <a:sym typeface="Consolas"/>
              </a:rPr>
              <a:t>Диаграма на случаите на използване </a:t>
            </a:r>
            <a:endParaRPr sz="3040">
              <a:solidFill>
                <a:srgbClr val="16527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74" name="Google Shape;174;p19"/>
          <p:cNvGrpSpPr/>
          <p:nvPr/>
        </p:nvGrpSpPr>
        <p:grpSpPr>
          <a:xfrm>
            <a:off x="39572" y="0"/>
            <a:ext cx="11971807" cy="1095019"/>
            <a:chOff x="39572" y="0"/>
            <a:chExt cx="11971807" cy="1095019"/>
          </a:xfrm>
        </p:grpSpPr>
        <p:sp>
          <p:nvSpPr>
            <p:cNvPr id="175" name="Google Shape;175;p19"/>
            <p:cNvSpPr txBox="1"/>
            <p:nvPr/>
          </p:nvSpPr>
          <p:spPr>
            <a:xfrm>
              <a:off x="39572" y="0"/>
              <a:ext cx="11971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ПЕЦИФИКАЦИЯ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НА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СОФТУЕРНИТЕ ИЗИСКВАНИЯ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НА СИСТЕМА ЗА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ОНЛАЙН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КОНСУЛТАЦИИ С МЕДИЦИНСКИ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СПЕЦИАЛИСТИ</a:t>
              </a:r>
              <a:endParaRPr/>
            </a:p>
          </p:txBody>
        </p:sp>
        <p:sp>
          <p:nvSpPr>
            <p:cNvPr id="176" name="Google Shape;176;p19"/>
            <p:cNvSpPr txBox="1"/>
            <p:nvPr/>
          </p:nvSpPr>
          <p:spPr>
            <a:xfrm>
              <a:off x="9775499" y="369325"/>
              <a:ext cx="1587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>
                  <a:solidFill>
                    <a:srgbClr val="165271"/>
                  </a:solidFill>
                  <a:latin typeface="Consolas"/>
                  <a:ea typeface="Consolas"/>
                  <a:cs typeface="Consolas"/>
                  <a:sym typeface="Consolas"/>
                </a:rPr>
                <a:t>Кирил Кискинов</a:t>
              </a:r>
              <a:endParaRPr sz="1050" b="0" i="0" u="none" strike="noStrike" cap="none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77" name="Google Shape;177;p19"/>
            <p:cNvCxnSpPr/>
            <p:nvPr/>
          </p:nvCxnSpPr>
          <p:spPr>
            <a:xfrm>
              <a:off x="180622" y="369332"/>
              <a:ext cx="1149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pic>
          <p:nvPicPr>
            <p:cNvPr id="178" name="Google Shape;178;p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362923" y="0"/>
              <a:ext cx="648455" cy="109501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9" name="Google Shape;1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75" y="588400"/>
            <a:ext cx="7872099" cy="626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8040600" y="2032025"/>
            <a:ext cx="4062900" cy="46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- предоставя преглед на взаимодействията на актьорите със системата 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- Случаи на използване (Описания на специфичните задачи или функции, които системата трябва да изпълнява)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- Връзки (Линии, които показват взаимодействията между актьорите и случаите на използване)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 txBox="1">
            <a:spLocks noGrp="1"/>
          </p:cNvSpPr>
          <p:nvPr>
            <p:ph type="ctrTitle"/>
          </p:nvPr>
        </p:nvSpPr>
        <p:spPr>
          <a:xfrm>
            <a:off x="7942050" y="1095013"/>
            <a:ext cx="4260000" cy="602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bg-BG" sz="2740">
                <a:solidFill>
                  <a:srgbClr val="165271"/>
                </a:solidFill>
                <a:latin typeface="Consolas"/>
                <a:ea typeface="Consolas"/>
                <a:cs typeface="Consolas"/>
                <a:sym typeface="Consolas"/>
              </a:rPr>
              <a:t>Диаграма на класовете</a:t>
            </a:r>
            <a:endParaRPr sz="2740">
              <a:solidFill>
                <a:srgbClr val="16527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87" name="Google Shape;187;p20"/>
          <p:cNvGrpSpPr/>
          <p:nvPr/>
        </p:nvGrpSpPr>
        <p:grpSpPr>
          <a:xfrm>
            <a:off x="39572" y="0"/>
            <a:ext cx="11971807" cy="1095019"/>
            <a:chOff x="39572" y="0"/>
            <a:chExt cx="11971807" cy="1095019"/>
          </a:xfrm>
        </p:grpSpPr>
        <p:sp>
          <p:nvSpPr>
            <p:cNvPr id="188" name="Google Shape;188;p20"/>
            <p:cNvSpPr txBox="1"/>
            <p:nvPr/>
          </p:nvSpPr>
          <p:spPr>
            <a:xfrm>
              <a:off x="39572" y="0"/>
              <a:ext cx="11971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ПЕЦИФИКАЦИЯ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НА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СОФТУЕРНИТЕ ИЗИСКВАНИЯ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НА СИСТЕМА ЗА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ОНЛАЙН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КОНСУЛТАЦИИ С МЕДИЦИНСКИ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СПЕЦИАЛИСТИ</a:t>
              </a:r>
              <a:endParaRPr/>
            </a:p>
          </p:txBody>
        </p:sp>
        <p:sp>
          <p:nvSpPr>
            <p:cNvPr id="189" name="Google Shape;189;p20"/>
            <p:cNvSpPr txBox="1"/>
            <p:nvPr/>
          </p:nvSpPr>
          <p:spPr>
            <a:xfrm>
              <a:off x="9775499" y="369325"/>
              <a:ext cx="1587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>
                  <a:solidFill>
                    <a:srgbClr val="165271"/>
                  </a:solidFill>
                  <a:latin typeface="Consolas"/>
                  <a:ea typeface="Consolas"/>
                  <a:cs typeface="Consolas"/>
                  <a:sym typeface="Consolas"/>
                </a:rPr>
                <a:t>Кирил Кискинов</a:t>
              </a:r>
              <a:endParaRPr sz="1050" b="0" i="0" u="none" strike="noStrike" cap="none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90" name="Google Shape;190;p20"/>
            <p:cNvCxnSpPr/>
            <p:nvPr/>
          </p:nvCxnSpPr>
          <p:spPr>
            <a:xfrm>
              <a:off x="180622" y="369332"/>
              <a:ext cx="1149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pic>
          <p:nvPicPr>
            <p:cNvPr id="191" name="Google Shape;191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362923" y="0"/>
              <a:ext cx="648455" cy="109501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2" name="Google Shape;192;p20"/>
          <p:cNvSpPr txBox="1"/>
          <p:nvPr/>
        </p:nvSpPr>
        <p:spPr>
          <a:xfrm>
            <a:off x="8040600" y="2032025"/>
            <a:ext cx="4062900" cy="46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- подробно описва различните класове, техните атрибути, методи и връзки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- Атрибути (Данни, които са свързани с обекта от класа. Те описват характеристиките на класа и могат да бъдат различни типове, като цяло число, текст, дата и други)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93" name="Google Shape;19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47951"/>
            <a:ext cx="7942050" cy="6174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>
            <a:spLocks noGrp="1"/>
          </p:cNvSpPr>
          <p:nvPr>
            <p:ph type="ctrTitle"/>
          </p:nvPr>
        </p:nvSpPr>
        <p:spPr>
          <a:xfrm>
            <a:off x="7467550" y="697075"/>
            <a:ext cx="4360800" cy="948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ct val="32565"/>
              <a:buNone/>
            </a:pPr>
            <a:r>
              <a:rPr lang="bg-BG" sz="3040">
                <a:solidFill>
                  <a:srgbClr val="165271"/>
                </a:solidFill>
                <a:latin typeface="Consolas"/>
                <a:ea typeface="Consolas"/>
                <a:cs typeface="Consolas"/>
                <a:sym typeface="Consolas"/>
              </a:rPr>
              <a:t>ER диаграма (Entity-Relationship)</a:t>
            </a:r>
            <a:endParaRPr sz="3040">
              <a:solidFill>
                <a:srgbClr val="16527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00" name="Google Shape;200;p21"/>
          <p:cNvGrpSpPr/>
          <p:nvPr/>
        </p:nvGrpSpPr>
        <p:grpSpPr>
          <a:xfrm>
            <a:off x="39572" y="0"/>
            <a:ext cx="11971807" cy="1095019"/>
            <a:chOff x="39572" y="0"/>
            <a:chExt cx="11971807" cy="1095019"/>
          </a:xfrm>
        </p:grpSpPr>
        <p:sp>
          <p:nvSpPr>
            <p:cNvPr id="201" name="Google Shape;201;p21"/>
            <p:cNvSpPr txBox="1"/>
            <p:nvPr/>
          </p:nvSpPr>
          <p:spPr>
            <a:xfrm>
              <a:off x="39572" y="0"/>
              <a:ext cx="11971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ПЕЦИФИКАЦИЯ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НА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СОФТУЕРНИТЕ ИЗИСКВАНИЯ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НА СИСТЕМА ЗА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ОНЛАЙН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КОНСУЛТАЦИИ С МЕДИЦИНСКИ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СПЕЦИАЛИСТИ</a:t>
              </a:r>
              <a:endParaRPr/>
            </a:p>
          </p:txBody>
        </p:sp>
        <p:sp>
          <p:nvSpPr>
            <p:cNvPr id="202" name="Google Shape;202;p21"/>
            <p:cNvSpPr txBox="1"/>
            <p:nvPr/>
          </p:nvSpPr>
          <p:spPr>
            <a:xfrm>
              <a:off x="9775499" y="369325"/>
              <a:ext cx="1587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>
                  <a:solidFill>
                    <a:srgbClr val="165271"/>
                  </a:solidFill>
                  <a:latin typeface="Consolas"/>
                  <a:ea typeface="Consolas"/>
                  <a:cs typeface="Consolas"/>
                  <a:sym typeface="Consolas"/>
                </a:rPr>
                <a:t>Кирил Кискинов</a:t>
              </a:r>
              <a:endParaRPr sz="1050" b="0" i="0" u="none" strike="noStrike" cap="none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03" name="Google Shape;203;p21"/>
            <p:cNvCxnSpPr/>
            <p:nvPr/>
          </p:nvCxnSpPr>
          <p:spPr>
            <a:xfrm>
              <a:off x="180622" y="369332"/>
              <a:ext cx="1149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pic>
          <p:nvPicPr>
            <p:cNvPr id="204" name="Google Shape;204;p2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362923" y="0"/>
              <a:ext cx="648455" cy="109501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5" name="Google Shape;205;p21"/>
          <p:cNvSpPr txBox="1"/>
          <p:nvPr/>
        </p:nvSpPr>
        <p:spPr>
          <a:xfrm>
            <a:off x="7192300" y="1734375"/>
            <a:ext cx="4911300" cy="4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- модел за визуално представяне на структурите на база данни, който показва как данните са организирани и как различните елементи на данните са свързани помежду си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- Този вид диаграми се използват основно в процеса на проектиране на бази данни, за да се идентифицират и описват отношенията между различните обекти (entities) в системата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06" name="Google Shape;20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700" y="518176"/>
            <a:ext cx="6463038" cy="63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"/>
          <p:cNvSpPr txBox="1">
            <a:spLocks noGrp="1"/>
          </p:cNvSpPr>
          <p:nvPr>
            <p:ph type="ctrTitle"/>
          </p:nvPr>
        </p:nvSpPr>
        <p:spPr>
          <a:xfrm>
            <a:off x="7787575" y="1005100"/>
            <a:ext cx="4260000" cy="878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bg-BG" sz="2740">
                <a:solidFill>
                  <a:srgbClr val="165271"/>
                </a:solidFill>
                <a:latin typeface="Consolas"/>
                <a:ea typeface="Consolas"/>
                <a:cs typeface="Consolas"/>
                <a:sym typeface="Consolas"/>
              </a:rPr>
              <a:t>Диаграма на потока от данни</a:t>
            </a:r>
            <a:endParaRPr sz="2740">
              <a:solidFill>
                <a:srgbClr val="16527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13" name="Google Shape;213;p22"/>
          <p:cNvGrpSpPr/>
          <p:nvPr/>
        </p:nvGrpSpPr>
        <p:grpSpPr>
          <a:xfrm>
            <a:off x="39572" y="0"/>
            <a:ext cx="11971807" cy="1095019"/>
            <a:chOff x="39572" y="0"/>
            <a:chExt cx="11971807" cy="1095019"/>
          </a:xfrm>
        </p:grpSpPr>
        <p:sp>
          <p:nvSpPr>
            <p:cNvPr id="214" name="Google Shape;214;p22"/>
            <p:cNvSpPr txBox="1"/>
            <p:nvPr/>
          </p:nvSpPr>
          <p:spPr>
            <a:xfrm>
              <a:off x="39572" y="0"/>
              <a:ext cx="11971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ПЕЦИФИКАЦИЯ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НА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СОФТУЕРНИТЕ ИЗИСКВАНИЯ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НА СИСТЕМА ЗА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ОНЛАЙН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КОНСУЛТАЦИИ С МЕДИЦИНСКИ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СПЕЦИАЛИСТИ</a:t>
              </a:r>
              <a:endParaRPr/>
            </a:p>
          </p:txBody>
        </p:sp>
        <p:sp>
          <p:nvSpPr>
            <p:cNvPr id="215" name="Google Shape;215;p22"/>
            <p:cNvSpPr txBox="1"/>
            <p:nvPr/>
          </p:nvSpPr>
          <p:spPr>
            <a:xfrm>
              <a:off x="9775499" y="369325"/>
              <a:ext cx="1587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>
                  <a:solidFill>
                    <a:srgbClr val="165271"/>
                  </a:solidFill>
                  <a:latin typeface="Consolas"/>
                  <a:ea typeface="Consolas"/>
                  <a:cs typeface="Consolas"/>
                  <a:sym typeface="Consolas"/>
                </a:rPr>
                <a:t>Кирил Кискинов</a:t>
              </a:r>
              <a:endParaRPr sz="1050" b="0" i="0" u="none" strike="noStrike" cap="none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16" name="Google Shape;216;p22"/>
            <p:cNvCxnSpPr/>
            <p:nvPr/>
          </p:nvCxnSpPr>
          <p:spPr>
            <a:xfrm>
              <a:off x="180622" y="369332"/>
              <a:ext cx="1149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pic>
          <p:nvPicPr>
            <p:cNvPr id="217" name="Google Shape;217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362923" y="0"/>
              <a:ext cx="648455" cy="109501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2"/>
          <p:cNvSpPr txBox="1"/>
          <p:nvPr/>
        </p:nvSpPr>
        <p:spPr>
          <a:xfrm>
            <a:off x="7843425" y="1883200"/>
            <a:ext cx="4260000" cy="49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- използва се за визуализиране на потока на информация в рамките на системата или процеса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- основните компоненти са процеси, потоци от данни, хранилища на данни и външни обекти 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- улеснява разбирането на движението на информацията и трансформациите, които тя претърпява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19" name="Google Shape;21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275" y="414000"/>
            <a:ext cx="7387150" cy="64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>
            <a:spLocks noGrp="1"/>
          </p:cNvSpPr>
          <p:nvPr>
            <p:ph type="ctrTitle"/>
          </p:nvPr>
        </p:nvSpPr>
        <p:spPr>
          <a:xfrm>
            <a:off x="7794400" y="653150"/>
            <a:ext cx="4358400" cy="100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bg-BG" sz="2740">
                <a:solidFill>
                  <a:srgbClr val="165271"/>
                </a:solidFill>
                <a:latin typeface="Consolas"/>
                <a:ea typeface="Consolas"/>
                <a:cs typeface="Consolas"/>
                <a:sym typeface="Consolas"/>
              </a:rPr>
              <a:t>Диаграма на последователността</a:t>
            </a:r>
            <a:r>
              <a:rPr lang="bg-BG" sz="3040">
                <a:solidFill>
                  <a:srgbClr val="16527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3040">
              <a:solidFill>
                <a:srgbClr val="16527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26" name="Google Shape;226;p23"/>
          <p:cNvGrpSpPr/>
          <p:nvPr/>
        </p:nvGrpSpPr>
        <p:grpSpPr>
          <a:xfrm>
            <a:off x="39572" y="0"/>
            <a:ext cx="11971807" cy="1095019"/>
            <a:chOff x="39572" y="0"/>
            <a:chExt cx="11971807" cy="1095019"/>
          </a:xfrm>
        </p:grpSpPr>
        <p:sp>
          <p:nvSpPr>
            <p:cNvPr id="227" name="Google Shape;227;p23"/>
            <p:cNvSpPr txBox="1"/>
            <p:nvPr/>
          </p:nvSpPr>
          <p:spPr>
            <a:xfrm>
              <a:off x="39572" y="0"/>
              <a:ext cx="11971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ПЕЦИФИКАЦИЯ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НА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СОФТУЕРНИТЕ ИЗИСКВАНИЯ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НА СИСТЕМА ЗА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ОНЛАЙН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КОНСУЛТАЦИИ С МЕДИЦИНСКИ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СПЕЦИАЛИСТИ</a:t>
              </a:r>
              <a:endParaRPr/>
            </a:p>
          </p:txBody>
        </p:sp>
        <p:sp>
          <p:nvSpPr>
            <p:cNvPr id="228" name="Google Shape;228;p23"/>
            <p:cNvSpPr txBox="1"/>
            <p:nvPr/>
          </p:nvSpPr>
          <p:spPr>
            <a:xfrm>
              <a:off x="9775499" y="369325"/>
              <a:ext cx="1587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>
                  <a:solidFill>
                    <a:srgbClr val="165271"/>
                  </a:solidFill>
                  <a:latin typeface="Consolas"/>
                  <a:ea typeface="Consolas"/>
                  <a:cs typeface="Consolas"/>
                  <a:sym typeface="Consolas"/>
                </a:rPr>
                <a:t>Кирил Кискинов</a:t>
              </a:r>
              <a:endParaRPr sz="1050" b="0" i="0" u="none" strike="noStrike" cap="none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29" name="Google Shape;229;p23"/>
            <p:cNvCxnSpPr/>
            <p:nvPr/>
          </p:nvCxnSpPr>
          <p:spPr>
            <a:xfrm>
              <a:off x="180622" y="369332"/>
              <a:ext cx="1149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pic>
          <p:nvPicPr>
            <p:cNvPr id="230" name="Google Shape;230;p2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362923" y="0"/>
              <a:ext cx="648455" cy="109501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3"/>
          <p:cNvSpPr txBox="1"/>
          <p:nvPr/>
        </p:nvSpPr>
        <p:spPr>
          <a:xfrm>
            <a:off x="7843600" y="1734375"/>
            <a:ext cx="4260000" cy="4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- използва се за визуално представяне на последователността на взаимодействия между обекти в определен сценарий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- показва как обектите взаимодействат помежду си чрез изпращане на съобщения в определен ред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- Жизнени линии (Вертикални прекъснати линии, които показват съществуването на обектите през времето)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32" name="Google Shape;23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47926"/>
            <a:ext cx="7915664" cy="6310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 txBox="1">
            <a:spLocks noGrp="1"/>
          </p:cNvSpPr>
          <p:nvPr>
            <p:ph type="ctrTitle"/>
          </p:nvPr>
        </p:nvSpPr>
        <p:spPr>
          <a:xfrm>
            <a:off x="6730975" y="812250"/>
            <a:ext cx="4974600" cy="480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700">
                <a:solidFill>
                  <a:srgbClr val="165271"/>
                </a:solidFill>
                <a:latin typeface="Consolas"/>
                <a:ea typeface="Consolas"/>
                <a:cs typeface="Consolas"/>
                <a:sym typeface="Consolas"/>
              </a:rPr>
              <a:t>Приемни тестови случаи</a:t>
            </a:r>
            <a:endParaRPr sz="2700">
              <a:solidFill>
                <a:srgbClr val="16527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39" name="Google Shape;239;p24"/>
          <p:cNvGrpSpPr/>
          <p:nvPr/>
        </p:nvGrpSpPr>
        <p:grpSpPr>
          <a:xfrm>
            <a:off x="39572" y="0"/>
            <a:ext cx="11971807" cy="1095019"/>
            <a:chOff x="39572" y="0"/>
            <a:chExt cx="11971807" cy="1095019"/>
          </a:xfrm>
        </p:grpSpPr>
        <p:sp>
          <p:nvSpPr>
            <p:cNvPr id="240" name="Google Shape;240;p24"/>
            <p:cNvSpPr txBox="1"/>
            <p:nvPr/>
          </p:nvSpPr>
          <p:spPr>
            <a:xfrm>
              <a:off x="39572" y="0"/>
              <a:ext cx="11971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ПЕЦИФИКАЦИЯ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НА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СОФТУЕРНИТЕ ИЗИСКВАНИЯ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НА СИСТЕМА ЗА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ОНЛАЙН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КОНСУЛТАЦИИ С МЕДИЦИНСКИ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СПЕЦИАЛИСТИ</a:t>
              </a:r>
              <a:endParaRPr/>
            </a:p>
          </p:txBody>
        </p:sp>
        <p:sp>
          <p:nvSpPr>
            <p:cNvPr id="241" name="Google Shape;241;p24"/>
            <p:cNvSpPr txBox="1"/>
            <p:nvPr/>
          </p:nvSpPr>
          <p:spPr>
            <a:xfrm>
              <a:off x="9775499" y="369325"/>
              <a:ext cx="1587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>
                  <a:solidFill>
                    <a:srgbClr val="165271"/>
                  </a:solidFill>
                  <a:latin typeface="Consolas"/>
                  <a:ea typeface="Consolas"/>
                  <a:cs typeface="Consolas"/>
                  <a:sym typeface="Consolas"/>
                </a:rPr>
                <a:t>Кирил Кискинов</a:t>
              </a:r>
              <a:endParaRPr sz="1050" b="0" i="0" u="none" strike="noStrike" cap="none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42" name="Google Shape;242;p24"/>
            <p:cNvCxnSpPr/>
            <p:nvPr/>
          </p:nvCxnSpPr>
          <p:spPr>
            <a:xfrm>
              <a:off x="180622" y="369332"/>
              <a:ext cx="1149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pic>
          <p:nvPicPr>
            <p:cNvPr id="243" name="Google Shape;243;p2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362923" y="0"/>
              <a:ext cx="648455" cy="109501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4" name="Google Shape;24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58651"/>
            <a:ext cx="6257662" cy="6399351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4"/>
          <p:cNvSpPr txBox="1"/>
          <p:nvPr/>
        </p:nvSpPr>
        <p:spPr>
          <a:xfrm>
            <a:off x="6730975" y="1421825"/>
            <a:ext cx="5280600" cy="51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- критична част от процеса на тестване на софтуер, особено за системи като онлайн консултации с медицински специалисти, където сигурността, точността и ефективността са от съществено значение. 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- тези тестове се извършват, за да се гарантира, че системата отговаря на предварително определените изисквания и работи според очакванията на потребителите и заинтересованите страни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 txBox="1">
            <a:spLocks noGrp="1"/>
          </p:cNvSpPr>
          <p:nvPr>
            <p:ph type="ctrTitle"/>
          </p:nvPr>
        </p:nvSpPr>
        <p:spPr>
          <a:xfrm>
            <a:off x="1655950" y="544225"/>
            <a:ext cx="8001300" cy="5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bg-BG" sz="2740">
                <a:solidFill>
                  <a:srgbClr val="165271"/>
                </a:solidFill>
                <a:latin typeface="Consolas"/>
                <a:ea typeface="Consolas"/>
                <a:cs typeface="Consolas"/>
                <a:sym typeface="Consolas"/>
              </a:rPr>
              <a:t>Примерен потребителски интерфейс</a:t>
            </a:r>
            <a:endParaRPr sz="2740">
              <a:solidFill>
                <a:srgbClr val="16527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52" name="Google Shape;252;p25"/>
          <p:cNvGrpSpPr/>
          <p:nvPr/>
        </p:nvGrpSpPr>
        <p:grpSpPr>
          <a:xfrm>
            <a:off x="39572" y="0"/>
            <a:ext cx="11971807" cy="1095019"/>
            <a:chOff x="39572" y="0"/>
            <a:chExt cx="11971807" cy="1095019"/>
          </a:xfrm>
        </p:grpSpPr>
        <p:sp>
          <p:nvSpPr>
            <p:cNvPr id="253" name="Google Shape;253;p25"/>
            <p:cNvSpPr txBox="1"/>
            <p:nvPr/>
          </p:nvSpPr>
          <p:spPr>
            <a:xfrm>
              <a:off x="39572" y="0"/>
              <a:ext cx="11971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ПЕЦИФИКАЦИЯ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НА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СОФТУЕРНИТЕ ИЗИСКВАНИЯ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НА СИСТЕМА ЗА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ОНЛАЙН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КОНСУЛТАЦИИ С МЕДИЦИНСКИ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СПЕЦИАЛИСТИ</a:t>
              </a:r>
              <a:endParaRPr/>
            </a:p>
          </p:txBody>
        </p:sp>
        <p:sp>
          <p:nvSpPr>
            <p:cNvPr id="254" name="Google Shape;254;p25"/>
            <p:cNvSpPr txBox="1"/>
            <p:nvPr/>
          </p:nvSpPr>
          <p:spPr>
            <a:xfrm>
              <a:off x="9775499" y="369325"/>
              <a:ext cx="1587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>
                  <a:solidFill>
                    <a:srgbClr val="165271"/>
                  </a:solidFill>
                  <a:latin typeface="Consolas"/>
                  <a:ea typeface="Consolas"/>
                  <a:cs typeface="Consolas"/>
                  <a:sym typeface="Consolas"/>
                </a:rPr>
                <a:t>Кирил Кискинов</a:t>
              </a:r>
              <a:endParaRPr sz="1050" b="0" i="0" u="none" strike="noStrike" cap="none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55" name="Google Shape;255;p25"/>
            <p:cNvCxnSpPr/>
            <p:nvPr/>
          </p:nvCxnSpPr>
          <p:spPr>
            <a:xfrm>
              <a:off x="180622" y="369332"/>
              <a:ext cx="1149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pic>
          <p:nvPicPr>
            <p:cNvPr id="256" name="Google Shape;256;p2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362923" y="0"/>
              <a:ext cx="648455" cy="109501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7" name="Google Shape;25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262300"/>
            <a:ext cx="7086600" cy="333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65525" y="3743549"/>
            <a:ext cx="6326474" cy="31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 txBox="1"/>
          <p:nvPr/>
        </p:nvSpPr>
        <p:spPr>
          <a:xfrm>
            <a:off x="152800" y="5231825"/>
            <a:ext cx="5712600" cy="14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- Изглед от страницата за вход като пациент (горе)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7534675" y="1883200"/>
            <a:ext cx="45840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- Изглед от таблото за управление на пациента (долу)</a:t>
            </a:r>
            <a:endParaRPr sz="24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26"/>
          <p:cNvGrpSpPr/>
          <p:nvPr/>
        </p:nvGrpSpPr>
        <p:grpSpPr>
          <a:xfrm>
            <a:off x="39572" y="0"/>
            <a:ext cx="11971807" cy="1095019"/>
            <a:chOff x="39572" y="0"/>
            <a:chExt cx="11971807" cy="1095019"/>
          </a:xfrm>
        </p:grpSpPr>
        <p:sp>
          <p:nvSpPr>
            <p:cNvPr id="267" name="Google Shape;267;p26"/>
            <p:cNvSpPr txBox="1"/>
            <p:nvPr/>
          </p:nvSpPr>
          <p:spPr>
            <a:xfrm>
              <a:off x="39572" y="0"/>
              <a:ext cx="11971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ПЕЦИФИКАЦИЯ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НА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СОФТУЕРНИТЕ ИЗИСКВАНИЯ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НА СИСТЕМА ЗА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ОНЛАЙН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КОНСУЛТАЦИИ С МЕДИЦИНСКИ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СПЕЦИАЛИСТИ</a:t>
              </a:r>
              <a:endParaRPr/>
            </a:p>
          </p:txBody>
        </p:sp>
        <p:sp>
          <p:nvSpPr>
            <p:cNvPr id="268" name="Google Shape;268;p26"/>
            <p:cNvSpPr txBox="1"/>
            <p:nvPr/>
          </p:nvSpPr>
          <p:spPr>
            <a:xfrm>
              <a:off x="9775499" y="369325"/>
              <a:ext cx="1587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>
                  <a:solidFill>
                    <a:srgbClr val="165271"/>
                  </a:solidFill>
                  <a:latin typeface="Consolas"/>
                  <a:ea typeface="Consolas"/>
                  <a:cs typeface="Consolas"/>
                  <a:sym typeface="Consolas"/>
                </a:rPr>
                <a:t>Кирил Кискинов</a:t>
              </a:r>
              <a:endParaRPr sz="1050" b="0" i="0" u="none" strike="noStrike" cap="none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69" name="Google Shape;269;p26"/>
            <p:cNvCxnSpPr/>
            <p:nvPr/>
          </p:nvCxnSpPr>
          <p:spPr>
            <a:xfrm>
              <a:off x="180622" y="369332"/>
              <a:ext cx="1149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pic>
          <p:nvPicPr>
            <p:cNvPr id="270" name="Google Shape;270;p2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362923" y="0"/>
              <a:ext cx="648455" cy="109501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1" name="Google Shape;271;p26"/>
          <p:cNvSpPr txBox="1"/>
          <p:nvPr/>
        </p:nvSpPr>
        <p:spPr>
          <a:xfrm>
            <a:off x="152800" y="4443025"/>
            <a:ext cx="5640600" cy="1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- Изглед от формулярa за записване на час (горе)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72" name="Google Shape;27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58619"/>
            <a:ext cx="6973642" cy="3459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93400" y="4328133"/>
            <a:ext cx="6398601" cy="2529867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6"/>
          <p:cNvSpPr txBox="1"/>
          <p:nvPr/>
        </p:nvSpPr>
        <p:spPr>
          <a:xfrm>
            <a:off x="7653725" y="1786825"/>
            <a:ext cx="4420800" cy="16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- Потвърждение за успешно резервиране на час (долу)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7"/>
          <p:cNvGrpSpPr/>
          <p:nvPr/>
        </p:nvGrpSpPr>
        <p:grpSpPr>
          <a:xfrm>
            <a:off x="39572" y="0"/>
            <a:ext cx="11971807" cy="1095019"/>
            <a:chOff x="39572" y="0"/>
            <a:chExt cx="11971807" cy="1095019"/>
          </a:xfrm>
        </p:grpSpPr>
        <p:sp>
          <p:nvSpPr>
            <p:cNvPr id="281" name="Google Shape;281;p27"/>
            <p:cNvSpPr txBox="1"/>
            <p:nvPr/>
          </p:nvSpPr>
          <p:spPr>
            <a:xfrm>
              <a:off x="39572" y="0"/>
              <a:ext cx="11971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ПЕЦИФИКАЦИЯ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НА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СОФТУЕРНИТЕ ИЗИСКВАНИЯ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НА СИСТЕМА ЗА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ОНЛАЙН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КОНСУЛТАЦИИ С МЕДИЦИНСКИ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СПЕЦИАЛИСТИ</a:t>
              </a:r>
              <a:endParaRPr/>
            </a:p>
          </p:txBody>
        </p:sp>
        <p:sp>
          <p:nvSpPr>
            <p:cNvPr id="282" name="Google Shape;282;p27"/>
            <p:cNvSpPr txBox="1"/>
            <p:nvPr/>
          </p:nvSpPr>
          <p:spPr>
            <a:xfrm>
              <a:off x="9775499" y="369325"/>
              <a:ext cx="1587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>
                  <a:solidFill>
                    <a:srgbClr val="165271"/>
                  </a:solidFill>
                  <a:latin typeface="Consolas"/>
                  <a:ea typeface="Consolas"/>
                  <a:cs typeface="Consolas"/>
                  <a:sym typeface="Consolas"/>
                </a:rPr>
                <a:t>Кирил Кискинов</a:t>
              </a:r>
              <a:endParaRPr sz="1050" b="0" i="0" u="none" strike="noStrike" cap="none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83" name="Google Shape;283;p27"/>
            <p:cNvCxnSpPr/>
            <p:nvPr/>
          </p:nvCxnSpPr>
          <p:spPr>
            <a:xfrm>
              <a:off x="180622" y="369332"/>
              <a:ext cx="1149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pic>
          <p:nvPicPr>
            <p:cNvPr id="284" name="Google Shape;284;p2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362923" y="0"/>
              <a:ext cx="648455" cy="109501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5" name="Google Shape;285;p27"/>
          <p:cNvSpPr txBox="1"/>
          <p:nvPr/>
        </p:nvSpPr>
        <p:spPr>
          <a:xfrm>
            <a:off x="152800" y="4443025"/>
            <a:ext cx="5640600" cy="1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- Изглед от модула за история на срещите (горе)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6" name="Google Shape;286;p27"/>
          <p:cNvSpPr txBox="1"/>
          <p:nvPr/>
        </p:nvSpPr>
        <p:spPr>
          <a:xfrm>
            <a:off x="7951375" y="1786825"/>
            <a:ext cx="4123200" cy="16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- Изглед от страницата за контакт (долу)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87" name="Google Shape;28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34850"/>
            <a:ext cx="7653725" cy="362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30900" y="3341700"/>
            <a:ext cx="7061101" cy="35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28"/>
          <p:cNvGrpSpPr/>
          <p:nvPr/>
        </p:nvGrpSpPr>
        <p:grpSpPr>
          <a:xfrm>
            <a:off x="39572" y="0"/>
            <a:ext cx="11971807" cy="1095019"/>
            <a:chOff x="39572" y="0"/>
            <a:chExt cx="11971807" cy="1095019"/>
          </a:xfrm>
        </p:grpSpPr>
        <p:sp>
          <p:nvSpPr>
            <p:cNvPr id="295" name="Google Shape;295;p28"/>
            <p:cNvSpPr txBox="1"/>
            <p:nvPr/>
          </p:nvSpPr>
          <p:spPr>
            <a:xfrm>
              <a:off x="39572" y="0"/>
              <a:ext cx="11971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ПЕЦИФИКАЦИЯ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НА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СОФТУЕРНИТЕ ИЗИСКВАНИЯ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НА СИСТЕМА ЗА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ОНЛАЙН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КОНСУЛТАЦИИ С МЕДИЦИНСКИ</a:t>
              </a:r>
              <a:r>
                <a:rPr lang="bg-BG" sz="1600" b="1" i="0" u="none" strike="noStrike" cap="none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bg-BG" sz="1600" b="1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СПЕЦИАЛИСТИ</a:t>
              </a:r>
              <a:endParaRPr/>
            </a:p>
          </p:txBody>
        </p:sp>
        <p:sp>
          <p:nvSpPr>
            <p:cNvPr id="296" name="Google Shape;296;p28"/>
            <p:cNvSpPr txBox="1"/>
            <p:nvPr/>
          </p:nvSpPr>
          <p:spPr>
            <a:xfrm>
              <a:off x="9775499" y="369325"/>
              <a:ext cx="1587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>
                  <a:solidFill>
                    <a:srgbClr val="165271"/>
                  </a:solidFill>
                  <a:latin typeface="Consolas"/>
                  <a:ea typeface="Consolas"/>
                  <a:cs typeface="Consolas"/>
                  <a:sym typeface="Consolas"/>
                </a:rPr>
                <a:t>Кирил Кискинов</a:t>
              </a:r>
              <a:endParaRPr sz="1050" b="0" i="0" u="none" strike="noStrike" cap="none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97" name="Google Shape;297;p28"/>
            <p:cNvCxnSpPr/>
            <p:nvPr/>
          </p:nvCxnSpPr>
          <p:spPr>
            <a:xfrm>
              <a:off x="180622" y="369332"/>
              <a:ext cx="1149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pic>
          <p:nvPicPr>
            <p:cNvPr id="298" name="Google Shape;298;p2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362923" y="0"/>
              <a:ext cx="648455" cy="109501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9" name="Google Shape;299;p28"/>
          <p:cNvSpPr txBox="1">
            <a:spLocks noGrp="1"/>
          </p:cNvSpPr>
          <p:nvPr>
            <p:ph type="ctrTitle"/>
          </p:nvPr>
        </p:nvSpPr>
        <p:spPr>
          <a:xfrm>
            <a:off x="2114400" y="663775"/>
            <a:ext cx="8001300" cy="5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bg-BG" sz="2740">
                <a:solidFill>
                  <a:srgbClr val="165271"/>
                </a:solidFill>
                <a:latin typeface="Consolas"/>
                <a:ea typeface="Consolas"/>
                <a:cs typeface="Consolas"/>
                <a:sym typeface="Consolas"/>
              </a:rPr>
              <a:t>Заключение</a:t>
            </a:r>
            <a:endParaRPr sz="2740">
              <a:solidFill>
                <a:srgbClr val="16527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0" name="Google Shape;300;p28"/>
          <p:cNvSpPr txBox="1"/>
          <p:nvPr/>
        </p:nvSpPr>
        <p:spPr>
          <a:xfrm>
            <a:off x="243375" y="1427550"/>
            <a:ext cx="11668800" cy="53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- Изготвените UML диаграми дават ясно представяне на структурата и взаимодействията между различните компоненти на системата. Анализът на диаграмите показва оптимизирани процеси за комуникация и данни, осигуряващи ефективност и устойчивост на системата.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- Резултатите от извършените приемни тестове демонстрират висока степен на функционалност и стабилност на системата. Всички ключови функционалности, включително защитата на данните на потребителите и надеждността на връзките, са уверено валидирани и тествани, осигурявайки безопасност и доверие за крайните потребители.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- Проектираният потребителски интерфейс предлага интуитивно и лесно използване за потребителите. Ергономичният дизайн и логическата организация на интерфейсните елементи подобряват потребителското изживяване и способстват за активната ангажираност на потребителите със системата за онлайн консултации.</a:t>
            </a:r>
            <a:endParaRPr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6" name="Google Shape;306;p29"/>
          <p:cNvCxnSpPr/>
          <p:nvPr/>
        </p:nvCxnSpPr>
        <p:spPr>
          <a:xfrm>
            <a:off x="180622" y="369332"/>
            <a:ext cx="11492089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07" name="Google Shape;30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62923" y="0"/>
            <a:ext cx="648455" cy="109502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9"/>
          <p:cNvSpPr/>
          <p:nvPr/>
        </p:nvSpPr>
        <p:spPr>
          <a:xfrm>
            <a:off x="1639250" y="5206105"/>
            <a:ext cx="8574832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4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Благодаря за вниманието!</a:t>
            </a:r>
            <a:endParaRPr sz="32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9" name="Google Shape;309;p29"/>
          <p:cNvSpPr txBox="1"/>
          <p:nvPr/>
        </p:nvSpPr>
        <p:spPr>
          <a:xfrm>
            <a:off x="2350966" y="3879151"/>
            <a:ext cx="71514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400">
                <a:solidFill>
                  <a:srgbClr val="165271"/>
                </a:solidFill>
                <a:latin typeface="Consolas"/>
                <a:ea typeface="Consolas"/>
                <a:cs typeface="Consolas"/>
                <a:sym typeface="Consolas"/>
              </a:rPr>
              <a:t>Кирил Николаев Кискинов, фак.№ ИИ0014</a:t>
            </a:r>
            <a:endParaRPr sz="2400">
              <a:solidFill>
                <a:srgbClr val="16527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400">
                <a:solidFill>
                  <a:srgbClr val="165271"/>
                </a:solidFill>
                <a:latin typeface="Consolas"/>
                <a:ea typeface="Consolas"/>
                <a:cs typeface="Consolas"/>
                <a:sym typeface="Consolas"/>
              </a:rPr>
              <a:t>бакалавър, специалност ИИ</a:t>
            </a:r>
            <a:endParaRPr sz="2400">
              <a:solidFill>
                <a:srgbClr val="16527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0" name="Google Shape;310;p29"/>
          <p:cNvSpPr txBox="1"/>
          <p:nvPr/>
        </p:nvSpPr>
        <p:spPr>
          <a:xfrm>
            <a:off x="2839350" y="1334662"/>
            <a:ext cx="6513300" cy="20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bg-BG" sz="3200" b="1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Спецификация на софтуерните изисквания на система за онлайн консултации с медицински специалисти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ssicFrameVTI">
  <a:themeElements>
    <a:clrScheme name="AnalogousFromDarkSeedLeftStep">
      <a:dk1>
        <a:srgbClr val="000000"/>
      </a:dk1>
      <a:lt1>
        <a:srgbClr val="FFFFFF"/>
      </a:lt1>
      <a:dk2>
        <a:srgbClr val="243741"/>
      </a:dk2>
      <a:lt2>
        <a:srgbClr val="E2E8E2"/>
      </a:lt2>
      <a:accent1>
        <a:srgbClr val="D838D6"/>
      </a:accent1>
      <a:accent2>
        <a:srgbClr val="8D33CA"/>
      </a:accent2>
      <a:accent3>
        <a:srgbClr val="6046DB"/>
      </a:accent3>
      <a:accent4>
        <a:srgbClr val="3558CA"/>
      </a:accent4>
      <a:accent5>
        <a:srgbClr val="38A1D8"/>
      </a:accent5>
      <a:accent6>
        <a:srgbClr val="23B6AC"/>
      </a:accent6>
      <a:hlink>
        <a:srgbClr val="4682C1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2047</Words>
  <Application>Microsoft Office PowerPoint</Application>
  <PresentationFormat>Widescreen</PresentationFormat>
  <Paragraphs>165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Consolas</vt:lpstr>
      <vt:lpstr>Sorts Mill Goudy</vt:lpstr>
      <vt:lpstr>Calibri</vt:lpstr>
      <vt:lpstr>Gill Sans</vt:lpstr>
      <vt:lpstr>ClassicFrameVTI</vt:lpstr>
      <vt:lpstr>PowerPoint Presentation</vt:lpstr>
      <vt:lpstr>PowerPoint Presentation</vt:lpstr>
      <vt:lpstr>PowerPoint Presentation</vt:lpstr>
      <vt:lpstr>Функционални изисквания</vt:lpstr>
      <vt:lpstr>Нефункционални изисквания</vt:lpstr>
      <vt:lpstr>Подробна спецификация на случаите на употреба</vt:lpstr>
      <vt:lpstr>Диаграма на случаите на използване </vt:lpstr>
      <vt:lpstr>Диаграма на класовете</vt:lpstr>
      <vt:lpstr>ER диаграма (Entity-Relationship)</vt:lpstr>
      <vt:lpstr>Диаграма на потока от данни</vt:lpstr>
      <vt:lpstr>Диаграма на последователността </vt:lpstr>
      <vt:lpstr>Приемни тестови случаи</vt:lpstr>
      <vt:lpstr>Примерен потребителски интерфейс</vt:lpstr>
      <vt:lpstr>PowerPoint Presentation</vt:lpstr>
      <vt:lpstr>PowerPoint Presentation</vt:lpstr>
      <vt:lpstr>Заключение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Kiril Kiskinov</cp:lastModifiedBy>
  <cp:revision>1</cp:revision>
  <dcterms:modified xsi:type="dcterms:W3CDTF">2026-01-29T21:23:22Z</dcterms:modified>
</cp:coreProperties>
</file>