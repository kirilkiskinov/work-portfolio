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5"/>
  </p:notesMasterIdLst>
  <p:sldIdLst>
    <p:sldId id="257" r:id="rId2"/>
    <p:sldId id="258" r:id="rId3"/>
    <p:sldId id="259" r:id="rId4"/>
    <p:sldId id="273" r:id="rId5"/>
    <p:sldId id="274" r:id="rId6"/>
    <p:sldId id="275" r:id="rId7"/>
    <p:sldId id="276" r:id="rId8"/>
    <p:sldId id="277" r:id="rId9"/>
    <p:sldId id="278" r:id="rId10"/>
    <p:sldId id="279" r:id="rId11"/>
    <p:sldId id="280" r:id="rId12"/>
    <p:sldId id="281" r:id="rId13"/>
    <p:sldId id="282" r:id="rId14"/>
    <p:sldId id="283" r:id="rId15"/>
    <p:sldId id="284" r:id="rId16"/>
    <p:sldId id="285" r:id="rId17"/>
    <p:sldId id="286" r:id="rId18"/>
    <p:sldId id="287" r:id="rId19"/>
    <p:sldId id="288" r:id="rId20"/>
    <p:sldId id="289" r:id="rId21"/>
    <p:sldId id="290" r:id="rId22"/>
    <p:sldId id="291" r:id="rId23"/>
    <p:sldId id="292" r:id="rId24"/>
  </p:sldIdLst>
  <p:sldSz cx="12192000" cy="6858000"/>
  <p:notesSz cx="6858000" cy="9926638"/>
  <p:embeddedFontLst>
    <p:embeddedFont>
      <p:font typeface="Calibri" panose="020F0502020204030204" pitchFamily="34" charset="0"/>
      <p:regular r:id="rId26"/>
      <p:bold r:id="rId27"/>
      <p:italic r:id="rId28"/>
      <p:boldItalic r:id="rId29"/>
    </p:embeddedFont>
    <p:embeddedFont>
      <p:font typeface="Consolas" panose="020B0609020204030204" pitchFamily="49" charset="0"/>
      <p:regular r:id="rId30"/>
      <p:bold r:id="rId31"/>
      <p:italic r:id="rId32"/>
      <p:boldItalic r:id="rId33"/>
    </p:embeddedFont>
    <p:embeddedFont>
      <p:font typeface="Gill Sans" panose="020B0604020202020204" charset="0"/>
      <p:regular r:id="rId34"/>
      <p:bold r:id="rId35"/>
    </p:embeddedFont>
    <p:embeddedFont>
      <p:font typeface="Sorts Mill Goudy" panose="020B0604020202020204" charset="0"/>
      <p:regular r:id="rId36"/>
      <p: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158" autoAdjust="0"/>
  </p:normalViewPr>
  <p:slideViewPr>
    <p:cSldViewPr snapToGrid="0">
      <p:cViewPr varScale="1">
        <p:scale>
          <a:sx n="78" d="100"/>
          <a:sy n="78" d="100"/>
        </p:scale>
        <p:origin x="183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9.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968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968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776788"/>
            <a:ext cx="5486400" cy="390842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9750"/>
            <a:ext cx="2971800" cy="49688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9429750"/>
            <a:ext cx="2971800" cy="496888"/>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bg-BG"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2:notes"/>
          <p:cNvSpPr txBox="1">
            <a:spLocks noGrp="1"/>
          </p:cNvSpPr>
          <p:nvPr>
            <p:ph type="body" idx="1"/>
          </p:nvPr>
        </p:nvSpPr>
        <p:spPr>
          <a:xfrm>
            <a:off x="685800" y="4776788"/>
            <a:ext cx="5486400" cy="3908425"/>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Clr>
                <a:schemeClr val="dk1"/>
              </a:buClr>
              <a:buSzPts val="1100"/>
              <a:buFont typeface="Arial"/>
              <a:buNone/>
            </a:pPr>
            <a:r>
              <a:rPr lang="bg-BG"/>
              <a:t> Уважаема госпожо председател на Държавната изпитна комисия, уважаеми членове на Държавната изпитна комисия, уважаеми колеги и гости.  </a:t>
            </a:r>
            <a:endParaRPr/>
          </a:p>
          <a:p>
            <a:pPr marL="0" lvl="0" indent="0" algn="l" rtl="0">
              <a:spcBef>
                <a:spcPts val="1200"/>
              </a:spcBef>
              <a:spcAft>
                <a:spcPts val="0"/>
              </a:spcAft>
              <a:buClr>
                <a:schemeClr val="dk1"/>
              </a:buClr>
              <a:buSzPts val="1100"/>
              <a:buFont typeface="Arial"/>
              <a:buNone/>
            </a:pPr>
            <a:r>
              <a:rPr lang="ru-RU"/>
              <a:t> Позволете да представя на вашето внимание дипломната си работа на тема: „Киберсигурност на Интернет информационни системи“.</a:t>
            </a:r>
          </a:p>
          <a:p>
            <a:pPr marL="0" lvl="0" indent="0" algn="just" rtl="0">
              <a:spcBef>
                <a:spcPts val="0"/>
              </a:spcBef>
              <a:spcAft>
                <a:spcPts val="0"/>
              </a:spcAft>
              <a:buNone/>
            </a:pPr>
            <a:endParaRPr/>
          </a:p>
        </p:txBody>
      </p:sp>
      <p:sp>
        <p:nvSpPr>
          <p:cNvPr id="97" name="Google Shape;97;p2:notes"/>
          <p:cNvSpPr txBox="1">
            <a:spLocks noGrp="1"/>
          </p:cNvSpPr>
          <p:nvPr>
            <p:ph type="sldNum" idx="12"/>
          </p:nvPr>
        </p:nvSpPr>
        <p:spPr>
          <a:xfrm>
            <a:off x="3884613" y="9429750"/>
            <a:ext cx="2971800" cy="496888"/>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BG"/>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3:notes"/>
          <p:cNvSpPr txBox="1">
            <a:spLocks noGrp="1"/>
          </p:cNvSpPr>
          <p:nvPr>
            <p:ph type="body" idx="1"/>
          </p:nvPr>
        </p:nvSpPr>
        <p:spPr>
          <a:xfrm>
            <a:off x="685800" y="4776788"/>
            <a:ext cx="5486400" cy="3908425"/>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Clr>
                <a:schemeClr val="dk1"/>
              </a:buClr>
              <a:buSzPts val="1100"/>
              <a:buFont typeface="Arial"/>
              <a:buNone/>
            </a:pPr>
            <a:r>
              <a:rPr lang="ru-RU"/>
              <a:t>Тук съм представил целта и основните задачи на дипломната работа. Основната ми цел беше да изследвам и приложа основни подходи, инструменти и техники в областта на киберсигурността и етичното хакерство чрез практически примери. За постигането ѝ си поставих четири основни задачи: работа с криптографски ключове и криптиран архив, мрежово сканиране и анализ, изграждане на тестова среда за контролирана атака и сканиране на уеб сайт за уязвимости. Идеята беше не само да се разгледат теоретични основи, но и да се приложат на практика чрез реални инструменти и тестове в контролирана среда.</a:t>
            </a:r>
            <a:endParaRPr/>
          </a:p>
        </p:txBody>
      </p:sp>
      <p:sp>
        <p:nvSpPr>
          <p:cNvPr id="109" name="Google Shape;109;p3:notes"/>
          <p:cNvSpPr txBox="1">
            <a:spLocks noGrp="1"/>
          </p:cNvSpPr>
          <p:nvPr>
            <p:ph type="sldNum" idx="12"/>
          </p:nvPr>
        </p:nvSpPr>
        <p:spPr>
          <a:xfrm>
            <a:off x="3884613" y="9429750"/>
            <a:ext cx="2971800" cy="496888"/>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BG"/>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ed7bdf1a28_2_0: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ed7bdf1a28_2_0:notes"/>
          <p:cNvSpPr txBox="1">
            <a:spLocks noGrp="1"/>
          </p:cNvSpPr>
          <p:nvPr>
            <p:ph type="body" idx="1"/>
          </p:nvPr>
        </p:nvSpPr>
        <p:spPr>
          <a:xfrm>
            <a:off x="685800" y="4776788"/>
            <a:ext cx="5486400" cy="3908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bg-BG"/>
              <a:t>За да генерираме двойка ключове </a:t>
            </a:r>
            <a:r>
              <a:rPr lang="en-US"/>
              <a:t>Ed25519 </a:t>
            </a:r>
            <a:r>
              <a:rPr lang="bg-BG"/>
              <a:t>на нашия </a:t>
            </a:r>
            <a:r>
              <a:rPr lang="en-US"/>
              <a:t>Ubuntu </a:t>
            </a:r>
            <a:r>
              <a:rPr lang="bg-BG"/>
              <a:t>сървър, можем да използваме командата </a:t>
            </a:r>
            <a:r>
              <a:rPr lang="en-US"/>
              <a:t>ssh-keygen:</a:t>
            </a:r>
            <a:r>
              <a:rPr lang="bg-BG"/>
              <a:t> </a:t>
            </a:r>
            <a:r>
              <a:rPr lang="en-US" b="1"/>
              <a:t>ssh-keygen -t ed25519 -f ~/.ssh/id_ed25519</a:t>
            </a:r>
            <a:r>
              <a:rPr lang="bg-BG" b="1"/>
              <a:t> </a:t>
            </a:r>
            <a:r>
              <a:rPr lang="en-US" b="0"/>
              <a:t>(</a:t>
            </a:r>
            <a:r>
              <a:rPr lang="bg-BG" b="0"/>
              <a:t>показана в жълто най-отгоре)</a:t>
            </a:r>
          </a:p>
          <a:p>
            <a:pPr marL="0" lvl="0" indent="0" algn="l" rtl="0">
              <a:spcBef>
                <a:spcPts val="0"/>
              </a:spcBef>
              <a:spcAft>
                <a:spcPts val="0"/>
              </a:spcAft>
              <a:buNone/>
            </a:pPr>
            <a:r>
              <a:rPr lang="ru-RU" b="0"/>
              <a:t>След като двойката ключове бъде генерирана, можем да покажем публичния ключ, като използваме следната команда: </a:t>
            </a:r>
            <a:r>
              <a:rPr lang="ru-RU" b="1"/>
              <a:t>cat ~/.ssh/id_ed25519.pub </a:t>
            </a:r>
            <a:r>
              <a:rPr lang="en-US" b="0"/>
              <a:t>(</a:t>
            </a:r>
            <a:r>
              <a:rPr lang="bg-BG" b="0"/>
              <a:t>показана в жълто най-отдолу)</a:t>
            </a:r>
          </a:p>
          <a:p>
            <a:pPr marL="0" lvl="0" indent="0" algn="l" rtl="0">
              <a:spcBef>
                <a:spcPts val="0"/>
              </a:spcBef>
              <a:spcAft>
                <a:spcPts val="0"/>
              </a:spcAft>
              <a:buNone/>
            </a:pPr>
            <a:r>
              <a:rPr lang="ru-RU" b="0"/>
              <a:t>Създават се и  </a:t>
            </a:r>
            <a:r>
              <a:rPr lang="en-US" b="1"/>
              <a:t>key fingerprint </a:t>
            </a:r>
            <a:r>
              <a:rPr lang="ru-RU" b="0"/>
              <a:t>и</a:t>
            </a:r>
            <a:r>
              <a:rPr lang="ru-RU" b="1"/>
              <a:t> </a:t>
            </a:r>
            <a:r>
              <a:rPr lang="en-US" b="1"/>
              <a:t>key randomart image. </a:t>
            </a:r>
            <a:endParaRPr lang="bg-BG" b="1"/>
          </a:p>
          <a:p>
            <a:pPr marL="0" lvl="0" indent="0" algn="l" rtl="0">
              <a:spcBef>
                <a:spcPts val="0"/>
              </a:spcBef>
              <a:spcAft>
                <a:spcPts val="0"/>
              </a:spcAft>
              <a:buNone/>
            </a:pPr>
            <a:r>
              <a:rPr lang="en-US" b="0"/>
              <a:t>Key fingerprint </a:t>
            </a:r>
            <a:r>
              <a:rPr lang="ru-RU" b="0"/>
              <a:t>представлява кратко, уникално представяне на публичния ключ, получено чрез прилагане на хеш функция върху него.</a:t>
            </a:r>
          </a:p>
          <a:p>
            <a:pPr marL="0" lvl="0" indent="0" algn="l" rtl="0">
              <a:spcBef>
                <a:spcPts val="0"/>
              </a:spcBef>
              <a:spcAft>
                <a:spcPts val="0"/>
              </a:spcAft>
              <a:buNone/>
            </a:pPr>
            <a:r>
              <a:rPr lang="ru-RU" b="0"/>
              <a:t>Key randomart image представлява визуално, ASCII-базирано изображение, което се генерира на основата на отпечатъка на публичния ключ. То няма самостоятелна криптографска функция, а е създадено с цел по-лесно визуално сравнение и разпознаване на ключове от хора.</a:t>
            </a:r>
          </a:p>
          <a:p>
            <a:pPr marL="0" lvl="0" indent="0" algn="l" rtl="0">
              <a:spcBef>
                <a:spcPts val="0"/>
              </a:spcBef>
              <a:spcAft>
                <a:spcPts val="0"/>
              </a:spcAft>
              <a:buNone/>
            </a:pPr>
            <a:endParaRPr lang="en-US" b="1"/>
          </a:p>
          <a:p>
            <a:pPr marL="0" lvl="0" indent="0" algn="l" rtl="0">
              <a:spcBef>
                <a:spcPts val="0"/>
              </a:spcBef>
              <a:spcAft>
                <a:spcPts val="0"/>
              </a:spcAft>
              <a:buNone/>
            </a:pPr>
            <a:endParaRPr/>
          </a:p>
        </p:txBody>
      </p:sp>
      <p:sp>
        <p:nvSpPr>
          <p:cNvPr id="134" name="Google Shape;134;g2ed7bdf1a28_2_0:notes"/>
          <p:cNvSpPr txBox="1">
            <a:spLocks noGrp="1"/>
          </p:cNvSpPr>
          <p:nvPr>
            <p:ph type="sldNum" idx="12"/>
          </p:nvPr>
        </p:nvSpPr>
        <p:spPr>
          <a:xfrm>
            <a:off x="3884613" y="9429750"/>
            <a:ext cx="29718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bg-BG"/>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ed7bdf1a28_2_0: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ed7bdf1a28_2_0:notes"/>
          <p:cNvSpPr txBox="1">
            <a:spLocks noGrp="1"/>
          </p:cNvSpPr>
          <p:nvPr>
            <p:ph type="body" idx="1"/>
          </p:nvPr>
        </p:nvSpPr>
        <p:spPr>
          <a:xfrm>
            <a:off x="685800" y="4776788"/>
            <a:ext cx="5486400" cy="3908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bg-BG" b="0"/>
              <a:t>	Създаваме директория с име </a:t>
            </a:r>
            <a:r>
              <a:rPr lang="en-US" b="0"/>
              <a:t>example_backup </a:t>
            </a:r>
            <a:r>
              <a:rPr lang="bg-BG" b="0"/>
              <a:t>и я попълваме с някои примерни файлове и папки. По интересна е командата </a:t>
            </a:r>
            <a:r>
              <a:rPr lang="en-US" b="1"/>
              <a:t>echo "This is file 3 in folder 1" &gt; folder1/file3.txt</a:t>
            </a:r>
            <a:r>
              <a:rPr lang="en-US" b="0"/>
              <a:t>. </a:t>
            </a:r>
            <a:r>
              <a:rPr lang="bg-BG" b="0"/>
              <a:t>Командата ще запише текста "</a:t>
            </a:r>
            <a:r>
              <a:rPr lang="en-US" b="0"/>
              <a:t>This is file 3 in folder 1" </a:t>
            </a:r>
            <a:r>
              <a:rPr lang="bg-BG" b="0"/>
              <a:t>във файл с име </a:t>
            </a:r>
            <a:r>
              <a:rPr lang="en-US" b="0"/>
              <a:t>file3.txt, </a:t>
            </a:r>
            <a:r>
              <a:rPr lang="bg-BG" b="0"/>
              <a:t>намиращ се в директорията </a:t>
            </a:r>
            <a:r>
              <a:rPr lang="en-US" b="0"/>
              <a:t>folder1. </a:t>
            </a:r>
            <a:r>
              <a:rPr lang="bg-BG" b="0"/>
              <a:t>Ако файлът вече съществува, съдържанието му ще бъде напълно презаписано с новото, а ако липсва - ще бъде автоматично създаден. Важно е обаче папката </a:t>
            </a:r>
            <a:r>
              <a:rPr lang="en-US" b="0"/>
              <a:t>folder1 </a:t>
            </a:r>
            <a:r>
              <a:rPr lang="bg-BG" b="0"/>
              <a:t>да е създадена предварително, в противен случай командата ще върне грешка.</a:t>
            </a:r>
          </a:p>
          <a:p>
            <a:pPr marL="0" lvl="0" indent="0" algn="l" rtl="0">
              <a:spcBef>
                <a:spcPts val="0"/>
              </a:spcBef>
              <a:spcAft>
                <a:spcPts val="0"/>
              </a:spcAft>
              <a:buNone/>
            </a:pPr>
            <a:r>
              <a:rPr lang="ru-RU" b="0"/>
              <a:t>	За да архивираме файловете и папките ще използваме командата: </a:t>
            </a:r>
            <a:r>
              <a:rPr lang="ru-RU" b="1"/>
              <a:t>zip -er encrypted_backup.zip * .</a:t>
            </a:r>
            <a:r>
              <a:rPr lang="ru-RU" b="0"/>
              <a:t>Тази команда ще създаде шифрован </a:t>
            </a:r>
            <a:r>
              <a:rPr lang="en-US" b="0"/>
              <a:t>zip </a:t>
            </a:r>
            <a:r>
              <a:rPr lang="ru-RU" b="0"/>
              <a:t>архив с име </a:t>
            </a:r>
            <a:r>
              <a:rPr lang="en-US" b="0"/>
              <a:t>encrypted_backup.zip, </a:t>
            </a:r>
            <a:r>
              <a:rPr lang="ru-RU" b="0"/>
              <a:t>съдържащ всички файлове и папки в текущата директория (</a:t>
            </a:r>
            <a:r>
              <a:rPr lang="en-US" b="0"/>
              <a:t>example_backup). </a:t>
            </a:r>
            <a:r>
              <a:rPr lang="ru-RU" b="0"/>
              <a:t>Ще бъдем подканени да въведем парола за криптиране.</a:t>
            </a:r>
          </a:p>
          <a:p>
            <a:pPr marL="0" lvl="0" indent="0" algn="l" rtl="0">
              <a:spcBef>
                <a:spcPts val="0"/>
              </a:spcBef>
              <a:spcAft>
                <a:spcPts val="0"/>
              </a:spcAft>
              <a:buNone/>
            </a:pPr>
            <a:endParaRPr lang="bg-BG" b="0"/>
          </a:p>
          <a:p>
            <a:pPr marL="0" lvl="0" indent="0" algn="l" rtl="0">
              <a:spcBef>
                <a:spcPts val="0"/>
              </a:spcBef>
              <a:spcAft>
                <a:spcPts val="0"/>
              </a:spcAft>
              <a:buNone/>
            </a:pPr>
            <a:endParaRPr lang="bg-BG" b="0"/>
          </a:p>
          <a:p>
            <a:pPr marL="0" lvl="0" indent="0" algn="l" rtl="0">
              <a:spcBef>
                <a:spcPts val="0"/>
              </a:spcBef>
              <a:spcAft>
                <a:spcPts val="0"/>
              </a:spcAft>
              <a:buNone/>
            </a:pPr>
            <a:endParaRPr lang="bg-BG" b="0"/>
          </a:p>
          <a:p>
            <a:pPr marL="0" lvl="0" indent="0" algn="l" rtl="0">
              <a:spcBef>
                <a:spcPts val="0"/>
              </a:spcBef>
              <a:spcAft>
                <a:spcPts val="0"/>
              </a:spcAft>
              <a:buNone/>
            </a:pPr>
            <a:endParaRPr lang="en-US" b="0"/>
          </a:p>
          <a:p>
            <a:pPr marL="0" lvl="0" indent="0" algn="l" rtl="0">
              <a:spcBef>
                <a:spcPts val="0"/>
              </a:spcBef>
              <a:spcAft>
                <a:spcPts val="0"/>
              </a:spcAft>
              <a:buNone/>
            </a:pPr>
            <a:endParaRPr/>
          </a:p>
        </p:txBody>
      </p:sp>
      <p:sp>
        <p:nvSpPr>
          <p:cNvPr id="134" name="Google Shape;134;g2ed7bdf1a28_2_0:notes"/>
          <p:cNvSpPr txBox="1">
            <a:spLocks noGrp="1"/>
          </p:cNvSpPr>
          <p:nvPr>
            <p:ph type="sldNum" idx="12"/>
          </p:nvPr>
        </p:nvSpPr>
        <p:spPr>
          <a:xfrm>
            <a:off x="3884613" y="9429750"/>
            <a:ext cx="29718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bg-BG"/>
              <a:t>4</a:t>
            </a:fld>
            <a:endParaRPr/>
          </a:p>
        </p:txBody>
      </p:sp>
    </p:spTree>
    <p:extLst>
      <p:ext uri="{BB962C8B-B14F-4D97-AF65-F5344CB8AC3E}">
        <p14:creationId xmlns:p14="http://schemas.microsoft.com/office/powerpoint/2010/main" val="18436534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ed7bdf1a28_2_0: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ed7bdf1a28_2_0:notes"/>
          <p:cNvSpPr txBox="1">
            <a:spLocks noGrp="1"/>
          </p:cNvSpPr>
          <p:nvPr>
            <p:ph type="body" idx="1"/>
          </p:nvPr>
        </p:nvSpPr>
        <p:spPr>
          <a:xfrm>
            <a:off x="685800" y="4776788"/>
            <a:ext cx="5486400" cy="3908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ru-RU" b="0"/>
              <a:t>	Тук са показани резултатите след разархивиране на encrypted_backup.zip. За да разархивираме файловете и папките ще използваме командата: </a:t>
            </a:r>
            <a:r>
              <a:rPr lang="ru-RU" b="1"/>
              <a:t>unzip encrypted_backup.zip</a:t>
            </a:r>
          </a:p>
          <a:p>
            <a:pPr marL="0" lvl="0" indent="0" algn="l" rtl="0">
              <a:spcBef>
                <a:spcPts val="0"/>
              </a:spcBef>
              <a:spcAft>
                <a:spcPts val="0"/>
              </a:spcAft>
              <a:buNone/>
            </a:pPr>
            <a:r>
              <a:rPr lang="ru-RU" b="0"/>
              <a:t>Това ще ни подкани да въведем паролата, която сме задали по време на криптирането. След въвеждане на правилната парола, съдържанието на криптирания zip архив ще бъде извлечено. Тъй като файловете от архива вече съществуват в текущата директория, unzip ни пита за действие при дублиране (replace). Избираме опцията "r" (rename), като даваме нови имена на извлечените файлове (file1.1, file2.2, folder1/file3.1), за да запазим оригиналите.</a:t>
            </a:r>
          </a:p>
          <a:p>
            <a:pPr marL="0" lvl="0" indent="0" algn="l" rtl="0">
              <a:spcBef>
                <a:spcPts val="0"/>
              </a:spcBef>
              <a:spcAft>
                <a:spcPts val="0"/>
              </a:spcAft>
              <a:buNone/>
            </a:pPr>
            <a:r>
              <a:rPr lang="ru-RU" b="0"/>
              <a:t>	След разархивирането се виждат както оригиналните файлове (</a:t>
            </a:r>
            <a:r>
              <a:rPr lang="en-US" b="0"/>
              <a:t>file1.txt, file2.txt), </a:t>
            </a:r>
            <a:r>
              <a:rPr lang="ru-RU" b="0"/>
              <a:t>така и новите преименувани версии (</a:t>
            </a:r>
            <a:r>
              <a:rPr lang="en-US" b="0"/>
              <a:t>file1.1, file2.2). </a:t>
            </a:r>
            <a:r>
              <a:rPr lang="ru-RU" b="0"/>
              <a:t>Влизаме в директория </a:t>
            </a:r>
            <a:r>
              <a:rPr lang="en-US" b="0"/>
              <a:t>folder1, </a:t>
            </a:r>
            <a:r>
              <a:rPr lang="ru-RU" b="0"/>
              <a:t>където чрез команда „</a:t>
            </a:r>
            <a:r>
              <a:rPr lang="en-US" b="0"/>
              <a:t>ls“ </a:t>
            </a:r>
            <a:r>
              <a:rPr lang="ru-RU" b="0"/>
              <a:t>потвърждаваме наличието на новия файл </a:t>
            </a:r>
            <a:r>
              <a:rPr lang="en-US" b="0"/>
              <a:t>file3.1 </a:t>
            </a:r>
            <a:r>
              <a:rPr lang="ru-RU" b="0"/>
              <a:t>заедно със стария </a:t>
            </a:r>
            <a:r>
              <a:rPr lang="en-US" b="0"/>
              <a:t>file3.txt. </a:t>
            </a:r>
            <a:r>
              <a:rPr lang="ru-RU" b="0"/>
              <a:t>С команда „</a:t>
            </a:r>
            <a:r>
              <a:rPr lang="en-US" b="0"/>
              <a:t>cd -“ </a:t>
            </a:r>
            <a:r>
              <a:rPr lang="ru-RU" b="0"/>
              <a:t>се връщаме в предишната работна директория (~/</a:t>
            </a:r>
            <a:r>
              <a:rPr lang="en-US" b="0"/>
              <a:t>example_backup). </a:t>
            </a:r>
            <a:r>
              <a:rPr lang="ru-RU" b="0"/>
              <a:t>След като сме се върнали в главната папка, успешно влизаме във втората папка и виждаме файловете </a:t>
            </a:r>
            <a:r>
              <a:rPr lang="en-US" b="0"/>
              <a:t>file4.1 </a:t>
            </a:r>
            <a:r>
              <a:rPr lang="ru-RU" b="0"/>
              <a:t>и </a:t>
            </a:r>
            <a:r>
              <a:rPr lang="en-US" b="0"/>
              <a:t>file4.txt.</a:t>
            </a:r>
            <a:endParaRPr lang="ru-RU" b="0"/>
          </a:p>
          <a:p>
            <a:pPr marL="0" lvl="0" indent="0" algn="l" rtl="0">
              <a:spcBef>
                <a:spcPts val="0"/>
              </a:spcBef>
              <a:spcAft>
                <a:spcPts val="0"/>
              </a:spcAft>
              <a:buNone/>
            </a:pPr>
            <a:endParaRPr lang="bg-BG" b="0"/>
          </a:p>
          <a:p>
            <a:pPr marL="0" lvl="0" indent="0" algn="l" rtl="0">
              <a:spcBef>
                <a:spcPts val="0"/>
              </a:spcBef>
              <a:spcAft>
                <a:spcPts val="0"/>
              </a:spcAft>
              <a:buNone/>
            </a:pPr>
            <a:endParaRPr lang="bg-BG" b="0"/>
          </a:p>
          <a:p>
            <a:pPr marL="0" lvl="0" indent="0" algn="l" rtl="0">
              <a:spcBef>
                <a:spcPts val="0"/>
              </a:spcBef>
              <a:spcAft>
                <a:spcPts val="0"/>
              </a:spcAft>
              <a:buNone/>
            </a:pPr>
            <a:endParaRPr lang="bg-BG" b="0"/>
          </a:p>
          <a:p>
            <a:pPr marL="0" lvl="0" indent="0" algn="l" rtl="0">
              <a:spcBef>
                <a:spcPts val="0"/>
              </a:spcBef>
              <a:spcAft>
                <a:spcPts val="0"/>
              </a:spcAft>
              <a:buNone/>
            </a:pPr>
            <a:endParaRPr lang="en-US" b="0"/>
          </a:p>
          <a:p>
            <a:pPr marL="0" lvl="0" indent="0" algn="l" rtl="0">
              <a:spcBef>
                <a:spcPts val="0"/>
              </a:spcBef>
              <a:spcAft>
                <a:spcPts val="0"/>
              </a:spcAft>
              <a:buNone/>
            </a:pPr>
            <a:endParaRPr/>
          </a:p>
        </p:txBody>
      </p:sp>
      <p:sp>
        <p:nvSpPr>
          <p:cNvPr id="134" name="Google Shape;134;g2ed7bdf1a28_2_0:notes"/>
          <p:cNvSpPr txBox="1">
            <a:spLocks noGrp="1"/>
          </p:cNvSpPr>
          <p:nvPr>
            <p:ph type="sldNum" idx="12"/>
          </p:nvPr>
        </p:nvSpPr>
        <p:spPr>
          <a:xfrm>
            <a:off x="3884613" y="9429750"/>
            <a:ext cx="29718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bg-BG"/>
              <a:t>5</a:t>
            </a:fld>
            <a:endParaRPr/>
          </a:p>
        </p:txBody>
      </p:sp>
    </p:spTree>
    <p:extLst>
      <p:ext uri="{BB962C8B-B14F-4D97-AF65-F5344CB8AC3E}">
        <p14:creationId xmlns:p14="http://schemas.microsoft.com/office/powerpoint/2010/main" val="3696405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ed7bdf1a28_2_0: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ed7bdf1a28_2_0:notes"/>
          <p:cNvSpPr txBox="1">
            <a:spLocks noGrp="1"/>
          </p:cNvSpPr>
          <p:nvPr>
            <p:ph type="body" idx="1"/>
          </p:nvPr>
        </p:nvSpPr>
        <p:spPr>
          <a:xfrm>
            <a:off x="685800" y="4776788"/>
            <a:ext cx="5486400" cy="3908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1"/>
              <a:t>	</a:t>
            </a:r>
            <a:r>
              <a:rPr lang="ru-RU" b="1"/>
              <a:t>GNU Privacy Guard (GPG)</a:t>
            </a:r>
            <a:r>
              <a:rPr lang="ru-RU" b="0"/>
              <a:t> е безплатен софтуер с отворен код, който осигурява криптографска защита (шифроване и подписване) за данни, комуникации и имейли</a:t>
            </a:r>
            <a:r>
              <a:rPr lang="en-US" b="0"/>
              <a:t>.</a:t>
            </a:r>
          </a:p>
          <a:p>
            <a:pPr marL="0" lvl="0" indent="0" algn="l" rtl="0">
              <a:spcBef>
                <a:spcPts val="0"/>
              </a:spcBef>
              <a:spcAft>
                <a:spcPts val="0"/>
              </a:spcAft>
              <a:buNone/>
            </a:pPr>
            <a:r>
              <a:rPr lang="en-US" b="0"/>
              <a:t>	</a:t>
            </a:r>
            <a:r>
              <a:rPr lang="ru-RU" b="0"/>
              <a:t>Използвайки файловете и папките от предходния пример, можем да създадем архив чрез следната команда:</a:t>
            </a:r>
            <a:r>
              <a:rPr lang="en-US" b="0"/>
              <a:t> </a:t>
            </a:r>
            <a:r>
              <a:rPr lang="ru-RU" b="1"/>
              <a:t>tar -cjf archive.tar.bz2 </a:t>
            </a:r>
            <a:r>
              <a:rPr lang="ru-RU" b="0"/>
              <a:t>.</a:t>
            </a:r>
            <a:endParaRPr lang="en-US" b="0"/>
          </a:p>
          <a:p>
            <a:pPr marL="0" lvl="0" indent="0" algn="l" rtl="0">
              <a:spcBef>
                <a:spcPts val="0"/>
              </a:spcBef>
              <a:spcAft>
                <a:spcPts val="0"/>
              </a:spcAft>
              <a:buNone/>
            </a:pPr>
            <a:r>
              <a:rPr lang="ru-RU" b="0"/>
              <a:t>Тази команда създава tar архив с име archive.tar.bz2, съдържащ всички файлове и папки в текущата директория. При изпълнение на командата „cat archive.tar.bz2“ конзолата няма да покаже смислен, четим текст. Вместо това ще се изведе поток от нечетими символи, а в някои терминали изходът може дори да „развали“ визуализацията (неочаквани символи, промяна на шрифт/редове). Командата cat просто извежда суровото бинарно съдържание на стандартния изход, без да го декодира или разархивира.</a:t>
            </a:r>
            <a:endParaRPr lang="en-US" b="0"/>
          </a:p>
          <a:p>
            <a:pPr marL="0" lvl="0" indent="0" algn="l" rtl="0">
              <a:spcBef>
                <a:spcPts val="0"/>
              </a:spcBef>
              <a:spcAft>
                <a:spcPts val="0"/>
              </a:spcAft>
              <a:buNone/>
            </a:pPr>
            <a:r>
              <a:rPr lang="en-US" b="0"/>
              <a:t>	</a:t>
            </a:r>
            <a:r>
              <a:rPr lang="bg-BG" b="0"/>
              <a:t>За да криптираме архива </a:t>
            </a:r>
            <a:r>
              <a:rPr lang="en-US" b="0"/>
              <a:t>tar.bz2 </a:t>
            </a:r>
            <a:r>
              <a:rPr lang="bg-BG" b="0"/>
              <a:t>с помощта на </a:t>
            </a:r>
            <a:r>
              <a:rPr lang="en-US" b="0"/>
              <a:t>GPG, </a:t>
            </a:r>
            <a:r>
              <a:rPr lang="bg-BG" b="0"/>
              <a:t>използваме следната команда:</a:t>
            </a:r>
            <a:r>
              <a:rPr lang="en-US" b="0"/>
              <a:t> </a:t>
            </a:r>
            <a:r>
              <a:rPr lang="en-US" b="1"/>
              <a:t>gpg --output archive.tar.bz2.gpg --symmetric archive.tar.bz2</a:t>
            </a:r>
          </a:p>
          <a:p>
            <a:pPr marL="0" lvl="0" indent="0" algn="l" rtl="0">
              <a:spcBef>
                <a:spcPts val="0"/>
              </a:spcBef>
              <a:spcAft>
                <a:spcPts val="0"/>
              </a:spcAft>
              <a:buNone/>
            </a:pPr>
            <a:r>
              <a:rPr lang="ru-RU" b="0"/>
              <a:t>При изпълнение на командата GPG задължително ще поиска въвеждане и потвърждение на парола, като тя не се визуализира на екрана и не се съхранява никъде. Без тази парола съдържанието на архива не може да бъде възстановено, поради което нейната сложност и сигурно съхранение са от критично значение.</a:t>
            </a:r>
            <a:endParaRPr lang="en-US" b="0"/>
          </a:p>
          <a:p>
            <a:pPr marL="0" lvl="0" indent="0" algn="l" rtl="0">
              <a:spcBef>
                <a:spcPts val="0"/>
              </a:spcBef>
              <a:spcAft>
                <a:spcPts val="0"/>
              </a:spcAft>
              <a:buNone/>
            </a:pPr>
            <a:endParaRPr lang="en-US" b="0"/>
          </a:p>
          <a:p>
            <a:pPr marL="0" lvl="0" indent="0" algn="l" rtl="0">
              <a:spcBef>
                <a:spcPts val="0"/>
              </a:spcBef>
              <a:spcAft>
                <a:spcPts val="0"/>
              </a:spcAft>
              <a:buNone/>
            </a:pPr>
            <a:endParaRPr lang="ru-RU" b="0"/>
          </a:p>
          <a:p>
            <a:pPr marL="0" lvl="0" indent="0" algn="l" rtl="0">
              <a:spcBef>
                <a:spcPts val="0"/>
              </a:spcBef>
              <a:spcAft>
                <a:spcPts val="0"/>
              </a:spcAft>
              <a:buNone/>
            </a:pPr>
            <a:endParaRPr lang="bg-BG" b="0"/>
          </a:p>
          <a:p>
            <a:pPr marL="0" lvl="0" indent="0" algn="l" rtl="0">
              <a:spcBef>
                <a:spcPts val="0"/>
              </a:spcBef>
              <a:spcAft>
                <a:spcPts val="0"/>
              </a:spcAft>
              <a:buNone/>
            </a:pPr>
            <a:endParaRPr lang="bg-BG" b="0"/>
          </a:p>
          <a:p>
            <a:pPr marL="0" lvl="0" indent="0" algn="l" rtl="0">
              <a:spcBef>
                <a:spcPts val="0"/>
              </a:spcBef>
              <a:spcAft>
                <a:spcPts val="0"/>
              </a:spcAft>
              <a:buNone/>
            </a:pPr>
            <a:endParaRPr lang="en-US" b="0"/>
          </a:p>
          <a:p>
            <a:pPr marL="0" lvl="0" indent="0" algn="l" rtl="0">
              <a:spcBef>
                <a:spcPts val="0"/>
              </a:spcBef>
              <a:spcAft>
                <a:spcPts val="0"/>
              </a:spcAft>
              <a:buNone/>
            </a:pPr>
            <a:endParaRPr/>
          </a:p>
        </p:txBody>
      </p:sp>
      <p:sp>
        <p:nvSpPr>
          <p:cNvPr id="134" name="Google Shape;134;g2ed7bdf1a28_2_0:notes"/>
          <p:cNvSpPr txBox="1">
            <a:spLocks noGrp="1"/>
          </p:cNvSpPr>
          <p:nvPr>
            <p:ph type="sldNum" idx="12"/>
          </p:nvPr>
        </p:nvSpPr>
        <p:spPr>
          <a:xfrm>
            <a:off x="3884613" y="9429750"/>
            <a:ext cx="29718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bg-BG"/>
              <a:t>6</a:t>
            </a:fld>
            <a:endParaRPr/>
          </a:p>
        </p:txBody>
      </p:sp>
    </p:spTree>
    <p:extLst>
      <p:ext uri="{BB962C8B-B14F-4D97-AF65-F5344CB8AC3E}">
        <p14:creationId xmlns:p14="http://schemas.microsoft.com/office/powerpoint/2010/main" val="19778845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ed7bdf1a28_2_0: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ed7bdf1a28_2_0:notes"/>
          <p:cNvSpPr txBox="1">
            <a:spLocks noGrp="1"/>
          </p:cNvSpPr>
          <p:nvPr>
            <p:ph type="body" idx="1"/>
          </p:nvPr>
        </p:nvSpPr>
        <p:spPr>
          <a:xfrm>
            <a:off x="685800" y="4776788"/>
            <a:ext cx="5486400" cy="3908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a:t>	</a:t>
            </a:r>
            <a:r>
              <a:rPr lang="bg-BG" b="0"/>
              <a:t>За разопаковане и дешифриране на архива използваме:</a:t>
            </a:r>
            <a:r>
              <a:rPr lang="en-US" b="0"/>
              <a:t> </a:t>
            </a:r>
            <a:r>
              <a:rPr lang="en-US" b="1"/>
              <a:t>gpg --output decrypted_archive.tar.bz2 --decrypt archive.tar.bz2.gpg</a:t>
            </a:r>
          </a:p>
          <a:p>
            <a:pPr marL="0" lvl="0" indent="0" algn="l" rtl="0">
              <a:spcBef>
                <a:spcPts val="0"/>
              </a:spcBef>
              <a:spcAft>
                <a:spcPts val="0"/>
              </a:spcAft>
              <a:buNone/>
            </a:pPr>
            <a:r>
              <a:rPr lang="en-US" b="0"/>
              <a:t>	</a:t>
            </a:r>
            <a:r>
              <a:rPr lang="ru-RU" b="0"/>
              <a:t>Тази команда се използва за декриптиране на файл, който е бил защитен със GnuPG. Параметърът „—decrypt“ указва на GPG да разшифрова криптирания файл archive.tar.bz2.gpg, като за целта е необходима същата парола, използвана при симетричното криптиране. Чрез опцията „—output“ се задава името на изходния файл, в който ще бъде записан декриптираният резултат – в случая decrypted_archive.tar.bz2. По време на изпълнение командата ще поиска въвеждане на парола, която не се показва на екрана, а при успешно удостоверяване съдържанието на архива се възстановява в първоначалния му, компресиран вид, готов за последващо разархивиране с tar.</a:t>
            </a:r>
            <a:endParaRPr lang="en-US" b="0"/>
          </a:p>
          <a:p>
            <a:pPr marL="0" lvl="0" indent="0" algn="l" rtl="0">
              <a:spcBef>
                <a:spcPts val="0"/>
              </a:spcBef>
              <a:spcAft>
                <a:spcPts val="0"/>
              </a:spcAft>
              <a:buNone/>
            </a:pPr>
            <a:r>
              <a:rPr lang="en-US" b="0"/>
              <a:t>	</a:t>
            </a:r>
            <a:r>
              <a:rPr lang="bg-BG" b="0"/>
              <a:t>Процесът на работа с </a:t>
            </a:r>
            <a:r>
              <a:rPr lang="en-US" b="0"/>
              <a:t>tar </a:t>
            </a:r>
            <a:r>
              <a:rPr lang="bg-BG" b="0"/>
              <a:t>архива започва с организиране на файловата структура, като първоначално файлът </a:t>
            </a:r>
            <a:r>
              <a:rPr lang="en-US" b="0"/>
              <a:t>decrypted_archive.tar.bz2 </a:t>
            </a:r>
            <a:r>
              <a:rPr lang="bg-BG" b="0"/>
              <a:t>се премества в директорията </a:t>
            </a:r>
            <a:r>
              <a:rPr lang="en-US" b="0"/>
              <a:t>folder3 </a:t>
            </a:r>
            <a:r>
              <a:rPr lang="bg-BG" b="0"/>
              <a:t>чрез командата </a:t>
            </a:r>
            <a:r>
              <a:rPr lang="en-US" b="0"/>
              <a:t>mv</a:t>
            </a:r>
            <a:r>
              <a:rPr lang="bg-BG" b="0"/>
              <a:t>. След като се навигира в тази папка с </a:t>
            </a:r>
            <a:r>
              <a:rPr lang="en-US" b="0"/>
              <a:t>cd folder3 </a:t>
            </a:r>
            <a:r>
              <a:rPr lang="bg-BG" b="0"/>
              <a:t>и се потвържди съдържанието ѝ чрез </a:t>
            </a:r>
            <a:r>
              <a:rPr lang="en-US" b="0"/>
              <a:t>ls, </a:t>
            </a:r>
            <a:r>
              <a:rPr lang="bg-BG" b="0"/>
              <a:t>се преминава към същинското разархивиране. За целта се използва командата:</a:t>
            </a:r>
            <a:r>
              <a:rPr lang="en-US" b="0"/>
              <a:t> </a:t>
            </a:r>
            <a:r>
              <a:rPr lang="en-US" b="1"/>
              <a:t>tar -xjf decrypted_archive.tar.bz2</a:t>
            </a:r>
          </a:p>
          <a:p>
            <a:pPr marL="0" lvl="0" indent="0" algn="l" rtl="0">
              <a:spcBef>
                <a:spcPts val="0"/>
              </a:spcBef>
              <a:spcAft>
                <a:spcPts val="0"/>
              </a:spcAft>
              <a:buNone/>
            </a:pPr>
            <a:r>
              <a:rPr lang="ru-RU" b="0"/>
              <a:t>Резултатът от изпълнението е пълното възстановяване на оригиналната структура от файлове и подпапки (като folder1 и folder2) директно в новата локация, което се вижда от финалния списък на файловете в терминала.</a:t>
            </a:r>
            <a:endParaRPr lang="en-US" b="0"/>
          </a:p>
          <a:p>
            <a:pPr marL="0" lvl="0" indent="0" algn="l" rtl="0">
              <a:spcBef>
                <a:spcPts val="0"/>
              </a:spcBef>
              <a:spcAft>
                <a:spcPts val="0"/>
              </a:spcAft>
              <a:buNone/>
            </a:pPr>
            <a:endParaRPr lang="en-US" b="0"/>
          </a:p>
          <a:p>
            <a:pPr marL="0" lvl="0" indent="0" algn="l" rtl="0">
              <a:spcBef>
                <a:spcPts val="0"/>
              </a:spcBef>
              <a:spcAft>
                <a:spcPts val="0"/>
              </a:spcAft>
              <a:buNone/>
            </a:pPr>
            <a:endParaRPr lang="en-US" b="0"/>
          </a:p>
          <a:p>
            <a:pPr marL="0" lvl="0" indent="0" algn="l" rtl="0">
              <a:spcBef>
                <a:spcPts val="0"/>
              </a:spcBef>
              <a:spcAft>
                <a:spcPts val="0"/>
              </a:spcAft>
              <a:buNone/>
            </a:pPr>
            <a:endParaRPr lang="ru-RU" b="0"/>
          </a:p>
          <a:p>
            <a:pPr marL="0" lvl="0" indent="0" algn="l" rtl="0">
              <a:spcBef>
                <a:spcPts val="0"/>
              </a:spcBef>
              <a:spcAft>
                <a:spcPts val="0"/>
              </a:spcAft>
              <a:buNone/>
            </a:pPr>
            <a:endParaRPr lang="bg-BG" b="0"/>
          </a:p>
          <a:p>
            <a:pPr marL="0" lvl="0" indent="0" algn="l" rtl="0">
              <a:spcBef>
                <a:spcPts val="0"/>
              </a:spcBef>
              <a:spcAft>
                <a:spcPts val="0"/>
              </a:spcAft>
              <a:buNone/>
            </a:pPr>
            <a:endParaRPr lang="bg-BG" b="0"/>
          </a:p>
          <a:p>
            <a:pPr marL="0" lvl="0" indent="0" algn="l" rtl="0">
              <a:spcBef>
                <a:spcPts val="0"/>
              </a:spcBef>
              <a:spcAft>
                <a:spcPts val="0"/>
              </a:spcAft>
              <a:buNone/>
            </a:pPr>
            <a:endParaRPr lang="en-US" b="0"/>
          </a:p>
          <a:p>
            <a:pPr marL="0" lvl="0" indent="0" algn="l" rtl="0">
              <a:spcBef>
                <a:spcPts val="0"/>
              </a:spcBef>
              <a:spcAft>
                <a:spcPts val="0"/>
              </a:spcAft>
              <a:buNone/>
            </a:pPr>
            <a:endParaRPr/>
          </a:p>
        </p:txBody>
      </p:sp>
      <p:sp>
        <p:nvSpPr>
          <p:cNvPr id="134" name="Google Shape;134;g2ed7bdf1a28_2_0:notes"/>
          <p:cNvSpPr txBox="1">
            <a:spLocks noGrp="1"/>
          </p:cNvSpPr>
          <p:nvPr>
            <p:ph type="sldNum" idx="12"/>
          </p:nvPr>
        </p:nvSpPr>
        <p:spPr>
          <a:xfrm>
            <a:off x="3884613" y="9429750"/>
            <a:ext cx="29718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bg-BG"/>
              <a:t>7</a:t>
            </a:fld>
            <a:endParaRPr/>
          </a:p>
        </p:txBody>
      </p:sp>
    </p:spTree>
    <p:extLst>
      <p:ext uri="{BB962C8B-B14F-4D97-AF65-F5344CB8AC3E}">
        <p14:creationId xmlns:p14="http://schemas.microsoft.com/office/powerpoint/2010/main" val="13274115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ed7bdf1a28_2_0: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ed7bdf1a28_2_0:notes"/>
          <p:cNvSpPr txBox="1">
            <a:spLocks noGrp="1"/>
          </p:cNvSpPr>
          <p:nvPr>
            <p:ph type="body" idx="1"/>
          </p:nvPr>
        </p:nvSpPr>
        <p:spPr>
          <a:xfrm>
            <a:off x="685800" y="4776788"/>
            <a:ext cx="5486400" cy="3908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ru-RU" b="0"/>
              <a:t>Командата </a:t>
            </a:r>
            <a:r>
              <a:rPr lang="ru-RU" b="1"/>
              <a:t>srm (secure remove)</a:t>
            </a:r>
            <a:r>
              <a:rPr lang="ru-RU" b="0"/>
              <a:t> презаписва данните на файла с произволни данни, преди да прекрати връзката на файла, което го прави невъзстановим. Тя предоставя опции за определяне на броя на преминаванията за презаписване на данни и поддържа различни методи за изтриване.</a:t>
            </a:r>
          </a:p>
          <a:p>
            <a:pPr marL="0" lvl="0" indent="0" algn="l" rtl="0">
              <a:spcBef>
                <a:spcPts val="0"/>
              </a:spcBef>
              <a:spcAft>
                <a:spcPts val="0"/>
              </a:spcAft>
              <a:buNone/>
            </a:pPr>
            <a:r>
              <a:rPr lang="ru-RU" b="0"/>
              <a:t>При въвеждане на командата </a:t>
            </a:r>
            <a:r>
              <a:rPr lang="ru-RU" b="1"/>
              <a:t>srm file2.2 </a:t>
            </a:r>
            <a:r>
              <a:rPr lang="ru-RU" b="0"/>
              <a:t>се извършва сигурно изтриване на файла file2.2, като съдържанието му се презаписва многократно преди премахването му от файловата система, с цел да не може да бъде възстановено чрез стандартни средства за възстановяване на данни. След успешното изпълнение на командата файлът се счита за окончателно унищожен. При последващо изпълнение на командата „ls“ съдържанието на текущата директория се извежда без файла file2.2, тъй като той вече не съществува във файловата система и не може да бъде достъпен или възстановен.</a:t>
            </a:r>
          </a:p>
          <a:p>
            <a:pPr marL="0" lvl="0" indent="0" algn="l" rtl="0">
              <a:spcBef>
                <a:spcPts val="0"/>
              </a:spcBef>
              <a:spcAft>
                <a:spcPts val="0"/>
              </a:spcAft>
              <a:buNone/>
            </a:pPr>
            <a:endParaRPr lang="en-US" b="1"/>
          </a:p>
          <a:p>
            <a:pPr marL="0" lvl="0" indent="0" algn="l" rtl="0">
              <a:spcBef>
                <a:spcPts val="0"/>
              </a:spcBef>
              <a:spcAft>
                <a:spcPts val="0"/>
              </a:spcAft>
              <a:buNone/>
            </a:pPr>
            <a:endParaRPr/>
          </a:p>
        </p:txBody>
      </p:sp>
      <p:sp>
        <p:nvSpPr>
          <p:cNvPr id="134" name="Google Shape;134;g2ed7bdf1a28_2_0:notes"/>
          <p:cNvSpPr txBox="1">
            <a:spLocks noGrp="1"/>
          </p:cNvSpPr>
          <p:nvPr>
            <p:ph type="sldNum" idx="12"/>
          </p:nvPr>
        </p:nvSpPr>
        <p:spPr>
          <a:xfrm>
            <a:off x="3884613" y="9429750"/>
            <a:ext cx="29718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bg-BG"/>
              <a:t>8</a:t>
            </a:fld>
            <a:endParaRPr/>
          </a:p>
        </p:txBody>
      </p:sp>
    </p:spTree>
    <p:extLst>
      <p:ext uri="{BB962C8B-B14F-4D97-AF65-F5344CB8AC3E}">
        <p14:creationId xmlns:p14="http://schemas.microsoft.com/office/powerpoint/2010/main" val="6979895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ed7bdf1a28_2_0: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ed7bdf1a28_2_0:notes"/>
          <p:cNvSpPr txBox="1">
            <a:spLocks noGrp="1"/>
          </p:cNvSpPr>
          <p:nvPr>
            <p:ph type="body" idx="1"/>
          </p:nvPr>
        </p:nvSpPr>
        <p:spPr>
          <a:xfrm>
            <a:off x="685800" y="4776788"/>
            <a:ext cx="5486400" cy="3908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ru-RU" b="0"/>
              <a:t>	Командата </a:t>
            </a:r>
            <a:r>
              <a:rPr lang="ru-RU" b="1"/>
              <a:t>nmap abv.bg </a:t>
            </a:r>
            <a:r>
              <a:rPr lang="ru-RU" b="0"/>
              <a:t>стартира инструмента nmap за мрежово сканиране и анализ, като целта ѝ е домейнът abv.b</a:t>
            </a:r>
            <a:r>
              <a:rPr lang="en-US" b="0"/>
              <a:t>g</a:t>
            </a:r>
            <a:r>
              <a:rPr lang="ru-RU" b="0"/>
              <a:t>. При изпълнение на командата Nmap първо ще резолвира домейн името до съответния IP адрес, след което ще извърши стандартно TCP сканиране на най-често използваните портове на този хост. В резултат ще бъде изведена информация за това кои портове са отворени, затворени или филтрирани, както и какви мрежови услуги работят върху тях (например уеб сървър, пощенска услуга и др.). Командата не експлоатира уязвимости, а предоставя базова картина за мрежовата достъпност и публично видимите услуги на дадения сървър, като резултатите зависят от защитните механизми и конфигурацията на целевата система.</a:t>
            </a:r>
          </a:p>
          <a:p>
            <a:pPr marL="0" lvl="0" indent="0" algn="l" rtl="0">
              <a:spcBef>
                <a:spcPts val="0"/>
              </a:spcBef>
              <a:spcAft>
                <a:spcPts val="0"/>
              </a:spcAft>
              <a:buNone/>
            </a:pPr>
            <a:r>
              <a:rPr lang="ru-RU" b="0"/>
              <a:t>	„Филтриран“ означава, че Nmap не може да определи дали портът е отворен или затворен поради някаква форма на филтриране или блокиране. „Отворен“ означава, че Nmap успешно е установил комуникация с порта и портът активно приема връзки. Разбирането на състоянието на портовете, открити по време на мрежово сканиране, е от съществено значение за оценка на състоянието на сигурността на дадена система или мрежа.</a:t>
            </a:r>
            <a:endParaRPr lang="en-US" b="0"/>
          </a:p>
          <a:p>
            <a:pPr marL="0" lvl="0" indent="0" algn="l" rtl="0">
              <a:spcBef>
                <a:spcPts val="0"/>
              </a:spcBef>
              <a:spcAft>
                <a:spcPts val="0"/>
              </a:spcAft>
              <a:buNone/>
            </a:pPr>
            <a:endParaRPr/>
          </a:p>
        </p:txBody>
      </p:sp>
      <p:sp>
        <p:nvSpPr>
          <p:cNvPr id="134" name="Google Shape;134;g2ed7bdf1a28_2_0:notes"/>
          <p:cNvSpPr txBox="1">
            <a:spLocks noGrp="1"/>
          </p:cNvSpPr>
          <p:nvPr>
            <p:ph type="sldNum" idx="12"/>
          </p:nvPr>
        </p:nvSpPr>
        <p:spPr>
          <a:xfrm>
            <a:off x="3884613" y="9429750"/>
            <a:ext cx="29718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bg-BG"/>
              <a:t>9</a:t>
            </a:fld>
            <a:endParaRPr/>
          </a:p>
        </p:txBody>
      </p:sp>
    </p:spTree>
    <p:extLst>
      <p:ext uri="{BB962C8B-B14F-4D97-AF65-F5344CB8AC3E}">
        <p14:creationId xmlns:p14="http://schemas.microsoft.com/office/powerpoint/2010/main" val="39608846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ed7bdf1a28_2_0: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ed7bdf1a28_2_0:notes"/>
          <p:cNvSpPr txBox="1">
            <a:spLocks noGrp="1"/>
          </p:cNvSpPr>
          <p:nvPr>
            <p:ph type="body" idx="1"/>
          </p:nvPr>
        </p:nvSpPr>
        <p:spPr>
          <a:xfrm>
            <a:off x="685800" y="4776788"/>
            <a:ext cx="5486400" cy="3908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ru-RU"/>
              <a:t>Сканирането на порт 443 на домейна dir.bg с инструмента sslscan може да се извърши със следната команда: </a:t>
            </a:r>
            <a:r>
              <a:rPr lang="ru-RU" b="1"/>
              <a:t>sslscan dir.bg:443</a:t>
            </a:r>
          </a:p>
          <a:p>
            <a:pPr marL="0" lvl="0" indent="0" algn="l" rtl="0">
              <a:spcBef>
                <a:spcPts val="0"/>
              </a:spcBef>
              <a:spcAft>
                <a:spcPts val="0"/>
              </a:spcAft>
              <a:buNone/>
            </a:pPr>
            <a:r>
              <a:rPr lang="ru-RU" b="0"/>
              <a:t>Тази команда указва на sslscan да се свърже към хоста dir.bg на стандартния HTTPS порт 443 и да анализира SSL/TLS конфигурацията, включително поддържаните протоколи, шифри и криптографски настройки.</a:t>
            </a:r>
          </a:p>
          <a:p>
            <a:pPr marL="0" lvl="0" indent="0" algn="l" rtl="0">
              <a:spcBef>
                <a:spcPts val="0"/>
              </a:spcBef>
              <a:spcAft>
                <a:spcPts val="0"/>
              </a:spcAft>
              <a:buNone/>
            </a:pPr>
            <a:r>
              <a:rPr lang="ru-RU"/>
              <a:t>Най-голямата част от изхода показва списък със „Cipher Suites“, които сървърът приема. Всяка линия представлява специфична комбинация от алгоритми, използвани за защита на връзката. </a:t>
            </a:r>
          </a:p>
          <a:p>
            <a:pPr marL="0" lvl="0" indent="0" algn="l" rtl="0">
              <a:spcBef>
                <a:spcPts val="0"/>
              </a:spcBef>
              <a:spcAft>
                <a:spcPts val="0"/>
              </a:spcAft>
              <a:buNone/>
            </a:pPr>
            <a:r>
              <a:rPr lang="ru-RU"/>
              <a:t>Първата колона показва протокола (TLSv1.2), който е сравнително сигурен, но вече остаряващ (по-новият стандарт е TLSv1.3). </a:t>
            </a:r>
          </a:p>
          <a:p>
            <a:pPr marL="0" lvl="0" indent="0" algn="l" rtl="0">
              <a:spcBef>
                <a:spcPts val="0"/>
              </a:spcBef>
              <a:spcAft>
                <a:spcPts val="0"/>
              </a:spcAft>
              <a:buNone/>
            </a:pPr>
            <a:r>
              <a:rPr lang="ru-RU"/>
              <a:t>Втората колона (bits) показва силата на криптирането (напр. 128 или 256 бита). </a:t>
            </a:r>
          </a:p>
          <a:p>
            <a:pPr marL="0" lvl="0" indent="0" algn="l" rtl="0">
              <a:spcBef>
                <a:spcPts val="0"/>
              </a:spcBef>
              <a:spcAft>
                <a:spcPts val="0"/>
              </a:spcAft>
              <a:buNone/>
            </a:pPr>
            <a:r>
              <a:rPr lang="ru-RU"/>
              <a:t>Зеленият цвят показва силни и препоръчителни шифри (като ECDHE с AES-GCM)</a:t>
            </a:r>
          </a:p>
          <a:p>
            <a:pPr marL="0" lvl="0" indent="0" algn="l" rtl="0">
              <a:spcBef>
                <a:spcPts val="0"/>
              </a:spcBef>
              <a:spcAft>
                <a:spcPts val="0"/>
              </a:spcAft>
              <a:buNone/>
            </a:pPr>
            <a:r>
              <a:rPr lang="bg-BG" sz="1800">
                <a:effectLst/>
                <a:latin typeface="Times New Roman" panose="02020603050405020304" pitchFamily="18" charset="0"/>
                <a:ea typeface="Calibri" panose="020F0502020204030204" pitchFamily="34" charset="0"/>
              </a:rPr>
              <a:t>Оцветените в жълто записи в долната част на списъка сигнализират за потенциални уязвимости.</a:t>
            </a:r>
          </a:p>
          <a:p>
            <a:pPr marL="0" lvl="0" indent="0" algn="l" rtl="0">
              <a:spcBef>
                <a:spcPts val="0"/>
              </a:spcBef>
              <a:spcAft>
                <a:spcPts val="0"/>
              </a:spcAft>
              <a:buNone/>
            </a:pPr>
            <a:r>
              <a:rPr lang="ru-RU"/>
              <a:t>Сървърът предлага добра базова защита чрез TLSv1.2 и силни AES шифри, но сигурността му е компрометирана от поддръжката на остарели алгоритми (RC4, 3DES) и изтеклия срок на валидност на сертификата.</a:t>
            </a:r>
            <a:endParaRPr/>
          </a:p>
        </p:txBody>
      </p:sp>
      <p:sp>
        <p:nvSpPr>
          <p:cNvPr id="134" name="Google Shape;134;g2ed7bdf1a28_2_0:notes"/>
          <p:cNvSpPr txBox="1">
            <a:spLocks noGrp="1"/>
          </p:cNvSpPr>
          <p:nvPr>
            <p:ph type="sldNum" idx="12"/>
          </p:nvPr>
        </p:nvSpPr>
        <p:spPr>
          <a:xfrm>
            <a:off x="3884613" y="9429750"/>
            <a:ext cx="29718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bg-BG"/>
              <a:t>10</a:t>
            </a:fld>
            <a:endParaRPr/>
          </a:p>
        </p:txBody>
      </p:sp>
    </p:spTree>
    <p:extLst>
      <p:ext uri="{BB962C8B-B14F-4D97-AF65-F5344CB8AC3E}">
        <p14:creationId xmlns:p14="http://schemas.microsoft.com/office/powerpoint/2010/main" val="33167240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ed7bdf1a28_2_0: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ed7bdf1a28_2_0:notes"/>
          <p:cNvSpPr txBox="1">
            <a:spLocks noGrp="1"/>
          </p:cNvSpPr>
          <p:nvPr>
            <p:ph type="body" idx="1"/>
          </p:nvPr>
        </p:nvSpPr>
        <p:spPr>
          <a:xfrm>
            <a:off x="685800" y="4776788"/>
            <a:ext cx="5486400" cy="3908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ru-RU"/>
              <a:t>	За тази цел използваме командата: </a:t>
            </a:r>
            <a:r>
              <a:rPr lang="ru-RU" b="1"/>
              <a:t>sudo nmap -О localhost</a:t>
            </a:r>
          </a:p>
          <a:p>
            <a:pPr marL="0" lvl="0" indent="0" algn="l" rtl="0">
              <a:spcBef>
                <a:spcPts val="0"/>
              </a:spcBef>
              <a:spcAft>
                <a:spcPts val="0"/>
              </a:spcAft>
              <a:buNone/>
            </a:pPr>
            <a:r>
              <a:rPr lang="ru-RU" b="0"/>
              <a:t>	Когато изпълним тази команда, Nmap ще извърши откриване на Операционна система срещу целевия сървър и ще се опита да идентифицира операционната система, работеща на него въз основа на различни характеристики, включително поведение на TCP/IP стека, отговори на специфични проби и други мрежови характеристики. В случая е открил, че операционната система на нашия сървър е Linux 2.6.x.</a:t>
            </a:r>
          </a:p>
          <a:p>
            <a:pPr marL="0" lvl="0" indent="0" algn="l" rtl="0">
              <a:spcBef>
                <a:spcPts val="0"/>
              </a:spcBef>
              <a:spcAft>
                <a:spcPts val="0"/>
              </a:spcAft>
              <a:buNone/>
            </a:pPr>
            <a:r>
              <a:rPr lang="ru-RU" b="0"/>
              <a:t>	Трябва да имаме предвид, че откриването на ОС може да не е винаги точно, особено ако целевият сървър е конфигуриран да скрива или замъглява своя отпечатък на ОС. Освен това Nmap изисква достатъчно привилегии, за да извърши точно откриване на ОС.</a:t>
            </a:r>
          </a:p>
          <a:p>
            <a:pPr marL="0" lvl="0" indent="0" algn="l" rtl="0">
              <a:spcBef>
                <a:spcPts val="0"/>
              </a:spcBef>
              <a:spcAft>
                <a:spcPts val="0"/>
              </a:spcAft>
              <a:buNone/>
            </a:pPr>
            <a:r>
              <a:rPr lang="ru-RU"/>
              <a:t>	Резултатите от сканирането с инструмента nmap върху хоста dir.bg (IP адрес 194.145.63.12) предоставят важна информация за активните мрежови услуги и операционната система на сървъра. Използваната команда </a:t>
            </a:r>
            <a:r>
              <a:rPr lang="ru-RU" b="1"/>
              <a:t>sudo nmap - dir.bg </a:t>
            </a:r>
            <a:r>
              <a:rPr lang="ru-RU"/>
              <a:t>се опитва да идентифицира операционната система чрез анализ на мрежовите пакети. Nmap не е открил точно съвпадение ("No exact OS matches"), но дава предположения с висока вероятност (92% - 95%), че сървърът използва Linux с ядро в диапазона от 3.10 до 4.9.</a:t>
            </a:r>
            <a:endParaRPr/>
          </a:p>
        </p:txBody>
      </p:sp>
      <p:sp>
        <p:nvSpPr>
          <p:cNvPr id="134" name="Google Shape;134;g2ed7bdf1a28_2_0:notes"/>
          <p:cNvSpPr txBox="1">
            <a:spLocks noGrp="1"/>
          </p:cNvSpPr>
          <p:nvPr>
            <p:ph type="sldNum" idx="12"/>
          </p:nvPr>
        </p:nvSpPr>
        <p:spPr>
          <a:xfrm>
            <a:off x="3884613" y="9429750"/>
            <a:ext cx="29718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bg-BG"/>
              <a:t>11</a:t>
            </a:fld>
            <a:endParaRPr/>
          </a:p>
        </p:txBody>
      </p:sp>
    </p:spTree>
    <p:extLst>
      <p:ext uri="{BB962C8B-B14F-4D97-AF65-F5344CB8AC3E}">
        <p14:creationId xmlns:p14="http://schemas.microsoft.com/office/powerpoint/2010/main" val="34098687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ed7bdf1a28_2_0: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ed7bdf1a28_2_0:notes"/>
          <p:cNvSpPr txBox="1">
            <a:spLocks noGrp="1"/>
          </p:cNvSpPr>
          <p:nvPr>
            <p:ph type="body" idx="1"/>
          </p:nvPr>
        </p:nvSpPr>
        <p:spPr>
          <a:xfrm>
            <a:off x="685800" y="4776788"/>
            <a:ext cx="5486400" cy="3908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ru-RU"/>
              <a:t>	В тази симулирана атака, първата стъпка на хакера е да подготви своя арсенал и да събере информация за целта. На работния плот на Kali Linux се виждат два ключови файла, оградени в синьо: usernames и passwords. Това са така наречените „речници“ или „wordlists“. В сценарий на атака чрез груба сила (brute-force) или разбиване на пароли (dictionary attack), хакерът не гадае на посоки, а използва предварително генерирани списъци с хиляди възможни потребителски имена и пароли. Присъствието на тези файлове на десктопа показва, че атакуващият вече е преминал през етапа на планиране и е идентифицирал, че целта (Metasploitable) има услуги, изискващи автентификация (като SSH, Telnet или FTP), които ще бъдат обект на атаката.</a:t>
            </a:r>
          </a:p>
          <a:p>
            <a:pPr marL="0" lvl="0" indent="0" algn="l" rtl="0">
              <a:spcBef>
                <a:spcPts val="0"/>
              </a:spcBef>
              <a:spcAft>
                <a:spcPts val="0"/>
              </a:spcAft>
              <a:buNone/>
            </a:pPr>
            <a:r>
              <a:rPr lang="ru-RU"/>
              <a:t>	В отворения текстов редактор Mousepad виждаме съдържанието на файла usernames. Хакерът преглежда списък, съдържащ хиляди записи. Маркираният ред 6938 съдържа потребителското име "msfadmin". Това е изключително важен момент в разузнаването, тъй като msfadmin е стандартното потребителско име с администраторски нива за машината Metasploitable. Изборът на това конкретно име в редактора подсказва, че хакерът вероятно подготвя целенасочена атака, като филтрира общия списък до най-вероятните валидни акаунти, за да спести време и да намали шума, който оставя в системните логове на жертвата.</a:t>
            </a:r>
            <a:endParaRPr/>
          </a:p>
        </p:txBody>
      </p:sp>
      <p:sp>
        <p:nvSpPr>
          <p:cNvPr id="134" name="Google Shape;134;g2ed7bdf1a28_2_0:notes"/>
          <p:cNvSpPr txBox="1">
            <a:spLocks noGrp="1"/>
          </p:cNvSpPr>
          <p:nvPr>
            <p:ph type="sldNum" idx="12"/>
          </p:nvPr>
        </p:nvSpPr>
        <p:spPr>
          <a:xfrm>
            <a:off x="3884613" y="9429750"/>
            <a:ext cx="29718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bg-BG"/>
              <a:t>12</a:t>
            </a:fld>
            <a:endParaRPr/>
          </a:p>
        </p:txBody>
      </p:sp>
    </p:spTree>
    <p:extLst>
      <p:ext uri="{BB962C8B-B14F-4D97-AF65-F5344CB8AC3E}">
        <p14:creationId xmlns:p14="http://schemas.microsoft.com/office/powerpoint/2010/main" val="93660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ed7bdf1a28_2_0: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ed7bdf1a28_2_0:notes"/>
          <p:cNvSpPr txBox="1">
            <a:spLocks noGrp="1"/>
          </p:cNvSpPr>
          <p:nvPr>
            <p:ph type="body" idx="1"/>
          </p:nvPr>
        </p:nvSpPr>
        <p:spPr>
          <a:xfrm>
            <a:off x="685800" y="4776788"/>
            <a:ext cx="5486400" cy="3908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ru-RU"/>
              <a:t>	След като подготвихме списъците с потребителски имена и пароли, преминаваме към следващата критична фаза от атаката: активно разузнаване и избор на конкретна мишена в локалната мрежа. На фигурата виждаме как хакерът използва един от най-мощните инструменти за мрежово сканиране, за да картографира наличните услуги.</a:t>
            </a:r>
          </a:p>
          <a:p>
            <a:pPr marL="0" lvl="0" indent="0" algn="l" rtl="0">
              <a:spcBef>
                <a:spcPts val="0"/>
              </a:spcBef>
              <a:spcAft>
                <a:spcPts val="0"/>
              </a:spcAft>
              <a:buNone/>
            </a:pPr>
            <a:r>
              <a:rPr lang="ru-RU"/>
              <a:t>	Хакерът изпълнява командата </a:t>
            </a:r>
            <a:r>
              <a:rPr lang="ru-RU" b="1"/>
              <a:t>nmap -A 10.0.2.0/24</a:t>
            </a:r>
            <a:r>
              <a:rPr lang="ru-RU"/>
              <a:t>. Изборът на флаг -A е много важен - той активира т.нар. „агресивен режим“, който включва откриване на операционна система, версии на услугите, изпълнение на скриптове за проверка и трасиране. Мрежовият диапазон 10.0.2.0/24 показва, че хакерът сканира цялата подмрежа, за да открие кои машини са активни.</a:t>
            </a:r>
          </a:p>
          <a:p>
            <a:pPr marL="0" lvl="0" indent="0" algn="l" rtl="0">
              <a:spcBef>
                <a:spcPts val="0"/>
              </a:spcBef>
              <a:spcAft>
                <a:spcPts val="0"/>
              </a:spcAft>
              <a:buNone/>
            </a:pPr>
            <a:r>
              <a:rPr lang="ru-RU"/>
              <a:t>	Скенерът бързо открива хост с IP адрес 10.0.2.4, който показва изключително висока активност и множество отворени портове. FTP (порт 21): Версията е идентифицирана като vsftpd 2.3.4. Нещо повече, nmap веднага открива критична конфигурационна грешка: "Anonymous FTP login allowed". Това е "златна мина" за хакера, тъй като позволява достъп до файловата система без парола.</a:t>
            </a:r>
          </a:p>
          <a:p>
            <a:pPr marL="0" lvl="0" indent="0" algn="l" rtl="0">
              <a:spcBef>
                <a:spcPts val="0"/>
              </a:spcBef>
              <a:spcAft>
                <a:spcPts val="0"/>
              </a:spcAft>
              <a:buNone/>
            </a:pPr>
            <a:endParaRPr/>
          </a:p>
        </p:txBody>
      </p:sp>
      <p:sp>
        <p:nvSpPr>
          <p:cNvPr id="134" name="Google Shape;134;g2ed7bdf1a28_2_0:notes"/>
          <p:cNvSpPr txBox="1">
            <a:spLocks noGrp="1"/>
          </p:cNvSpPr>
          <p:nvPr>
            <p:ph type="sldNum" idx="12"/>
          </p:nvPr>
        </p:nvSpPr>
        <p:spPr>
          <a:xfrm>
            <a:off x="3884613" y="9429750"/>
            <a:ext cx="29718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bg-BG"/>
              <a:t>13</a:t>
            </a:fld>
            <a:endParaRPr/>
          </a:p>
        </p:txBody>
      </p:sp>
    </p:spTree>
    <p:extLst>
      <p:ext uri="{BB962C8B-B14F-4D97-AF65-F5344CB8AC3E}">
        <p14:creationId xmlns:p14="http://schemas.microsoft.com/office/powerpoint/2010/main" val="41125877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ed7bdf1a28_2_0: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ed7bdf1a28_2_0:notes"/>
          <p:cNvSpPr txBox="1">
            <a:spLocks noGrp="1"/>
          </p:cNvSpPr>
          <p:nvPr>
            <p:ph type="body" idx="1"/>
          </p:nvPr>
        </p:nvSpPr>
        <p:spPr>
          <a:xfrm>
            <a:off x="685800" y="4776788"/>
            <a:ext cx="5486400" cy="3908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ru-RU"/>
              <a:t>	На фигурата виждаме финализирането на агресивното сканиране, което започна в предишната стъпка. От гледна точка на хакера, информацията тук е „подписът“ на машината жертва, който му позволява да разбере в детайли вътрешната структура на операционната система и мрежовите протоколи, които тя използва.</a:t>
            </a:r>
          </a:p>
          <a:p>
            <a:pPr marL="0" lvl="0" indent="0" algn="l" rtl="0">
              <a:spcBef>
                <a:spcPts val="0"/>
              </a:spcBef>
              <a:spcAft>
                <a:spcPts val="0"/>
              </a:spcAft>
              <a:buNone/>
            </a:pPr>
            <a:r>
              <a:rPr lang="ru-RU"/>
              <a:t>	Благодарение на скриптовете за сканиране на SMB (Server Message Block) протокола, хакерът успява да извлече изключително точна информация за идентичността на машината. </a:t>
            </a:r>
          </a:p>
          <a:p>
            <a:pPr marL="0" lvl="0" indent="0" algn="l" rtl="0">
              <a:spcBef>
                <a:spcPts val="0"/>
              </a:spcBef>
              <a:spcAft>
                <a:spcPts val="0"/>
              </a:spcAft>
              <a:buNone/>
            </a:pPr>
            <a:r>
              <a:rPr lang="ru-RU" b="1"/>
              <a:t>NetBIOS име</a:t>
            </a:r>
            <a:r>
              <a:rPr lang="ru-RU"/>
              <a:t>: Системата се идентифицира като METASPLOITABLE. </a:t>
            </a:r>
          </a:p>
          <a:p>
            <a:pPr marL="0" lvl="0" indent="0" algn="l" rtl="0">
              <a:spcBef>
                <a:spcPts val="0"/>
              </a:spcBef>
              <a:spcAft>
                <a:spcPts val="0"/>
              </a:spcAft>
              <a:buNone/>
            </a:pPr>
            <a:r>
              <a:rPr lang="ru-RU" b="1"/>
              <a:t>Версия на операционната система</a:t>
            </a:r>
            <a:r>
              <a:rPr lang="ru-RU"/>
              <a:t>: Скенерът прецизира, че под капака работи Unix (Samba 3.0.20-Debian). Това е критична информация, защото конкретната версия на Samba (3.0.20) е известна с тежки уязвимости (като SambaCry или Username map script), които позволяват отдалечено изпълнение на код без нужда от парола.</a:t>
            </a:r>
          </a:p>
          <a:p>
            <a:pPr marL="0" lvl="0" indent="0" algn="l" rtl="0">
              <a:spcBef>
                <a:spcPts val="0"/>
              </a:spcBef>
              <a:spcAft>
                <a:spcPts val="0"/>
              </a:spcAft>
              <a:buNone/>
            </a:pPr>
            <a:r>
              <a:rPr lang="ru-RU" b="1"/>
              <a:t>Домейн и време: </a:t>
            </a:r>
            <a:r>
              <a:rPr lang="ru-RU"/>
              <a:t>Виждаме, че машината принадлежи към работна група localdomain и има системно време, синхронизирано с момента на атаката.</a:t>
            </a:r>
          </a:p>
          <a:p>
            <a:pPr marL="0" lvl="0" indent="0" algn="l" rtl="0">
              <a:spcBef>
                <a:spcPts val="0"/>
              </a:spcBef>
              <a:spcAft>
                <a:spcPts val="0"/>
              </a:spcAft>
              <a:buNone/>
            </a:pPr>
            <a:r>
              <a:rPr lang="ru-RU"/>
              <a:t>	Един от най-важните редове за хакера тук е </a:t>
            </a:r>
            <a:r>
              <a:rPr lang="ru-RU" b="1"/>
              <a:t>message_signing: disabled (dangerous, but default)</a:t>
            </a:r>
            <a:r>
              <a:rPr lang="ru-RU"/>
              <a:t>. Липсата на подписване на съобщенията в SMB протокола е класическа сериозна слабост. Тя позволява на атакуващия да извърши т.нар. SMB Relay атака, при която може да прехване сесия на легитимен потребител и да я „препрати“ към сървъра, за да получи неоторизиран достъп. Описанието "dangerous" в самия софтуер nmap подчертава колко лесна мишена е това.</a:t>
            </a:r>
          </a:p>
          <a:p>
            <a:pPr marL="0" lvl="0" indent="0" algn="l" rtl="0">
              <a:spcBef>
                <a:spcPts val="0"/>
              </a:spcBef>
              <a:spcAft>
                <a:spcPts val="0"/>
              </a:spcAft>
              <a:buNone/>
            </a:pPr>
            <a:endParaRPr/>
          </a:p>
        </p:txBody>
      </p:sp>
      <p:sp>
        <p:nvSpPr>
          <p:cNvPr id="134" name="Google Shape;134;g2ed7bdf1a28_2_0:notes"/>
          <p:cNvSpPr txBox="1">
            <a:spLocks noGrp="1"/>
          </p:cNvSpPr>
          <p:nvPr>
            <p:ph type="sldNum" idx="12"/>
          </p:nvPr>
        </p:nvSpPr>
        <p:spPr>
          <a:xfrm>
            <a:off x="3884613" y="9429750"/>
            <a:ext cx="29718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bg-BG"/>
              <a:t>14</a:t>
            </a:fld>
            <a:endParaRPr/>
          </a:p>
        </p:txBody>
      </p:sp>
    </p:spTree>
    <p:extLst>
      <p:ext uri="{BB962C8B-B14F-4D97-AF65-F5344CB8AC3E}">
        <p14:creationId xmlns:p14="http://schemas.microsoft.com/office/powerpoint/2010/main" val="24307271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ed7bdf1a28_2_0: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ed7bdf1a28_2_0:notes"/>
          <p:cNvSpPr txBox="1">
            <a:spLocks noGrp="1"/>
          </p:cNvSpPr>
          <p:nvPr>
            <p:ph type="body" idx="1"/>
          </p:nvPr>
        </p:nvSpPr>
        <p:spPr>
          <a:xfrm>
            <a:off x="685800" y="4776788"/>
            <a:ext cx="5486400" cy="39084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ru-RU"/>
              <a:t>	На фигурата  виждаме използването на един от най-популярните инструменти за паралелно разбиване на пароли, а именно Hydra. Хакерът изпълнява следната команда </a:t>
            </a:r>
            <a:r>
              <a:rPr lang="ru-RU" b="1"/>
              <a:t>hydra -L usernames -P passwords 10.0.2.4 ftp</a:t>
            </a:r>
            <a:r>
              <a:rPr lang="ru-RU"/>
              <a:t>.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ru-RU"/>
              <a:t>Хакерът насочва атаката към IP адреса на Metasploitable, фокусирайки се върху FTP услугата на порт 21. Изборът на FTP е стратегически, тъй като в предишната стъпка видяхме, че версията е остаряла и позволява анонимен достъп, което предполага по-слаби защити.</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ru-RU"/>
              <a:t>	Терминалът показва активна сесия на Hydra, която извършва приблизително 290-296 опита в минута. Хакерът наблюдава статуса в реално време, като вижда общия брой задачи (над 18,000) и прогреса на опитите. Наличието на файла hydra.restore на работния плот (ограден в синьо) е критично - това означава, че атакуващият е подготвен за дълъг процес. Ако връзката прекъсне или машината се рестартира, този файл позволява на хакера да възобнови атаката точно оттам, докъдето е стигнал, без да губи прогрес.</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ru-RU"/>
              <a:t>	В десния ъгъл виждаме отворен текстовия редактор със списъка usernames, където отново е маркирано името msfadmin. В хода на атаката хакерът осъзнава, че използването на огромни списъци с хиляди записи (над 6000 реда) прави операцията твърде бавна и лесна за засичане от системи за сигурност. Затова той преминава към фаза на редакция и филтриране.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ru-RU"/>
              <a:t>	В отворения текстов редактор виждаме как атакуващият оставя само най-ключовите и вероятни записи, като съкращава списъците до малко над 100 реда. Маркирането на msfadmin в двата файла (usernames и passwords) не е просто проверка, а целенасочено преместване на тези данни в началото на списъка, за да се гарантира, че атаката ще приключи успешно в рамките на минути, а не часове.</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bg-BG"/>
          </a:p>
          <a:p>
            <a:pPr marL="0" lvl="0" indent="0" algn="l" rtl="0">
              <a:spcBef>
                <a:spcPts val="0"/>
              </a:spcBef>
              <a:spcAft>
                <a:spcPts val="0"/>
              </a:spcAft>
              <a:buNone/>
            </a:pPr>
            <a:endParaRPr/>
          </a:p>
        </p:txBody>
      </p:sp>
      <p:sp>
        <p:nvSpPr>
          <p:cNvPr id="134" name="Google Shape;134;g2ed7bdf1a28_2_0:notes"/>
          <p:cNvSpPr txBox="1">
            <a:spLocks noGrp="1"/>
          </p:cNvSpPr>
          <p:nvPr>
            <p:ph type="sldNum" idx="12"/>
          </p:nvPr>
        </p:nvSpPr>
        <p:spPr>
          <a:xfrm>
            <a:off x="3884613" y="9429750"/>
            <a:ext cx="29718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bg-BG"/>
              <a:t>15</a:t>
            </a:fld>
            <a:endParaRPr/>
          </a:p>
        </p:txBody>
      </p:sp>
    </p:spTree>
    <p:extLst>
      <p:ext uri="{BB962C8B-B14F-4D97-AF65-F5344CB8AC3E}">
        <p14:creationId xmlns:p14="http://schemas.microsoft.com/office/powerpoint/2010/main" val="24936925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ed7bdf1a28_2_0: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ed7bdf1a28_2_0:notes"/>
          <p:cNvSpPr txBox="1">
            <a:spLocks noGrp="1"/>
          </p:cNvSpPr>
          <p:nvPr>
            <p:ph type="body" idx="1"/>
          </p:nvPr>
        </p:nvSpPr>
        <p:spPr>
          <a:xfrm>
            <a:off x="685800" y="4776788"/>
            <a:ext cx="5486400" cy="3908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ru-RU"/>
              <a:t>	В терминала се вижда как хакерът рестартира атаката с </a:t>
            </a:r>
            <a:r>
              <a:rPr lang="ru-RU" b="1"/>
              <a:t>hydra -L usernames -P passwords 10.0.2.4 ftp</a:t>
            </a:r>
            <a:r>
              <a:rPr lang="ru-RU"/>
              <a:t>. Инструментът разпознава съществуващия файл hydra.restore и дава 10-секунден прозорец за отказ, но хакерът продължава напред с новите, по-кратки списъци. Резултатът от оптимизацията е виден веднага: броят на комбинациите (login tries) е паднал драстично до 10,201 (спрямо милионите в началото), което прави атаката изключително бърза.</a:t>
            </a:r>
          </a:p>
          <a:p>
            <a:pPr marL="0" lvl="0" indent="0" algn="l" rtl="0">
              <a:spcBef>
                <a:spcPts val="0"/>
              </a:spcBef>
              <a:spcAft>
                <a:spcPts val="0"/>
              </a:spcAft>
              <a:buNone/>
            </a:pPr>
            <a:r>
              <a:rPr lang="ru-RU"/>
              <a:t>	В 16:52:51 ч. Hydra извежда критичния за хакера резултат, маркиран в зелено: </a:t>
            </a:r>
            <a:r>
              <a:rPr lang="ru-RU" b="1"/>
              <a:t>[21][ftp] host: 10.0.2.4 login: msfadmin password: msfadmin</a:t>
            </a:r>
            <a:r>
              <a:rPr lang="ru-RU"/>
              <a:t>. Това е моментът на „пробива“. От гледна точка на хакера, тази информация означава, че се потвърждава подозрението, че системният администратор е оставил фабричните настройки за достъп непроменени. Хакерът вече има легитимен достъп до FTP сървъра, което му позволява да качва зловреден софтуер (backdoors), да тегли чувствителни конфигурационни файлове или да изтрива данни. </a:t>
            </a:r>
          </a:p>
          <a:p>
            <a:pPr marL="0" lvl="0" indent="0" algn="l" rtl="0">
              <a:spcBef>
                <a:spcPts val="0"/>
              </a:spcBef>
              <a:spcAft>
                <a:spcPts val="0"/>
              </a:spcAft>
              <a:buNone/>
            </a:pPr>
            <a:r>
              <a:rPr lang="ru-RU"/>
              <a:t>	Атакуващият приключва сесията със съобщението </a:t>
            </a:r>
            <a:r>
              <a:rPr lang="ru-RU" b="1"/>
              <a:t>1 of 1 target successfully completed, 1 valid password found</a:t>
            </a:r>
            <a:r>
              <a:rPr lang="ru-RU"/>
              <a:t>. Това е перфектният пример как разузнаването и подготовката на данните водят до директен успех при експлоатацията. Хакерът е доказал, че дори проста атака с груба сила е опустошителна, когато защитата е оставена на настройки по подразбиране.</a:t>
            </a:r>
          </a:p>
          <a:p>
            <a:pPr marL="0" lvl="0" indent="0" algn="l" rtl="0">
              <a:spcBef>
                <a:spcPts val="0"/>
              </a:spcBef>
              <a:spcAft>
                <a:spcPts val="0"/>
              </a:spcAft>
              <a:buNone/>
            </a:pPr>
            <a:endParaRPr/>
          </a:p>
        </p:txBody>
      </p:sp>
      <p:sp>
        <p:nvSpPr>
          <p:cNvPr id="134" name="Google Shape;134;g2ed7bdf1a28_2_0:notes"/>
          <p:cNvSpPr txBox="1">
            <a:spLocks noGrp="1"/>
          </p:cNvSpPr>
          <p:nvPr>
            <p:ph type="sldNum" idx="12"/>
          </p:nvPr>
        </p:nvSpPr>
        <p:spPr>
          <a:xfrm>
            <a:off x="3884613" y="9429750"/>
            <a:ext cx="29718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bg-BG"/>
              <a:t>16</a:t>
            </a:fld>
            <a:endParaRPr/>
          </a:p>
        </p:txBody>
      </p:sp>
    </p:spTree>
    <p:extLst>
      <p:ext uri="{BB962C8B-B14F-4D97-AF65-F5344CB8AC3E}">
        <p14:creationId xmlns:p14="http://schemas.microsoft.com/office/powerpoint/2010/main" val="13053180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ed7bdf1a28_2_0: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ed7bdf1a28_2_0:notes"/>
          <p:cNvSpPr txBox="1">
            <a:spLocks noGrp="1"/>
          </p:cNvSpPr>
          <p:nvPr>
            <p:ph type="body" idx="1"/>
          </p:nvPr>
        </p:nvSpPr>
        <p:spPr>
          <a:xfrm>
            <a:off x="685800" y="4776788"/>
            <a:ext cx="5486400" cy="3908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ru-RU"/>
              <a:t>	На фигурата виждаме финалната и най-успешна фаза от атаката, а именно установяване на отдалечен достъп и поемане на контрол над целевата машина чрез SSH. Хакерът прилага на практика валидните данни, които извлече чрез груба сила в предходната стъпка.</a:t>
            </a:r>
          </a:p>
          <a:p>
            <a:pPr marL="0" lvl="0" indent="0" algn="l" rtl="0">
              <a:spcBef>
                <a:spcPts val="0"/>
              </a:spcBef>
              <a:spcAft>
                <a:spcPts val="0"/>
              </a:spcAft>
              <a:buNone/>
            </a:pPr>
            <a:r>
              <a:rPr lang="ru-RU"/>
              <a:t>	Първоначално хакерът се опитва да влезе в системата чрез стандартната команда </a:t>
            </a:r>
            <a:r>
              <a:rPr lang="ru-RU" b="1"/>
              <a:t>ssh msfadmin@10.0.2.4</a:t>
            </a:r>
            <a:r>
              <a:rPr lang="ru-RU"/>
              <a:t>, но се сблъсква с техническа пречка: "Unable to negotiate... no matching host key type found". Това се дължи на факта, че Metasploitable използва изключително стара версия на SSH (открита при сканирането в началото), чиито алгоритми за криптиране вече се считат за несигурни и са деактивирани в модерния Kali Linux. Атакуващият обаче демонстрира технически познания и веднага адаптира командата си, за да принуди клиента да приеме стария алгоритъм: </a:t>
            </a:r>
            <a:r>
              <a:rPr lang="ru-RU" b="1"/>
              <a:t>ssh -oHostKeyAlgorithms=+ssh-rsa msfadmin@10.0.2.4</a:t>
            </a:r>
            <a:r>
              <a:rPr lang="ru-RU"/>
              <a:t>. Тази гъвкавост позволява на хакера да установи връзка, въпреки защитните механизми на съвременната си операционна система.</a:t>
            </a:r>
          </a:p>
          <a:p>
            <a:pPr marL="0" lvl="0" indent="0" algn="l" rtl="0">
              <a:spcBef>
                <a:spcPts val="0"/>
              </a:spcBef>
              <a:spcAft>
                <a:spcPts val="0"/>
              </a:spcAft>
              <a:buNone/>
            </a:pPr>
            <a:r>
              <a:rPr lang="ru-RU"/>
              <a:t>	След като приема "отпечатъка" (fingerprint) на отдалечения хост, хакерът въвежда разбитата парола msfadmin. Терминалът показва успешно влизане и ни посреща с банера на Metasploitable 2. Командният ред се променя на msfadmin@metasploitable:~$. Това означава, че хакерът вече не е външен наблюдател, а има легитимна сесия вътре в сървъра. Потвърждава се версията на Linux ядрото (2.6.24), което хакерът вече беше предположил по време на разузнаването с nmap.</a:t>
            </a:r>
            <a:endParaRPr/>
          </a:p>
        </p:txBody>
      </p:sp>
      <p:sp>
        <p:nvSpPr>
          <p:cNvPr id="134" name="Google Shape;134;g2ed7bdf1a28_2_0:notes"/>
          <p:cNvSpPr txBox="1">
            <a:spLocks noGrp="1"/>
          </p:cNvSpPr>
          <p:nvPr>
            <p:ph type="sldNum" idx="12"/>
          </p:nvPr>
        </p:nvSpPr>
        <p:spPr>
          <a:xfrm>
            <a:off x="3884613" y="9429750"/>
            <a:ext cx="29718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bg-BG"/>
              <a:t>17</a:t>
            </a:fld>
            <a:endParaRPr/>
          </a:p>
        </p:txBody>
      </p:sp>
    </p:spTree>
    <p:extLst>
      <p:ext uri="{BB962C8B-B14F-4D97-AF65-F5344CB8AC3E}">
        <p14:creationId xmlns:p14="http://schemas.microsoft.com/office/powerpoint/2010/main" val="28308873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ed7bdf1a28_2_0: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ed7bdf1a28_2_0:notes"/>
          <p:cNvSpPr txBox="1">
            <a:spLocks noGrp="1"/>
          </p:cNvSpPr>
          <p:nvPr>
            <p:ph type="body" idx="1"/>
          </p:nvPr>
        </p:nvSpPr>
        <p:spPr>
          <a:xfrm>
            <a:off x="685800" y="4776788"/>
            <a:ext cx="5486400" cy="3908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ru-RU"/>
              <a:t>	Първата стъпка на хакера след влизането е изпълнението на командата </a:t>
            </a:r>
            <a:r>
              <a:rPr lang="ru-RU" b="1"/>
              <a:t>whoami</a:t>
            </a:r>
            <a:r>
              <a:rPr lang="ru-RU"/>
              <a:t>. Тя връща резултат msfadmin, което потвърждава, че сесията е активна и атакуващият знае точно с кои потребителски права разполага в момента. Макар msfadmin да не е директно "root", в Metasploitable този акаунт има широки sudo права, което е следващото нещо, което хакерът тества.</a:t>
            </a:r>
          </a:p>
          <a:p>
            <a:pPr marL="0" lvl="0" indent="0" algn="l" rtl="0">
              <a:spcBef>
                <a:spcPts val="0"/>
              </a:spcBef>
              <a:spcAft>
                <a:spcPts val="0"/>
              </a:spcAft>
              <a:buNone/>
            </a:pPr>
            <a:r>
              <a:rPr lang="ru-RU"/>
              <a:t>За да не бъде разкрит или за да има резервен вход, ако паролата на msfadmin бъде сменена, атакуващият решава да създаде собствен потребител в системата. Той използва командата </a:t>
            </a:r>
            <a:r>
              <a:rPr lang="ru-RU" b="1"/>
              <a:t>sudo useradd kali</a:t>
            </a:r>
            <a:r>
              <a:rPr lang="ru-RU"/>
              <a:t>. Използването на sudo изисква паролата на msfadmin, която хакерът вече знае от успешната атака. Успешното изпълнение на тази команда без грешка показва, че хакерът реално притежава административен контрол над машината.</a:t>
            </a:r>
          </a:p>
          <a:p>
            <a:pPr marL="0" lvl="0" indent="0" algn="l" rtl="0">
              <a:spcBef>
                <a:spcPts val="0"/>
              </a:spcBef>
              <a:spcAft>
                <a:spcPts val="0"/>
              </a:spcAft>
              <a:buNone/>
            </a:pPr>
            <a:r>
              <a:rPr lang="ru-RU"/>
              <a:t>	Последната стъпка е задаването на парола за новосъздадения потребител чрез </a:t>
            </a:r>
            <a:r>
              <a:rPr lang="ru-RU" b="1"/>
              <a:t>sudo passwd kali</a:t>
            </a:r>
            <a:r>
              <a:rPr lang="ru-RU"/>
              <a:t>. Хакерът въвежда и потвърждава нова парола, при което системата отговаря с "password updated successfully". С това действие атакуващият е постигнал критична цел, а именно вече има нов, легитимен за системата потребител kali, през който може да влиза по всяко време. В системните логове действията на потребителя kali могат да изглеждат по-малко подозрителни от постоянни влизания през msfadmin, ако администраторът реши да провери активността.</a:t>
            </a:r>
          </a:p>
          <a:p>
            <a:pPr marL="0" lvl="0" indent="0" algn="l" rtl="0">
              <a:spcBef>
                <a:spcPts val="0"/>
              </a:spcBef>
              <a:spcAft>
                <a:spcPts val="0"/>
              </a:spcAft>
              <a:buNone/>
            </a:pPr>
            <a:r>
              <a:rPr lang="ru-RU"/>
              <a:t>	Атакуващият е демонстрирал, че веднъж придобит достъп до паролата на административен акаунт чрез груба сила, следващата логична стъпка е модифициране на базата данни с потребители на операционната система, за да се гарантира, че „вратата“ остава отворена за бъдещи атаки.</a:t>
            </a:r>
          </a:p>
          <a:p>
            <a:pPr marL="0" lvl="0" indent="0" algn="l" rtl="0">
              <a:spcBef>
                <a:spcPts val="0"/>
              </a:spcBef>
              <a:spcAft>
                <a:spcPts val="0"/>
              </a:spcAft>
              <a:buNone/>
            </a:pPr>
            <a:r>
              <a:rPr lang="ru-RU"/>
              <a:t>	Хакерът излиза от сесията на msfadmin и незабавно се опитва да влезе отново, но този път чрез новия потребител kali. Успешното влизане потвърждава, че създаденият в предишната стъпка потребител е напълно функционален в системата на жертвата.</a:t>
            </a:r>
          </a:p>
          <a:p>
            <a:pPr marL="0" lvl="0" indent="0" algn="l" rtl="0">
              <a:spcBef>
                <a:spcPts val="0"/>
              </a:spcBef>
              <a:spcAft>
                <a:spcPts val="0"/>
              </a:spcAft>
              <a:buNone/>
            </a:pPr>
            <a:r>
              <a:rPr lang="ru-RU"/>
              <a:t>	След влизането хакерът получава съобщение, че домашната директория /home/kali не съществува, тъй като при създаването на потребителя не е бил използван флаг за автоматичното ѝ генериране. Това обаче не го спира. Той започва активно да изследва структурата на сървъра. </a:t>
            </a:r>
          </a:p>
          <a:p>
            <a:pPr marL="0" lvl="0" indent="0" algn="l" rtl="0">
              <a:spcBef>
                <a:spcPts val="0"/>
              </a:spcBef>
              <a:spcAft>
                <a:spcPts val="0"/>
              </a:spcAft>
              <a:buNone/>
            </a:pPr>
            <a:r>
              <a:rPr lang="ru-RU"/>
              <a:t>	Хакерът изпълнява команда ls, за да види всички основни системни папки като etc, bin, root, var и tmp. Това му дава представа за разпределението на файловете и къде може да се крие чувствителна информация. Атакуващият се насочва към директорията /usr чрез cd usr и отново изброява съдържанието ѝ. Търсенето в тези папки често има за цел откриване на инсталиран софтуер, конфигурационни скриптове или двоични файлове, които могат да бъдат експлоатирани за по-нататъшна ескалация на привилегиите до ниво "root".</a:t>
            </a:r>
          </a:p>
          <a:p>
            <a:pPr marL="0" lvl="0" indent="0" algn="l" rtl="0">
              <a:spcBef>
                <a:spcPts val="0"/>
              </a:spcBef>
              <a:spcAft>
                <a:spcPts val="0"/>
              </a:spcAft>
              <a:buNone/>
            </a:pPr>
            <a:endParaRPr lang="ru-RU"/>
          </a:p>
          <a:p>
            <a:pPr marL="0" lvl="0" indent="0" algn="l" rtl="0">
              <a:spcBef>
                <a:spcPts val="0"/>
              </a:spcBef>
              <a:spcAft>
                <a:spcPts val="0"/>
              </a:spcAft>
              <a:buNone/>
            </a:pPr>
            <a:endParaRPr/>
          </a:p>
        </p:txBody>
      </p:sp>
      <p:sp>
        <p:nvSpPr>
          <p:cNvPr id="134" name="Google Shape;134;g2ed7bdf1a28_2_0:notes"/>
          <p:cNvSpPr txBox="1">
            <a:spLocks noGrp="1"/>
          </p:cNvSpPr>
          <p:nvPr>
            <p:ph type="sldNum" idx="12"/>
          </p:nvPr>
        </p:nvSpPr>
        <p:spPr>
          <a:xfrm>
            <a:off x="3884613" y="9429750"/>
            <a:ext cx="29718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bg-BG"/>
              <a:t>18</a:t>
            </a:fld>
            <a:endParaRPr/>
          </a:p>
        </p:txBody>
      </p:sp>
    </p:spTree>
    <p:extLst>
      <p:ext uri="{BB962C8B-B14F-4D97-AF65-F5344CB8AC3E}">
        <p14:creationId xmlns:p14="http://schemas.microsoft.com/office/powerpoint/2010/main" val="22141016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ed7bdf1a28_2_0: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ed7bdf1a28_2_0:notes"/>
          <p:cNvSpPr txBox="1">
            <a:spLocks noGrp="1"/>
          </p:cNvSpPr>
          <p:nvPr>
            <p:ph type="body" idx="1"/>
          </p:nvPr>
        </p:nvSpPr>
        <p:spPr>
          <a:xfrm>
            <a:off x="685800" y="4776788"/>
            <a:ext cx="5486400" cy="3908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ru-RU"/>
              <a:t>	Фигурата показва преминаването на хакера към фазата на извличане на данни. След като вече е установил устойчиво присъствие и е проучил системните директории, атакуващият се фокусира върху извличането на конкретна ценна информация от машината на жертвата към своята атакуваща машина Kali.</a:t>
            </a:r>
          </a:p>
          <a:p>
            <a:pPr marL="0" lvl="0" indent="0" algn="l" rtl="0">
              <a:spcBef>
                <a:spcPts val="0"/>
              </a:spcBef>
              <a:spcAft>
                <a:spcPts val="0"/>
              </a:spcAft>
              <a:buNone/>
            </a:pPr>
            <a:r>
              <a:rPr lang="ru-RU"/>
              <a:t>	В левия терминал виждаме, че хакерът отново е влязъл като msfadmin. След изпълнение на командата ls, той открива папка или файл с име vulnerable директно в домашната директория. Това представлява откриването на целта - конфиденциални данни, документи или софтуерен код, които са обект на атаката.</a:t>
            </a:r>
          </a:p>
          <a:p>
            <a:pPr marL="0" lvl="0" indent="0" algn="l" rtl="0">
              <a:spcBef>
                <a:spcPts val="0"/>
              </a:spcBef>
              <a:spcAft>
                <a:spcPts val="0"/>
              </a:spcAft>
              <a:buNone/>
            </a:pPr>
            <a:r>
              <a:rPr lang="ru-RU"/>
              <a:t>	В десния терминал хакерът подготвя команда за сигурно копиране на информацията през мрежата. Той използва инструмента scp (Secure Copy Protocol), който работи върху SSH протокола. Командата е </a:t>
            </a:r>
            <a:r>
              <a:rPr lang="ru-RU" b="1"/>
              <a:t>scp -oHostKeyAlgorithms=+ssh-rsa -r msfadmin@10.0.2.4:vulnerable Desktop</a:t>
            </a:r>
            <a:r>
              <a:rPr lang="ru-RU"/>
              <a:t>.</a:t>
            </a:r>
          </a:p>
          <a:p>
            <a:pPr marL="0" lvl="0" indent="0" algn="l" rtl="0">
              <a:spcBef>
                <a:spcPts val="0"/>
              </a:spcBef>
              <a:spcAft>
                <a:spcPts val="0"/>
              </a:spcAft>
              <a:buNone/>
            </a:pPr>
            <a:r>
              <a:rPr lang="ru-RU"/>
              <a:t>	-oHostKeyAlgorithms=+ssh-rsa: Отново се налага използването на този флаг, за да може модерната машина Kali да комуникира със старата SSH версия на Metasploitable.</a:t>
            </a:r>
          </a:p>
          <a:p>
            <a:pPr marL="0" lvl="0" indent="0" algn="l" rtl="0">
              <a:spcBef>
                <a:spcPts val="0"/>
              </a:spcBef>
              <a:spcAft>
                <a:spcPts val="0"/>
              </a:spcAft>
              <a:buNone/>
            </a:pPr>
            <a:r>
              <a:rPr lang="ru-RU"/>
              <a:t>	-r: Този флаг означава „рекурсивно“ (recursive). Хакерът го използва, защото vulnerable вероятно е директория, съдържаща множество файлове, и той иска да копира всичко вътре с една команда.</a:t>
            </a:r>
          </a:p>
          <a:p>
            <a:pPr marL="0" lvl="0" indent="0" algn="l" rtl="0">
              <a:spcBef>
                <a:spcPts val="0"/>
              </a:spcBef>
              <a:spcAft>
                <a:spcPts val="0"/>
              </a:spcAft>
              <a:buNone/>
            </a:pPr>
            <a:r>
              <a:rPr lang="ru-RU"/>
              <a:t>	-msfadmin@10.0.2.4:vulnerable: Посочва се източникът - потребителят и адресът на жертвата, последвани от пътя до обекта за кражба.</a:t>
            </a:r>
          </a:p>
          <a:p>
            <a:pPr marL="0" lvl="0" indent="0" algn="l" rtl="0">
              <a:spcBef>
                <a:spcPts val="0"/>
              </a:spcBef>
              <a:spcAft>
                <a:spcPts val="0"/>
              </a:spcAft>
              <a:buNone/>
            </a:pPr>
            <a:r>
              <a:rPr lang="ru-RU"/>
              <a:t>	-Desktop: Това е крайната дестинация - работният плот на атакуващата машина.</a:t>
            </a:r>
          </a:p>
          <a:p>
            <a:pPr marL="0" lvl="0" indent="0" algn="l" rtl="0">
              <a:spcBef>
                <a:spcPts val="0"/>
              </a:spcBef>
              <a:spcAft>
                <a:spcPts val="0"/>
              </a:spcAft>
              <a:buNone/>
            </a:pPr>
            <a:endParaRPr lang="ru-RU"/>
          </a:p>
          <a:p>
            <a:pPr marL="0" lvl="0" indent="0" algn="l" rtl="0">
              <a:spcBef>
                <a:spcPts val="0"/>
              </a:spcBef>
              <a:spcAft>
                <a:spcPts val="0"/>
              </a:spcAft>
              <a:buNone/>
            </a:pPr>
            <a:endParaRPr/>
          </a:p>
        </p:txBody>
      </p:sp>
      <p:sp>
        <p:nvSpPr>
          <p:cNvPr id="134" name="Google Shape;134;g2ed7bdf1a28_2_0:notes"/>
          <p:cNvSpPr txBox="1">
            <a:spLocks noGrp="1"/>
          </p:cNvSpPr>
          <p:nvPr>
            <p:ph type="sldNum" idx="12"/>
          </p:nvPr>
        </p:nvSpPr>
        <p:spPr>
          <a:xfrm>
            <a:off x="3884613" y="9429750"/>
            <a:ext cx="29718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bg-BG"/>
              <a:t>19</a:t>
            </a:fld>
            <a:endParaRPr/>
          </a:p>
        </p:txBody>
      </p:sp>
    </p:spTree>
    <p:extLst>
      <p:ext uri="{BB962C8B-B14F-4D97-AF65-F5344CB8AC3E}">
        <p14:creationId xmlns:p14="http://schemas.microsoft.com/office/powerpoint/2010/main" val="1400811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ed7bdf1a28_2_0: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ed7bdf1a28_2_0:notes"/>
          <p:cNvSpPr txBox="1">
            <a:spLocks noGrp="1"/>
          </p:cNvSpPr>
          <p:nvPr>
            <p:ph type="body" idx="1"/>
          </p:nvPr>
        </p:nvSpPr>
        <p:spPr>
          <a:xfrm>
            <a:off x="685800" y="4776788"/>
            <a:ext cx="5486400" cy="3908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ru-RU"/>
              <a:t>	Тук виждаме как хакерът материализира всички предходни усилия, превръщайки достъпа си в реални активи на своя десктоп.	</a:t>
            </a:r>
          </a:p>
          <a:p>
            <a:pPr marL="0" lvl="0" indent="0" algn="l" rtl="0">
              <a:spcBef>
                <a:spcPts val="0"/>
              </a:spcBef>
              <a:spcAft>
                <a:spcPts val="0"/>
              </a:spcAft>
              <a:buNone/>
            </a:pPr>
            <a:r>
              <a:rPr lang="ru-RU"/>
              <a:t>	В десния горен терминал виждаме резултата от изпълнената в предната стъпка команда scp. Списъкът от файлове с разширение .tmpl и архиви като tikiwiki-1.9.5.zip се прехвърлят със скорост от около 1.3 до 1.7 MB/s. За хакера това е критичен момент - той вече притежава изходния код и конфигурациите на уеб приложенията на жертвата, което му позволява да ги анализира офлайн за още по-дълбоки уязвимости.</a:t>
            </a:r>
          </a:p>
          <a:p>
            <a:pPr marL="0" lvl="0" indent="0" algn="l" rtl="0">
              <a:spcBef>
                <a:spcPts val="0"/>
              </a:spcBef>
              <a:spcAft>
                <a:spcPts val="0"/>
              </a:spcAft>
              <a:buNone/>
            </a:pPr>
            <a:r>
              <a:rPr lang="ru-RU"/>
              <a:t>	Докато трансферът тече, в левия терминал хакерът влиза в директорията vulnerable/ и изброява съдържанието ѝ. Откритите папки са изключително ценни:</a:t>
            </a:r>
          </a:p>
          <a:p>
            <a:pPr marL="0" lvl="0" indent="0" algn="l" rtl="0">
              <a:spcBef>
                <a:spcPts val="0"/>
              </a:spcBef>
              <a:spcAft>
                <a:spcPts val="0"/>
              </a:spcAft>
              <a:buNone/>
            </a:pPr>
            <a:r>
              <a:rPr lang="ru-RU"/>
              <a:t>	</a:t>
            </a:r>
            <a:r>
              <a:rPr lang="ru-RU" b="1"/>
              <a:t>mysql-ssl:</a:t>
            </a:r>
            <a:r>
              <a:rPr lang="ru-RU"/>
              <a:t> Вероятно съдържа сертификати или конфигурации за достъп до базата данни.</a:t>
            </a:r>
          </a:p>
          <a:p>
            <a:pPr marL="0" lvl="0" indent="0" algn="l" rtl="0">
              <a:spcBef>
                <a:spcPts val="0"/>
              </a:spcBef>
              <a:spcAft>
                <a:spcPts val="0"/>
              </a:spcAft>
              <a:buNone/>
            </a:pPr>
            <a:r>
              <a:rPr lang="ru-RU"/>
              <a:t>	</a:t>
            </a:r>
            <a:r>
              <a:rPr lang="ru-RU" b="1"/>
              <a:t>samba:</a:t>
            </a:r>
            <a:r>
              <a:rPr lang="ru-RU"/>
              <a:t> Конфигурации за споделяне на файлове, които могат да разкрият други потребители в мрежата.</a:t>
            </a:r>
          </a:p>
          <a:p>
            <a:pPr marL="0" lvl="0" indent="0" algn="l" rtl="0">
              <a:spcBef>
                <a:spcPts val="0"/>
              </a:spcBef>
              <a:spcAft>
                <a:spcPts val="0"/>
              </a:spcAft>
              <a:buNone/>
            </a:pPr>
            <a:r>
              <a:rPr lang="ru-RU"/>
              <a:t>	</a:t>
            </a:r>
            <a:r>
              <a:rPr lang="ru-RU" b="1"/>
              <a:t>tikiwiki и twiki</a:t>
            </a:r>
            <a:r>
              <a:rPr lang="ru-RU"/>
              <a:t>: Директории на системи за управление на съдържанието, които често съдържат пароли за бази данни в текстови файлове.</a:t>
            </a:r>
          </a:p>
          <a:p>
            <a:pPr marL="0" lvl="0" indent="0" algn="l" rtl="0">
              <a:spcBef>
                <a:spcPts val="0"/>
              </a:spcBef>
              <a:spcAft>
                <a:spcPts val="0"/>
              </a:spcAft>
              <a:buNone/>
            </a:pPr>
            <a:r>
              <a:rPr lang="ru-RU"/>
              <a:t>	Най-важното доказателство за успеха на атаката е отвореният файлов мениджър Thunar (долу вдясно), сочещ към папката Desktop на атакуващата машина. Там виждаме папките mysql-ssl, samba, tikiwiki и twiki20030201, които току-що са били изтеглени от Metasploitable. Синята стрелка на снимката ясно подчертава прехода на данните от отдалечения сървър към локалния работен плот на хакера.</a:t>
            </a:r>
          </a:p>
          <a:p>
            <a:pPr marL="0" lvl="0" indent="0" algn="l" rtl="0">
              <a:spcBef>
                <a:spcPts val="0"/>
              </a:spcBef>
              <a:spcAft>
                <a:spcPts val="0"/>
              </a:spcAft>
              <a:buNone/>
            </a:pPr>
            <a:r>
              <a:rPr lang="ru-RU"/>
              <a:t>Последното изображение служи като неоспоримо доказателство за успешна атака. Тук се реализира най-големият риск - загубата на интелектуална собственост и поверителна информация.</a:t>
            </a:r>
          </a:p>
          <a:p>
            <a:pPr marL="0" lvl="0" indent="0" algn="l" rtl="0">
              <a:spcBef>
                <a:spcPts val="0"/>
              </a:spcBef>
              <a:spcAft>
                <a:spcPts val="0"/>
              </a:spcAft>
              <a:buNone/>
            </a:pPr>
            <a:endParaRPr/>
          </a:p>
        </p:txBody>
      </p:sp>
      <p:sp>
        <p:nvSpPr>
          <p:cNvPr id="134" name="Google Shape;134;g2ed7bdf1a28_2_0:notes"/>
          <p:cNvSpPr txBox="1">
            <a:spLocks noGrp="1"/>
          </p:cNvSpPr>
          <p:nvPr>
            <p:ph type="sldNum" idx="12"/>
          </p:nvPr>
        </p:nvSpPr>
        <p:spPr>
          <a:xfrm>
            <a:off x="3884613" y="9429750"/>
            <a:ext cx="29718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bg-BG"/>
              <a:t>20</a:t>
            </a:fld>
            <a:endParaRPr/>
          </a:p>
        </p:txBody>
      </p:sp>
    </p:spTree>
    <p:extLst>
      <p:ext uri="{BB962C8B-B14F-4D97-AF65-F5344CB8AC3E}">
        <p14:creationId xmlns:p14="http://schemas.microsoft.com/office/powerpoint/2010/main" val="19154932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ed7bdf1a28_2_0: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ed7bdf1a28_2_0:notes"/>
          <p:cNvSpPr txBox="1">
            <a:spLocks noGrp="1"/>
          </p:cNvSpPr>
          <p:nvPr>
            <p:ph type="body" idx="1"/>
          </p:nvPr>
        </p:nvSpPr>
        <p:spPr>
          <a:xfrm>
            <a:off x="685800" y="4776788"/>
            <a:ext cx="5486400" cy="3908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ru-RU"/>
              <a:t>	На фигурата се вижда централният панел за управление на OWASP ZAP, където в раздела „Alerts“ са изведени общо 18 вида уязвимости. Маркираното предупреждение е класифицирано с висок риск (High Risk) и се отнася до разкриване на хеш стойности (Hash Disclosure), което може да позволи на атакуващия да компрометира потребителски пароли. В дясната част на екрана инструментът предоставя пълна информация за открития проблем, включително доказателство (Evidence), Common Weakness Enumeration ID или CWE ID (в случая 200) и предложено решение (Solution) за отстраняване на слабостта.</a:t>
            </a:r>
          </a:p>
          <a:p>
            <a:pPr marL="0" lvl="0" indent="0" algn="l" rtl="0">
              <a:spcBef>
                <a:spcPts val="0"/>
              </a:spcBef>
              <a:spcAft>
                <a:spcPts val="0"/>
              </a:spcAft>
              <a:buNone/>
            </a:pPr>
            <a:r>
              <a:rPr lang="ru-RU"/>
              <a:t>	Уязвимостта „Разкриване на хеширане - Mac OSX salted SHA-1“ се отнася до ситуация, при която уеб сървърът разкрива хешираните пароли, използвайки алгоритъма SHA-1 на система Mac OSX. Разкриването на хеширане се случва, когато сървърът по невнимание изложи хешираните пароли, което улеснява нападателите да се опитат да ги разбият.</a:t>
            </a:r>
          </a:p>
          <a:p>
            <a:pPr marL="0" lvl="0" indent="0" algn="l" rtl="0">
              <a:spcBef>
                <a:spcPts val="0"/>
              </a:spcBef>
              <a:spcAft>
                <a:spcPts val="0"/>
              </a:spcAft>
              <a:buNone/>
            </a:pPr>
            <a:r>
              <a:rPr lang="ru-RU"/>
              <a:t>	Препоръчва се преминаване от уязвимия алгоритъм SHA-1 към по-сигурни решения като SHA-256 или bcrypt чрез промени в кода за обработка на пароли. Важно е използването на осоляване (salting), при което към всяка парола се добавя уникална стойност преди хеширане, за да се затруднят атаки с предварително изчислени таблици. Като допълнителна защитна мярка е редовното актуализиране на операционната система с последните пачове за сигурност.</a:t>
            </a:r>
          </a:p>
          <a:p>
            <a:pPr marL="0" lvl="0" indent="0" algn="l" rtl="0">
              <a:spcBef>
                <a:spcPts val="0"/>
              </a:spcBef>
              <a:spcAft>
                <a:spcPts val="0"/>
              </a:spcAft>
              <a:buNone/>
            </a:pPr>
            <a:r>
              <a:rPr lang="ru-RU"/>
              <a:t>	В дипломната работа са представени още 4 уязвимости, както и подробни мерки за тяхното предотвратяване.</a:t>
            </a:r>
          </a:p>
          <a:p>
            <a:pPr marL="0" lvl="0" indent="0" algn="l" rtl="0">
              <a:spcBef>
                <a:spcPts val="0"/>
              </a:spcBef>
              <a:spcAft>
                <a:spcPts val="0"/>
              </a:spcAft>
              <a:buNone/>
            </a:pPr>
            <a:endParaRPr/>
          </a:p>
        </p:txBody>
      </p:sp>
      <p:sp>
        <p:nvSpPr>
          <p:cNvPr id="134" name="Google Shape;134;g2ed7bdf1a28_2_0:notes"/>
          <p:cNvSpPr txBox="1">
            <a:spLocks noGrp="1"/>
          </p:cNvSpPr>
          <p:nvPr>
            <p:ph type="sldNum" idx="12"/>
          </p:nvPr>
        </p:nvSpPr>
        <p:spPr>
          <a:xfrm>
            <a:off x="3884613" y="9429750"/>
            <a:ext cx="29718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bg-BG"/>
              <a:t>21</a:t>
            </a:fld>
            <a:endParaRPr/>
          </a:p>
        </p:txBody>
      </p:sp>
    </p:spTree>
    <p:extLst>
      <p:ext uri="{BB962C8B-B14F-4D97-AF65-F5344CB8AC3E}">
        <p14:creationId xmlns:p14="http://schemas.microsoft.com/office/powerpoint/2010/main" val="22284412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ed7bdf1a28_2_0: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ed7bdf1a28_2_0:notes"/>
          <p:cNvSpPr txBox="1">
            <a:spLocks noGrp="1"/>
          </p:cNvSpPr>
          <p:nvPr>
            <p:ph type="body" idx="1"/>
          </p:nvPr>
        </p:nvSpPr>
        <p:spPr>
          <a:xfrm>
            <a:off x="685800" y="4776788"/>
            <a:ext cx="5486400" cy="3908400"/>
          </a:xfrm>
          <a:prstGeom prst="rect">
            <a:avLst/>
          </a:prstGeom>
        </p:spPr>
        <p:txBody>
          <a:bodyPr spcFirstLastPara="1" wrap="square" lIns="91425" tIns="45700" rIns="91425" bIns="45700" anchor="t" anchorCtr="0">
            <a:noAutofit/>
          </a:bodyPr>
          <a:lstStyle/>
          <a:p>
            <a:pPr marL="171450" lvl="0" indent="-171450" algn="l" rtl="0">
              <a:spcBef>
                <a:spcPts val="0"/>
              </a:spcBef>
              <a:spcAft>
                <a:spcPts val="0"/>
              </a:spcAft>
              <a:buFontTx/>
              <a:buChar char="-"/>
            </a:pPr>
            <a:r>
              <a:rPr lang="ru-RU"/>
              <a:t>Установено беше, че правилното архивиране и криптиране на информацията значително повишава нивото на защита на данните срещу неоторизиран достъп и загуба. Прилагането на криптирани архиви и механизми за сигурно изтриване на данни ограничава възможността за възстановяване на чувствителна информация дори при компрометиране на носителя, което потвърждава значението на тези практики като основен елемент от информационната сигурност.</a:t>
            </a:r>
          </a:p>
          <a:p>
            <a:pPr marL="171450" lvl="0" indent="-171450" algn="l" rtl="0">
              <a:spcBef>
                <a:spcPts val="0"/>
              </a:spcBef>
              <a:spcAft>
                <a:spcPts val="0"/>
              </a:spcAft>
              <a:buFontTx/>
              <a:buChar char="-"/>
            </a:pPr>
            <a:endParaRPr lang="ru-RU"/>
          </a:p>
          <a:p>
            <a:pPr marL="171450" lvl="0" indent="-171450" algn="l" rtl="0">
              <a:spcBef>
                <a:spcPts val="0"/>
              </a:spcBef>
              <a:spcAft>
                <a:spcPts val="0"/>
              </a:spcAft>
              <a:buFontTx/>
              <a:buChar char="-"/>
            </a:pPr>
            <a:r>
              <a:rPr lang="ru-RU"/>
              <a:t>Анализът на мрежовите услуги чрез мрежово сканиране показа, че наличието на отворени портове и активни услуги представлява потенциален риск, когато те не са правилно конфигурирани или защитени. Резултатите от сканирането потвърждават, че детайлното разузнаване на мрежовата инфраструктура позволява ранно идентифициране на слаби места, които могат да бъдат използвани като отправна точка за последващи атаки.</a:t>
            </a:r>
          </a:p>
          <a:p>
            <a:pPr marL="171450" lvl="0" indent="-171450" algn="l" rtl="0">
              <a:spcBef>
                <a:spcPts val="0"/>
              </a:spcBef>
              <a:spcAft>
                <a:spcPts val="0"/>
              </a:spcAft>
              <a:buFontTx/>
              <a:buChar char="-"/>
            </a:pPr>
            <a:endParaRPr lang="ru-RU"/>
          </a:p>
          <a:p>
            <a:pPr marL="171450" lvl="0" indent="-171450" algn="l" rtl="0">
              <a:spcBef>
                <a:spcPts val="0"/>
              </a:spcBef>
              <a:spcAft>
                <a:spcPts val="0"/>
              </a:spcAft>
              <a:buFontTx/>
              <a:buChar char="-"/>
            </a:pPr>
            <a:r>
              <a:rPr lang="ru-RU"/>
              <a:t>Симулираната атака чрез груба сила в контролирана среда демонстрира, че системи със слаби или неправилно управлявани идентификационни данни са силно уязвими на неоторизиран достъп. Резултатите показаха, че липсата на защитни механизми като ограничаване на броя опити за вход значително увеличава риска от компрометиране на системата, което потвърждава необходимостта от строги политики за управление на пароли.</a:t>
            </a:r>
          </a:p>
          <a:p>
            <a:pPr marL="0" lvl="0" indent="0" algn="l" rtl="0">
              <a:spcBef>
                <a:spcPts val="0"/>
              </a:spcBef>
              <a:spcAft>
                <a:spcPts val="0"/>
              </a:spcAft>
              <a:buFontTx/>
              <a:buNone/>
            </a:pPr>
            <a:endParaRPr lang="bg-BG"/>
          </a:p>
          <a:p>
            <a:pPr marL="0" lvl="0" indent="0" algn="l" rtl="0">
              <a:spcBef>
                <a:spcPts val="0"/>
              </a:spcBef>
              <a:spcAft>
                <a:spcPts val="0"/>
              </a:spcAft>
              <a:buNone/>
            </a:pPr>
            <a:r>
              <a:rPr lang="bg-BG"/>
              <a:t>-  </a:t>
            </a:r>
            <a:r>
              <a:rPr lang="ru-RU"/>
              <a:t>Сканирането на уеб приложение за уязвимости показа, че дори реални и функциониращи уеб сайтове могат да съдържат слабости, които представляват риск за сигурността на системата и потребителските данни.      Идентифицираните уязвимости и предложените мерки за тяхното смекчаване подчертават значението на редовния одит и тестване на уеб приложенията като част от цялостната стратегия за киберсигурност.</a:t>
            </a:r>
            <a:endParaRPr/>
          </a:p>
        </p:txBody>
      </p:sp>
      <p:sp>
        <p:nvSpPr>
          <p:cNvPr id="134" name="Google Shape;134;g2ed7bdf1a28_2_0:notes"/>
          <p:cNvSpPr txBox="1">
            <a:spLocks noGrp="1"/>
          </p:cNvSpPr>
          <p:nvPr>
            <p:ph type="sldNum" idx="12"/>
          </p:nvPr>
        </p:nvSpPr>
        <p:spPr>
          <a:xfrm>
            <a:off x="3884613" y="9429750"/>
            <a:ext cx="29718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bg-BG"/>
              <a:t>22</a:t>
            </a:fld>
            <a:endParaRPr/>
          </a:p>
        </p:txBody>
      </p:sp>
    </p:spTree>
    <p:extLst>
      <p:ext uri="{BB962C8B-B14F-4D97-AF65-F5344CB8AC3E}">
        <p14:creationId xmlns:p14="http://schemas.microsoft.com/office/powerpoint/2010/main" val="18756544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ed7bdf1a28_2_0: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ed7bdf1a28_2_0:notes"/>
          <p:cNvSpPr txBox="1">
            <a:spLocks noGrp="1"/>
          </p:cNvSpPr>
          <p:nvPr>
            <p:ph type="body" idx="1"/>
          </p:nvPr>
        </p:nvSpPr>
        <p:spPr>
          <a:xfrm>
            <a:off x="685800" y="4776788"/>
            <a:ext cx="5486400" cy="3908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FontTx/>
              <a:buNone/>
            </a:pPr>
            <a:endParaRPr/>
          </a:p>
        </p:txBody>
      </p:sp>
      <p:sp>
        <p:nvSpPr>
          <p:cNvPr id="134" name="Google Shape;134;g2ed7bdf1a28_2_0:notes"/>
          <p:cNvSpPr txBox="1">
            <a:spLocks noGrp="1"/>
          </p:cNvSpPr>
          <p:nvPr>
            <p:ph type="sldNum" idx="12"/>
          </p:nvPr>
        </p:nvSpPr>
        <p:spPr>
          <a:xfrm>
            <a:off x="3884613" y="9429750"/>
            <a:ext cx="29718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bg-BG"/>
              <a:t>23</a:t>
            </a:fld>
            <a:endParaRPr/>
          </a:p>
        </p:txBody>
      </p:sp>
    </p:spTree>
    <p:extLst>
      <p:ext uri="{BB962C8B-B14F-4D97-AF65-F5344CB8AC3E}">
        <p14:creationId xmlns:p14="http://schemas.microsoft.com/office/powerpoint/2010/main" val="2307205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2057400" y="685801"/>
            <a:ext cx="8115300" cy="3046228"/>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2"/>
              </a:buClr>
              <a:buSzPts val="3600"/>
              <a:buFont typeface="Sorts Mill Goudy"/>
              <a:buNone/>
              <a:defRPr sz="36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2057400" y="4114800"/>
            <a:ext cx="8115300" cy="20574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Clr>
                <a:schemeClr val="dk2"/>
              </a:buClr>
              <a:buSzPts val="1680"/>
              <a:buNone/>
              <a:defRPr sz="2400" i="1"/>
            </a:lvl1pPr>
            <a:lvl2pPr lvl="1" algn="ctr">
              <a:lnSpc>
                <a:spcPct val="100000"/>
              </a:lnSpc>
              <a:spcBef>
                <a:spcPts val="500"/>
              </a:spcBef>
              <a:spcAft>
                <a:spcPts val="0"/>
              </a:spcAft>
              <a:buClr>
                <a:schemeClr val="dk2"/>
              </a:buClr>
              <a:buSzPts val="1400"/>
              <a:buNone/>
              <a:defRPr sz="2000"/>
            </a:lvl2pPr>
            <a:lvl3pPr lvl="2" algn="ctr">
              <a:lnSpc>
                <a:spcPct val="100000"/>
              </a:lnSpc>
              <a:spcBef>
                <a:spcPts val="500"/>
              </a:spcBef>
              <a:spcAft>
                <a:spcPts val="0"/>
              </a:spcAft>
              <a:buClr>
                <a:schemeClr val="dk2"/>
              </a:buClr>
              <a:buSzPts val="1260"/>
              <a:buNone/>
              <a:defRPr sz="1800"/>
            </a:lvl3pPr>
            <a:lvl4pPr lvl="3" algn="ctr">
              <a:lnSpc>
                <a:spcPct val="100000"/>
              </a:lnSpc>
              <a:spcBef>
                <a:spcPts val="500"/>
              </a:spcBef>
              <a:spcAft>
                <a:spcPts val="0"/>
              </a:spcAft>
              <a:buClr>
                <a:schemeClr val="dk2"/>
              </a:buClr>
              <a:buSzPts val="1120"/>
              <a:buNone/>
              <a:defRPr sz="1600"/>
            </a:lvl4pPr>
            <a:lvl5pPr lvl="4" algn="ctr">
              <a:lnSpc>
                <a:spcPct val="100000"/>
              </a:lnSpc>
              <a:spcBef>
                <a:spcPts val="500"/>
              </a:spcBef>
              <a:spcAft>
                <a:spcPts val="0"/>
              </a:spcAft>
              <a:buClr>
                <a:schemeClr val="dk2"/>
              </a:buClr>
              <a:buSzPts val="112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rot="5400000">
            <a:off x="9800022" y="3223751"/>
            <a:ext cx="4114801" cy="41050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rot="5400000">
            <a:off x="-1708136" y="3223750"/>
            <a:ext cx="4114800" cy="41050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11116340" y="6356350"/>
            <a:ext cx="871868"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bg-BG"/>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1371600" y="685800"/>
            <a:ext cx="9486900" cy="1371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Sorts Mill Goudy"/>
              <a:buNone/>
              <a:defRPr sz="3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1371599" y="2254103"/>
            <a:ext cx="9486901" cy="3918098"/>
          </a:xfrm>
          <a:prstGeom prst="rect">
            <a:avLst/>
          </a:prstGeom>
          <a:noFill/>
          <a:ln>
            <a:noFill/>
          </a:ln>
        </p:spPr>
        <p:txBody>
          <a:bodyPr spcFirstLastPara="1" wrap="square" lIns="91425" tIns="45700" rIns="91425" bIns="45700" anchor="t" anchorCtr="0">
            <a:normAutofit/>
          </a:bodyPr>
          <a:lstStyle>
            <a:lvl1pPr marL="457200" lvl="0" indent="-308610" algn="l">
              <a:lnSpc>
                <a:spcPct val="100000"/>
              </a:lnSpc>
              <a:spcBef>
                <a:spcPts val="1000"/>
              </a:spcBef>
              <a:spcAft>
                <a:spcPts val="0"/>
              </a:spcAft>
              <a:buClr>
                <a:schemeClr val="dk2"/>
              </a:buClr>
              <a:buSzPts val="1260"/>
              <a:buChar char="•"/>
              <a:defRPr/>
            </a:lvl1pPr>
            <a:lvl2pPr marL="914400" lvl="1" indent="-308610" algn="l">
              <a:lnSpc>
                <a:spcPct val="100000"/>
              </a:lnSpc>
              <a:spcBef>
                <a:spcPts val="500"/>
              </a:spcBef>
              <a:spcAft>
                <a:spcPts val="0"/>
              </a:spcAft>
              <a:buClr>
                <a:schemeClr val="dk2"/>
              </a:buClr>
              <a:buSzPts val="1260"/>
              <a:buChar char="•"/>
              <a:defRPr/>
            </a:lvl2pPr>
            <a:lvl3pPr marL="1371600" lvl="2" indent="-308610" algn="l">
              <a:lnSpc>
                <a:spcPct val="100000"/>
              </a:lnSpc>
              <a:spcBef>
                <a:spcPts val="500"/>
              </a:spcBef>
              <a:spcAft>
                <a:spcPts val="0"/>
              </a:spcAft>
              <a:buClr>
                <a:schemeClr val="dk2"/>
              </a:buClr>
              <a:buSzPts val="1260"/>
              <a:buChar char="•"/>
              <a:defRPr/>
            </a:lvl3pPr>
            <a:lvl4pPr marL="1828800" lvl="3" indent="-308610" algn="l">
              <a:lnSpc>
                <a:spcPct val="100000"/>
              </a:lnSpc>
              <a:spcBef>
                <a:spcPts val="500"/>
              </a:spcBef>
              <a:spcAft>
                <a:spcPts val="0"/>
              </a:spcAft>
              <a:buClr>
                <a:schemeClr val="dk2"/>
              </a:buClr>
              <a:buSzPts val="1260"/>
              <a:buChar char="•"/>
              <a:defRPr/>
            </a:lvl4pPr>
            <a:lvl5pPr marL="2286000" lvl="4" indent="-308610" algn="l">
              <a:lnSpc>
                <a:spcPct val="100000"/>
              </a:lnSpc>
              <a:spcBef>
                <a:spcPts val="500"/>
              </a:spcBef>
              <a:spcAft>
                <a:spcPts val="0"/>
              </a:spcAft>
              <a:buClr>
                <a:schemeClr val="dk2"/>
              </a:buClr>
              <a:buSzPts val="126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rot="5400000">
            <a:off x="9800022" y="3223751"/>
            <a:ext cx="4114801" cy="41050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rot="5400000">
            <a:off x="-1708136" y="3223750"/>
            <a:ext cx="4114800" cy="41050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11116340" y="6356350"/>
            <a:ext cx="871868"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bg-BG"/>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774071"/>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2"/>
              </a:buClr>
              <a:buSzPts val="5400"/>
              <a:buFont typeface="Sorts Mill Goudy"/>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1850" y="4641624"/>
            <a:ext cx="10515600" cy="1448026"/>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Clr>
                <a:srgbClr val="888888"/>
              </a:buClr>
              <a:buSzPts val="1680"/>
              <a:buNone/>
              <a:defRPr sz="2400" i="1">
                <a:solidFill>
                  <a:srgbClr val="888888"/>
                </a:solidFill>
              </a:defRPr>
            </a:lvl1pPr>
            <a:lvl2pPr marL="914400" lvl="1" indent="-228600" algn="l">
              <a:lnSpc>
                <a:spcPct val="100000"/>
              </a:lnSpc>
              <a:spcBef>
                <a:spcPts val="500"/>
              </a:spcBef>
              <a:spcAft>
                <a:spcPts val="0"/>
              </a:spcAft>
              <a:buClr>
                <a:srgbClr val="888888"/>
              </a:buClr>
              <a:buSzPts val="1400"/>
              <a:buNone/>
              <a:defRPr sz="2000">
                <a:solidFill>
                  <a:srgbClr val="888888"/>
                </a:solidFill>
              </a:defRPr>
            </a:lvl2pPr>
            <a:lvl3pPr marL="1371600" lvl="2" indent="-228600" algn="l">
              <a:lnSpc>
                <a:spcPct val="100000"/>
              </a:lnSpc>
              <a:spcBef>
                <a:spcPts val="500"/>
              </a:spcBef>
              <a:spcAft>
                <a:spcPts val="0"/>
              </a:spcAft>
              <a:buClr>
                <a:srgbClr val="888888"/>
              </a:buClr>
              <a:buSzPts val="1260"/>
              <a:buNone/>
              <a:defRPr sz="1800">
                <a:solidFill>
                  <a:srgbClr val="888888"/>
                </a:solidFill>
              </a:defRPr>
            </a:lvl3pPr>
            <a:lvl4pPr marL="1828800" lvl="3" indent="-228600" algn="l">
              <a:lnSpc>
                <a:spcPct val="100000"/>
              </a:lnSpc>
              <a:spcBef>
                <a:spcPts val="500"/>
              </a:spcBef>
              <a:spcAft>
                <a:spcPts val="0"/>
              </a:spcAft>
              <a:buClr>
                <a:srgbClr val="888888"/>
              </a:buClr>
              <a:buSzPts val="1120"/>
              <a:buNone/>
              <a:defRPr sz="1600">
                <a:solidFill>
                  <a:srgbClr val="888888"/>
                </a:solidFill>
              </a:defRPr>
            </a:lvl4pPr>
            <a:lvl5pPr marL="2286000" lvl="4" indent="-228600" algn="l">
              <a:lnSpc>
                <a:spcPct val="100000"/>
              </a:lnSpc>
              <a:spcBef>
                <a:spcPts val="500"/>
              </a:spcBef>
              <a:spcAft>
                <a:spcPts val="0"/>
              </a:spcAft>
              <a:buClr>
                <a:srgbClr val="888888"/>
              </a:buClr>
              <a:buSzPts val="112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
          <p:cNvSpPr txBox="1">
            <a:spLocks noGrp="1"/>
          </p:cNvSpPr>
          <p:nvPr>
            <p:ph type="dt" idx="10"/>
          </p:nvPr>
        </p:nvSpPr>
        <p:spPr>
          <a:xfrm rot="5400000">
            <a:off x="9800022" y="3223751"/>
            <a:ext cx="4114801" cy="41050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rot="5400000">
            <a:off x="-1708136" y="3223750"/>
            <a:ext cx="4114800" cy="41050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11116340" y="6356350"/>
            <a:ext cx="871868"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bg-BG"/>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1346071" y="566278"/>
            <a:ext cx="9512429" cy="965458"/>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2"/>
              </a:buClr>
              <a:buSzPts val="3600"/>
              <a:buFont typeface="Sorts Mill Goudy"/>
              <a:buNone/>
              <a:defRPr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909758" y="2057400"/>
            <a:ext cx="5031521" cy="4119563"/>
          </a:xfrm>
          <a:prstGeom prst="rect">
            <a:avLst/>
          </a:prstGeom>
          <a:noFill/>
          <a:ln>
            <a:noFill/>
          </a:ln>
        </p:spPr>
        <p:txBody>
          <a:bodyPr spcFirstLastPara="1" wrap="square" lIns="91425" tIns="45700" rIns="91425" bIns="45700" anchor="t" anchorCtr="0">
            <a:normAutofit/>
          </a:bodyPr>
          <a:lstStyle>
            <a:lvl1pPr marL="457200" lvl="0" indent="-308610" algn="l">
              <a:lnSpc>
                <a:spcPct val="100000"/>
              </a:lnSpc>
              <a:spcBef>
                <a:spcPts val="1000"/>
              </a:spcBef>
              <a:spcAft>
                <a:spcPts val="0"/>
              </a:spcAft>
              <a:buClr>
                <a:schemeClr val="dk2"/>
              </a:buClr>
              <a:buSzPts val="1260"/>
              <a:buChar char="•"/>
              <a:defRPr/>
            </a:lvl1pPr>
            <a:lvl2pPr marL="914400" lvl="1" indent="-308610" algn="l">
              <a:lnSpc>
                <a:spcPct val="100000"/>
              </a:lnSpc>
              <a:spcBef>
                <a:spcPts val="500"/>
              </a:spcBef>
              <a:spcAft>
                <a:spcPts val="0"/>
              </a:spcAft>
              <a:buClr>
                <a:schemeClr val="dk2"/>
              </a:buClr>
              <a:buSzPts val="1260"/>
              <a:buChar char="•"/>
              <a:defRPr/>
            </a:lvl2pPr>
            <a:lvl3pPr marL="1371600" lvl="2" indent="-308610" algn="l">
              <a:lnSpc>
                <a:spcPct val="100000"/>
              </a:lnSpc>
              <a:spcBef>
                <a:spcPts val="500"/>
              </a:spcBef>
              <a:spcAft>
                <a:spcPts val="0"/>
              </a:spcAft>
              <a:buClr>
                <a:schemeClr val="dk2"/>
              </a:buClr>
              <a:buSzPts val="1260"/>
              <a:buChar char="•"/>
              <a:defRPr/>
            </a:lvl3pPr>
            <a:lvl4pPr marL="1828800" lvl="3" indent="-308610" algn="l">
              <a:lnSpc>
                <a:spcPct val="100000"/>
              </a:lnSpc>
              <a:spcBef>
                <a:spcPts val="500"/>
              </a:spcBef>
              <a:spcAft>
                <a:spcPts val="0"/>
              </a:spcAft>
              <a:buClr>
                <a:schemeClr val="dk2"/>
              </a:buClr>
              <a:buSzPts val="1260"/>
              <a:buChar char="•"/>
              <a:defRPr/>
            </a:lvl4pPr>
            <a:lvl5pPr marL="2286000" lvl="4" indent="-308610" algn="l">
              <a:lnSpc>
                <a:spcPct val="100000"/>
              </a:lnSpc>
              <a:spcBef>
                <a:spcPts val="500"/>
              </a:spcBef>
              <a:spcAft>
                <a:spcPts val="0"/>
              </a:spcAft>
              <a:buClr>
                <a:schemeClr val="dk2"/>
              </a:buClr>
              <a:buSzPts val="126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265408" y="2057401"/>
            <a:ext cx="5016834" cy="4119562"/>
          </a:xfrm>
          <a:prstGeom prst="rect">
            <a:avLst/>
          </a:prstGeom>
          <a:noFill/>
          <a:ln>
            <a:noFill/>
          </a:ln>
        </p:spPr>
        <p:txBody>
          <a:bodyPr spcFirstLastPara="1" wrap="square" lIns="91425" tIns="45700" rIns="91425" bIns="45700" anchor="t" anchorCtr="0">
            <a:normAutofit/>
          </a:bodyPr>
          <a:lstStyle>
            <a:lvl1pPr marL="457200" lvl="0" indent="-308610" algn="l">
              <a:lnSpc>
                <a:spcPct val="100000"/>
              </a:lnSpc>
              <a:spcBef>
                <a:spcPts val="1000"/>
              </a:spcBef>
              <a:spcAft>
                <a:spcPts val="0"/>
              </a:spcAft>
              <a:buClr>
                <a:schemeClr val="dk2"/>
              </a:buClr>
              <a:buSzPts val="1260"/>
              <a:buChar char="•"/>
              <a:defRPr/>
            </a:lvl1pPr>
            <a:lvl2pPr marL="914400" lvl="1" indent="-308610" algn="l">
              <a:lnSpc>
                <a:spcPct val="100000"/>
              </a:lnSpc>
              <a:spcBef>
                <a:spcPts val="500"/>
              </a:spcBef>
              <a:spcAft>
                <a:spcPts val="0"/>
              </a:spcAft>
              <a:buClr>
                <a:schemeClr val="dk2"/>
              </a:buClr>
              <a:buSzPts val="1260"/>
              <a:buChar char="•"/>
              <a:defRPr/>
            </a:lvl2pPr>
            <a:lvl3pPr marL="1371600" lvl="2" indent="-308610" algn="l">
              <a:lnSpc>
                <a:spcPct val="100000"/>
              </a:lnSpc>
              <a:spcBef>
                <a:spcPts val="500"/>
              </a:spcBef>
              <a:spcAft>
                <a:spcPts val="0"/>
              </a:spcAft>
              <a:buClr>
                <a:schemeClr val="dk2"/>
              </a:buClr>
              <a:buSzPts val="1260"/>
              <a:buChar char="•"/>
              <a:defRPr/>
            </a:lvl3pPr>
            <a:lvl4pPr marL="1828800" lvl="3" indent="-308610" algn="l">
              <a:lnSpc>
                <a:spcPct val="100000"/>
              </a:lnSpc>
              <a:spcBef>
                <a:spcPts val="500"/>
              </a:spcBef>
              <a:spcAft>
                <a:spcPts val="0"/>
              </a:spcAft>
              <a:buClr>
                <a:schemeClr val="dk2"/>
              </a:buClr>
              <a:buSzPts val="1260"/>
              <a:buChar char="•"/>
              <a:defRPr/>
            </a:lvl4pPr>
            <a:lvl5pPr marL="2286000" lvl="4" indent="-308610" algn="l">
              <a:lnSpc>
                <a:spcPct val="100000"/>
              </a:lnSpc>
              <a:spcBef>
                <a:spcPts val="500"/>
              </a:spcBef>
              <a:spcAft>
                <a:spcPts val="0"/>
              </a:spcAft>
              <a:buClr>
                <a:schemeClr val="dk2"/>
              </a:buClr>
              <a:buSzPts val="126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rot="5400000">
            <a:off x="9800022" y="3223751"/>
            <a:ext cx="4114801" cy="41050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rot="5400000">
            <a:off x="-1708136" y="3223750"/>
            <a:ext cx="4114800" cy="41050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11116340" y="6356350"/>
            <a:ext cx="871868"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bg-BG"/>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6"/>
            <a:ext cx="10276552" cy="114935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2"/>
              </a:buClr>
              <a:buSzPts val="3200"/>
              <a:buFont typeface="Sorts Mill Goudy"/>
              <a:buNone/>
              <a:defRPr sz="3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Clr>
                <a:schemeClr val="dk2"/>
              </a:buClr>
              <a:buSzPts val="1680"/>
              <a:buNone/>
              <a:defRPr sz="2400" b="1" i="0"/>
            </a:lvl1pPr>
            <a:lvl2pPr marL="914400" lvl="1" indent="-228600" algn="l">
              <a:lnSpc>
                <a:spcPct val="100000"/>
              </a:lnSpc>
              <a:spcBef>
                <a:spcPts val="500"/>
              </a:spcBef>
              <a:spcAft>
                <a:spcPts val="0"/>
              </a:spcAft>
              <a:buClr>
                <a:schemeClr val="dk2"/>
              </a:buClr>
              <a:buSzPts val="1400"/>
              <a:buNone/>
              <a:defRPr sz="2000" b="1"/>
            </a:lvl2pPr>
            <a:lvl3pPr marL="1371600" lvl="2" indent="-228600" algn="l">
              <a:lnSpc>
                <a:spcPct val="100000"/>
              </a:lnSpc>
              <a:spcBef>
                <a:spcPts val="500"/>
              </a:spcBef>
              <a:spcAft>
                <a:spcPts val="0"/>
              </a:spcAft>
              <a:buClr>
                <a:schemeClr val="dk2"/>
              </a:buClr>
              <a:buSzPts val="1260"/>
              <a:buNone/>
              <a:defRPr sz="1800" b="1"/>
            </a:lvl3pPr>
            <a:lvl4pPr marL="1828800" lvl="3" indent="-228600" algn="l">
              <a:lnSpc>
                <a:spcPct val="100000"/>
              </a:lnSpc>
              <a:spcBef>
                <a:spcPts val="500"/>
              </a:spcBef>
              <a:spcAft>
                <a:spcPts val="0"/>
              </a:spcAft>
              <a:buClr>
                <a:schemeClr val="dk2"/>
              </a:buClr>
              <a:buSzPts val="1120"/>
              <a:buNone/>
              <a:defRPr sz="1600" b="1"/>
            </a:lvl4pPr>
            <a:lvl5pPr marL="2286000" lvl="4" indent="-228600" algn="l">
              <a:lnSpc>
                <a:spcPct val="100000"/>
              </a:lnSpc>
              <a:spcBef>
                <a:spcPts val="500"/>
              </a:spcBef>
              <a:spcAft>
                <a:spcPts val="0"/>
              </a:spcAft>
              <a:buClr>
                <a:schemeClr val="dk2"/>
              </a:buClr>
              <a:buSzPts val="112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08610" algn="l">
              <a:lnSpc>
                <a:spcPct val="100000"/>
              </a:lnSpc>
              <a:spcBef>
                <a:spcPts val="1000"/>
              </a:spcBef>
              <a:spcAft>
                <a:spcPts val="0"/>
              </a:spcAft>
              <a:buClr>
                <a:schemeClr val="dk2"/>
              </a:buClr>
              <a:buSzPts val="1260"/>
              <a:buChar char="•"/>
              <a:defRPr/>
            </a:lvl1pPr>
            <a:lvl2pPr marL="914400" lvl="1" indent="-308610" algn="l">
              <a:lnSpc>
                <a:spcPct val="100000"/>
              </a:lnSpc>
              <a:spcBef>
                <a:spcPts val="500"/>
              </a:spcBef>
              <a:spcAft>
                <a:spcPts val="0"/>
              </a:spcAft>
              <a:buClr>
                <a:schemeClr val="dk2"/>
              </a:buClr>
              <a:buSzPts val="1260"/>
              <a:buChar char="•"/>
              <a:defRPr/>
            </a:lvl2pPr>
            <a:lvl3pPr marL="1371600" lvl="2" indent="-308610" algn="l">
              <a:lnSpc>
                <a:spcPct val="100000"/>
              </a:lnSpc>
              <a:spcBef>
                <a:spcPts val="500"/>
              </a:spcBef>
              <a:spcAft>
                <a:spcPts val="0"/>
              </a:spcAft>
              <a:buClr>
                <a:schemeClr val="dk2"/>
              </a:buClr>
              <a:buSzPts val="1260"/>
              <a:buChar char="•"/>
              <a:defRPr/>
            </a:lvl3pPr>
            <a:lvl4pPr marL="1828800" lvl="3" indent="-308610" algn="l">
              <a:lnSpc>
                <a:spcPct val="100000"/>
              </a:lnSpc>
              <a:spcBef>
                <a:spcPts val="500"/>
              </a:spcBef>
              <a:spcAft>
                <a:spcPts val="0"/>
              </a:spcAft>
              <a:buClr>
                <a:schemeClr val="dk2"/>
              </a:buClr>
              <a:buSzPts val="1260"/>
              <a:buChar char="•"/>
              <a:defRPr/>
            </a:lvl4pPr>
            <a:lvl5pPr marL="2286000" lvl="4" indent="-308610" algn="l">
              <a:lnSpc>
                <a:spcPct val="100000"/>
              </a:lnSpc>
              <a:spcBef>
                <a:spcPts val="500"/>
              </a:spcBef>
              <a:spcAft>
                <a:spcPts val="0"/>
              </a:spcAft>
              <a:buClr>
                <a:schemeClr val="dk2"/>
              </a:buClr>
              <a:buSzPts val="126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Clr>
                <a:schemeClr val="dk2"/>
              </a:buClr>
              <a:buSzPts val="1680"/>
              <a:buNone/>
              <a:defRPr sz="2400" b="1"/>
            </a:lvl1pPr>
            <a:lvl2pPr marL="914400" lvl="1" indent="-228600" algn="l">
              <a:lnSpc>
                <a:spcPct val="100000"/>
              </a:lnSpc>
              <a:spcBef>
                <a:spcPts val="500"/>
              </a:spcBef>
              <a:spcAft>
                <a:spcPts val="0"/>
              </a:spcAft>
              <a:buClr>
                <a:schemeClr val="dk2"/>
              </a:buClr>
              <a:buSzPts val="1400"/>
              <a:buNone/>
              <a:defRPr sz="2000" b="1"/>
            </a:lvl2pPr>
            <a:lvl3pPr marL="1371600" lvl="2" indent="-228600" algn="l">
              <a:lnSpc>
                <a:spcPct val="100000"/>
              </a:lnSpc>
              <a:spcBef>
                <a:spcPts val="500"/>
              </a:spcBef>
              <a:spcAft>
                <a:spcPts val="0"/>
              </a:spcAft>
              <a:buClr>
                <a:schemeClr val="dk2"/>
              </a:buClr>
              <a:buSzPts val="1260"/>
              <a:buNone/>
              <a:defRPr sz="1800" b="1"/>
            </a:lvl3pPr>
            <a:lvl4pPr marL="1828800" lvl="3" indent="-228600" algn="l">
              <a:lnSpc>
                <a:spcPct val="100000"/>
              </a:lnSpc>
              <a:spcBef>
                <a:spcPts val="500"/>
              </a:spcBef>
              <a:spcAft>
                <a:spcPts val="0"/>
              </a:spcAft>
              <a:buClr>
                <a:schemeClr val="dk2"/>
              </a:buClr>
              <a:buSzPts val="1120"/>
              <a:buNone/>
              <a:defRPr sz="1600" b="1"/>
            </a:lvl4pPr>
            <a:lvl5pPr marL="2286000" lvl="4" indent="-228600" algn="l">
              <a:lnSpc>
                <a:spcPct val="100000"/>
              </a:lnSpc>
              <a:spcBef>
                <a:spcPts val="500"/>
              </a:spcBef>
              <a:spcAft>
                <a:spcPts val="0"/>
              </a:spcAft>
              <a:buClr>
                <a:schemeClr val="dk2"/>
              </a:buClr>
              <a:buSzPts val="112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08610" algn="l">
              <a:lnSpc>
                <a:spcPct val="100000"/>
              </a:lnSpc>
              <a:spcBef>
                <a:spcPts val="1000"/>
              </a:spcBef>
              <a:spcAft>
                <a:spcPts val="0"/>
              </a:spcAft>
              <a:buClr>
                <a:schemeClr val="dk2"/>
              </a:buClr>
              <a:buSzPts val="1260"/>
              <a:buChar char="•"/>
              <a:defRPr/>
            </a:lvl1pPr>
            <a:lvl2pPr marL="914400" lvl="1" indent="-308610" algn="l">
              <a:lnSpc>
                <a:spcPct val="100000"/>
              </a:lnSpc>
              <a:spcBef>
                <a:spcPts val="500"/>
              </a:spcBef>
              <a:spcAft>
                <a:spcPts val="0"/>
              </a:spcAft>
              <a:buClr>
                <a:schemeClr val="dk2"/>
              </a:buClr>
              <a:buSzPts val="1260"/>
              <a:buChar char="•"/>
              <a:defRPr/>
            </a:lvl2pPr>
            <a:lvl3pPr marL="1371600" lvl="2" indent="-308610" algn="l">
              <a:lnSpc>
                <a:spcPct val="100000"/>
              </a:lnSpc>
              <a:spcBef>
                <a:spcPts val="500"/>
              </a:spcBef>
              <a:spcAft>
                <a:spcPts val="0"/>
              </a:spcAft>
              <a:buClr>
                <a:schemeClr val="dk2"/>
              </a:buClr>
              <a:buSzPts val="1260"/>
              <a:buChar char="•"/>
              <a:defRPr/>
            </a:lvl3pPr>
            <a:lvl4pPr marL="1828800" lvl="3" indent="-308610" algn="l">
              <a:lnSpc>
                <a:spcPct val="100000"/>
              </a:lnSpc>
              <a:spcBef>
                <a:spcPts val="500"/>
              </a:spcBef>
              <a:spcAft>
                <a:spcPts val="0"/>
              </a:spcAft>
              <a:buClr>
                <a:schemeClr val="dk2"/>
              </a:buClr>
              <a:buSzPts val="1260"/>
              <a:buChar char="•"/>
              <a:defRPr/>
            </a:lvl4pPr>
            <a:lvl5pPr marL="2286000" lvl="4" indent="-308610" algn="l">
              <a:lnSpc>
                <a:spcPct val="100000"/>
              </a:lnSpc>
              <a:spcBef>
                <a:spcPts val="500"/>
              </a:spcBef>
              <a:spcAft>
                <a:spcPts val="0"/>
              </a:spcAft>
              <a:buClr>
                <a:schemeClr val="dk2"/>
              </a:buClr>
              <a:buSzPts val="126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rot="5400000">
            <a:off x="9800022" y="3223751"/>
            <a:ext cx="4114801" cy="41050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rot="5400000">
            <a:off x="-1708136" y="3223750"/>
            <a:ext cx="4114800" cy="41050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11116340" y="6356350"/>
            <a:ext cx="871868"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bg-BG"/>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1371600" y="685800"/>
            <a:ext cx="9486900" cy="1371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dt" idx="10"/>
          </p:nvPr>
        </p:nvSpPr>
        <p:spPr>
          <a:xfrm rot="5400000">
            <a:off x="9800022" y="3223751"/>
            <a:ext cx="4114801" cy="41050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rot="5400000">
            <a:off x="-1708136" y="3223750"/>
            <a:ext cx="4114800" cy="41050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11116340" y="6356350"/>
            <a:ext cx="871868"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bg-BG"/>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rot="5400000">
            <a:off x="9800022" y="3223751"/>
            <a:ext cx="4114801" cy="41050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rot="5400000">
            <a:off x="-1708136" y="3223750"/>
            <a:ext cx="4114800" cy="41050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11116340" y="6356350"/>
            <a:ext cx="871868"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bg-BG"/>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Sorts Mill Goud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1000"/>
              </a:spcBef>
              <a:spcAft>
                <a:spcPts val="0"/>
              </a:spcAft>
              <a:buClr>
                <a:schemeClr val="dk2"/>
              </a:buClr>
              <a:buSzPts val="2240"/>
              <a:buChar char="•"/>
              <a:defRPr sz="3200"/>
            </a:lvl1pPr>
            <a:lvl2pPr marL="914400" lvl="1" indent="-353060" algn="l">
              <a:lnSpc>
                <a:spcPct val="100000"/>
              </a:lnSpc>
              <a:spcBef>
                <a:spcPts val="500"/>
              </a:spcBef>
              <a:spcAft>
                <a:spcPts val="0"/>
              </a:spcAft>
              <a:buClr>
                <a:schemeClr val="dk2"/>
              </a:buClr>
              <a:buSzPts val="1960"/>
              <a:buChar char="•"/>
              <a:defRPr sz="2800"/>
            </a:lvl2pPr>
            <a:lvl3pPr marL="1371600" lvl="2" indent="-335280" algn="l">
              <a:lnSpc>
                <a:spcPct val="100000"/>
              </a:lnSpc>
              <a:spcBef>
                <a:spcPts val="500"/>
              </a:spcBef>
              <a:spcAft>
                <a:spcPts val="0"/>
              </a:spcAft>
              <a:buClr>
                <a:schemeClr val="dk2"/>
              </a:buClr>
              <a:buSzPts val="1680"/>
              <a:buChar char="•"/>
              <a:defRPr sz="2400"/>
            </a:lvl3pPr>
            <a:lvl4pPr marL="1828800" lvl="3" indent="-317500" algn="l">
              <a:lnSpc>
                <a:spcPct val="100000"/>
              </a:lnSpc>
              <a:spcBef>
                <a:spcPts val="500"/>
              </a:spcBef>
              <a:spcAft>
                <a:spcPts val="0"/>
              </a:spcAft>
              <a:buClr>
                <a:schemeClr val="dk2"/>
              </a:buClr>
              <a:buSzPts val="1400"/>
              <a:buChar char="•"/>
              <a:defRPr sz="2000"/>
            </a:lvl4pPr>
            <a:lvl5pPr marL="2286000" lvl="4" indent="-317500" algn="l">
              <a:lnSpc>
                <a:spcPct val="100000"/>
              </a:lnSpc>
              <a:spcBef>
                <a:spcPts val="500"/>
              </a:spcBef>
              <a:spcAft>
                <a:spcPts val="0"/>
              </a:spcAft>
              <a:buClr>
                <a:schemeClr val="dk2"/>
              </a:buClr>
              <a:buSzPts val="14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2"/>
              </a:buClr>
              <a:buSzPts val="1120"/>
              <a:buNone/>
              <a:defRPr sz="1600"/>
            </a:lvl1pPr>
            <a:lvl2pPr marL="914400" lvl="1" indent="-228600" algn="l">
              <a:lnSpc>
                <a:spcPct val="100000"/>
              </a:lnSpc>
              <a:spcBef>
                <a:spcPts val="500"/>
              </a:spcBef>
              <a:spcAft>
                <a:spcPts val="0"/>
              </a:spcAft>
              <a:buClr>
                <a:schemeClr val="dk2"/>
              </a:buClr>
              <a:buSzPts val="980"/>
              <a:buNone/>
              <a:defRPr sz="1400"/>
            </a:lvl2pPr>
            <a:lvl3pPr marL="1371600" lvl="2" indent="-228600" algn="l">
              <a:lnSpc>
                <a:spcPct val="100000"/>
              </a:lnSpc>
              <a:spcBef>
                <a:spcPts val="500"/>
              </a:spcBef>
              <a:spcAft>
                <a:spcPts val="0"/>
              </a:spcAft>
              <a:buClr>
                <a:schemeClr val="dk2"/>
              </a:buClr>
              <a:buSzPts val="840"/>
              <a:buNone/>
              <a:defRPr sz="1200"/>
            </a:lvl3pPr>
            <a:lvl4pPr marL="1828800" lvl="3" indent="-228600" algn="l">
              <a:lnSpc>
                <a:spcPct val="100000"/>
              </a:lnSpc>
              <a:spcBef>
                <a:spcPts val="500"/>
              </a:spcBef>
              <a:spcAft>
                <a:spcPts val="0"/>
              </a:spcAft>
              <a:buClr>
                <a:schemeClr val="dk2"/>
              </a:buClr>
              <a:buSzPts val="700"/>
              <a:buNone/>
              <a:defRPr sz="1000"/>
            </a:lvl4pPr>
            <a:lvl5pPr marL="2286000" lvl="4" indent="-228600" algn="l">
              <a:lnSpc>
                <a:spcPct val="100000"/>
              </a:lnSpc>
              <a:spcBef>
                <a:spcPts val="500"/>
              </a:spcBef>
              <a:spcAft>
                <a:spcPts val="0"/>
              </a:spcAft>
              <a:buClr>
                <a:schemeClr val="dk2"/>
              </a:buClr>
              <a:buSzPts val="7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rot="5400000">
            <a:off x="9800022" y="3223751"/>
            <a:ext cx="4114801" cy="41050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rot="5400000">
            <a:off x="-1708136" y="3223750"/>
            <a:ext cx="4114800" cy="41050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11116340" y="6356350"/>
            <a:ext cx="871868"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bg-BG"/>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Sorts Mill Goud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2"/>
              </a:buClr>
              <a:buSzPts val="1120"/>
              <a:buNone/>
              <a:defRPr sz="1600"/>
            </a:lvl1pPr>
            <a:lvl2pPr marL="914400" lvl="1" indent="-228600" algn="l">
              <a:lnSpc>
                <a:spcPct val="100000"/>
              </a:lnSpc>
              <a:spcBef>
                <a:spcPts val="500"/>
              </a:spcBef>
              <a:spcAft>
                <a:spcPts val="0"/>
              </a:spcAft>
              <a:buClr>
                <a:schemeClr val="dk2"/>
              </a:buClr>
              <a:buSzPts val="980"/>
              <a:buNone/>
              <a:defRPr sz="1400"/>
            </a:lvl2pPr>
            <a:lvl3pPr marL="1371600" lvl="2" indent="-228600" algn="l">
              <a:lnSpc>
                <a:spcPct val="100000"/>
              </a:lnSpc>
              <a:spcBef>
                <a:spcPts val="500"/>
              </a:spcBef>
              <a:spcAft>
                <a:spcPts val="0"/>
              </a:spcAft>
              <a:buClr>
                <a:schemeClr val="dk2"/>
              </a:buClr>
              <a:buSzPts val="840"/>
              <a:buNone/>
              <a:defRPr sz="1200"/>
            </a:lvl3pPr>
            <a:lvl4pPr marL="1828800" lvl="3" indent="-228600" algn="l">
              <a:lnSpc>
                <a:spcPct val="100000"/>
              </a:lnSpc>
              <a:spcBef>
                <a:spcPts val="500"/>
              </a:spcBef>
              <a:spcAft>
                <a:spcPts val="0"/>
              </a:spcAft>
              <a:buClr>
                <a:schemeClr val="dk2"/>
              </a:buClr>
              <a:buSzPts val="700"/>
              <a:buNone/>
              <a:defRPr sz="1000"/>
            </a:lvl4pPr>
            <a:lvl5pPr marL="2286000" lvl="4" indent="-228600" algn="l">
              <a:lnSpc>
                <a:spcPct val="100000"/>
              </a:lnSpc>
              <a:spcBef>
                <a:spcPts val="500"/>
              </a:spcBef>
              <a:spcAft>
                <a:spcPts val="0"/>
              </a:spcAft>
              <a:buClr>
                <a:schemeClr val="dk2"/>
              </a:buClr>
              <a:buSzPts val="7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rot="5400000">
            <a:off x="9800022" y="3223751"/>
            <a:ext cx="4114801" cy="41050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rot="5400000">
            <a:off x="-1708136" y="3223750"/>
            <a:ext cx="4114800" cy="41050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11116340" y="6356350"/>
            <a:ext cx="871868"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bg-BG"/>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1371600" y="685800"/>
            <a:ext cx="9486900" cy="1371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4156001" y="-530298"/>
            <a:ext cx="3918098" cy="9486901"/>
          </a:xfrm>
          <a:prstGeom prst="rect">
            <a:avLst/>
          </a:prstGeom>
          <a:noFill/>
          <a:ln>
            <a:noFill/>
          </a:ln>
        </p:spPr>
        <p:txBody>
          <a:bodyPr spcFirstLastPara="1" wrap="square" lIns="91425" tIns="45700" rIns="91425" bIns="45700" anchor="t" anchorCtr="0">
            <a:normAutofit/>
          </a:bodyPr>
          <a:lstStyle>
            <a:lvl1pPr marL="457200" lvl="0" indent="-308610" algn="l">
              <a:lnSpc>
                <a:spcPct val="100000"/>
              </a:lnSpc>
              <a:spcBef>
                <a:spcPts val="1000"/>
              </a:spcBef>
              <a:spcAft>
                <a:spcPts val="0"/>
              </a:spcAft>
              <a:buClr>
                <a:schemeClr val="dk2"/>
              </a:buClr>
              <a:buSzPts val="1260"/>
              <a:buChar char="•"/>
              <a:defRPr/>
            </a:lvl1pPr>
            <a:lvl2pPr marL="914400" lvl="1" indent="-308610" algn="l">
              <a:lnSpc>
                <a:spcPct val="100000"/>
              </a:lnSpc>
              <a:spcBef>
                <a:spcPts val="500"/>
              </a:spcBef>
              <a:spcAft>
                <a:spcPts val="0"/>
              </a:spcAft>
              <a:buClr>
                <a:schemeClr val="dk2"/>
              </a:buClr>
              <a:buSzPts val="1260"/>
              <a:buChar char="•"/>
              <a:defRPr/>
            </a:lvl2pPr>
            <a:lvl3pPr marL="1371600" lvl="2" indent="-308610" algn="l">
              <a:lnSpc>
                <a:spcPct val="100000"/>
              </a:lnSpc>
              <a:spcBef>
                <a:spcPts val="500"/>
              </a:spcBef>
              <a:spcAft>
                <a:spcPts val="0"/>
              </a:spcAft>
              <a:buClr>
                <a:schemeClr val="dk2"/>
              </a:buClr>
              <a:buSzPts val="1260"/>
              <a:buChar char="•"/>
              <a:defRPr/>
            </a:lvl3pPr>
            <a:lvl4pPr marL="1828800" lvl="3" indent="-308610" algn="l">
              <a:lnSpc>
                <a:spcPct val="100000"/>
              </a:lnSpc>
              <a:spcBef>
                <a:spcPts val="500"/>
              </a:spcBef>
              <a:spcAft>
                <a:spcPts val="0"/>
              </a:spcAft>
              <a:buClr>
                <a:schemeClr val="dk2"/>
              </a:buClr>
              <a:buSzPts val="1260"/>
              <a:buChar char="•"/>
              <a:defRPr/>
            </a:lvl4pPr>
            <a:lvl5pPr marL="2286000" lvl="4" indent="-308610" algn="l">
              <a:lnSpc>
                <a:spcPct val="100000"/>
              </a:lnSpc>
              <a:spcBef>
                <a:spcPts val="500"/>
              </a:spcBef>
              <a:spcAft>
                <a:spcPts val="0"/>
              </a:spcAft>
              <a:buClr>
                <a:schemeClr val="dk2"/>
              </a:buClr>
              <a:buSzPts val="126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rot="5400000">
            <a:off x="9800022" y="3223751"/>
            <a:ext cx="4114801" cy="41050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rot="5400000">
            <a:off x="-1708136" y="3223750"/>
            <a:ext cx="4114800" cy="41050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11116340" y="6356350"/>
            <a:ext cx="871868"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bg-BG"/>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08610" algn="l">
              <a:lnSpc>
                <a:spcPct val="100000"/>
              </a:lnSpc>
              <a:spcBef>
                <a:spcPts val="1000"/>
              </a:spcBef>
              <a:spcAft>
                <a:spcPts val="0"/>
              </a:spcAft>
              <a:buClr>
                <a:schemeClr val="dk2"/>
              </a:buClr>
              <a:buSzPts val="1260"/>
              <a:buChar char="•"/>
              <a:defRPr/>
            </a:lvl1pPr>
            <a:lvl2pPr marL="914400" lvl="1" indent="-308610" algn="l">
              <a:lnSpc>
                <a:spcPct val="100000"/>
              </a:lnSpc>
              <a:spcBef>
                <a:spcPts val="500"/>
              </a:spcBef>
              <a:spcAft>
                <a:spcPts val="0"/>
              </a:spcAft>
              <a:buClr>
                <a:schemeClr val="dk2"/>
              </a:buClr>
              <a:buSzPts val="1260"/>
              <a:buChar char="•"/>
              <a:defRPr/>
            </a:lvl2pPr>
            <a:lvl3pPr marL="1371600" lvl="2" indent="-308610" algn="l">
              <a:lnSpc>
                <a:spcPct val="100000"/>
              </a:lnSpc>
              <a:spcBef>
                <a:spcPts val="500"/>
              </a:spcBef>
              <a:spcAft>
                <a:spcPts val="0"/>
              </a:spcAft>
              <a:buClr>
                <a:schemeClr val="dk2"/>
              </a:buClr>
              <a:buSzPts val="1260"/>
              <a:buChar char="•"/>
              <a:defRPr/>
            </a:lvl3pPr>
            <a:lvl4pPr marL="1828800" lvl="3" indent="-308610" algn="l">
              <a:lnSpc>
                <a:spcPct val="100000"/>
              </a:lnSpc>
              <a:spcBef>
                <a:spcPts val="500"/>
              </a:spcBef>
              <a:spcAft>
                <a:spcPts val="0"/>
              </a:spcAft>
              <a:buClr>
                <a:schemeClr val="dk2"/>
              </a:buClr>
              <a:buSzPts val="1260"/>
              <a:buChar char="•"/>
              <a:defRPr/>
            </a:lvl4pPr>
            <a:lvl5pPr marL="2286000" lvl="4" indent="-308610" algn="l">
              <a:lnSpc>
                <a:spcPct val="100000"/>
              </a:lnSpc>
              <a:spcBef>
                <a:spcPts val="500"/>
              </a:spcBef>
              <a:spcAft>
                <a:spcPts val="0"/>
              </a:spcAft>
              <a:buClr>
                <a:schemeClr val="dk2"/>
              </a:buClr>
              <a:buSzPts val="126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rot="5400000">
            <a:off x="9800022" y="3223751"/>
            <a:ext cx="4114801" cy="41050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rot="5400000">
            <a:off x="-1708136" y="3223750"/>
            <a:ext cx="4114800" cy="41050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11116340" y="6356350"/>
            <a:ext cx="871868"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bg-BG"/>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371600" y="685800"/>
            <a:ext cx="9486900" cy="1371600"/>
          </a:xfrm>
          <a:prstGeom prst="rect">
            <a:avLst/>
          </a:prstGeom>
          <a:noFill/>
          <a:ln>
            <a:noFill/>
          </a:ln>
        </p:spPr>
        <p:txBody>
          <a:bodyPr spcFirstLastPara="1" wrap="square" lIns="91425" tIns="45700" rIns="91425" bIns="45700" anchor="b" anchorCtr="0">
            <a:normAutofit/>
          </a:bodyPr>
          <a:lstStyle>
            <a:lvl1pPr marR="0" lvl="0" algn="l" rtl="0">
              <a:lnSpc>
                <a:spcPct val="90000"/>
              </a:lnSpc>
              <a:spcBef>
                <a:spcPts val="0"/>
              </a:spcBef>
              <a:spcAft>
                <a:spcPts val="0"/>
              </a:spcAft>
              <a:buClr>
                <a:schemeClr val="dk2"/>
              </a:buClr>
              <a:buSzPts val="3600"/>
              <a:buFont typeface="Sorts Mill Goudy"/>
              <a:buNone/>
              <a:defRPr sz="3600" b="0" i="0" u="none" strike="noStrike" cap="none">
                <a:solidFill>
                  <a:schemeClr val="dk2"/>
                </a:solidFill>
                <a:latin typeface="Sorts Mill Goudy"/>
                <a:ea typeface="Sorts Mill Goudy"/>
                <a:cs typeface="Sorts Mill Goudy"/>
                <a:sym typeface="Sorts Mill Goud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371599" y="2254103"/>
            <a:ext cx="9486901" cy="3918098"/>
          </a:xfrm>
          <a:prstGeom prst="rect">
            <a:avLst/>
          </a:prstGeom>
          <a:noFill/>
          <a:ln>
            <a:noFill/>
          </a:ln>
        </p:spPr>
        <p:txBody>
          <a:bodyPr spcFirstLastPara="1" wrap="square" lIns="91425" tIns="45700" rIns="91425" bIns="45700" anchor="t" anchorCtr="0">
            <a:normAutofit/>
          </a:bodyPr>
          <a:lstStyle>
            <a:lvl1pPr marL="457200" marR="0" lvl="0" indent="-335280" algn="l" rtl="0">
              <a:lnSpc>
                <a:spcPct val="100000"/>
              </a:lnSpc>
              <a:spcBef>
                <a:spcPts val="1000"/>
              </a:spcBef>
              <a:spcAft>
                <a:spcPts val="0"/>
              </a:spcAft>
              <a:buClr>
                <a:schemeClr val="dk2"/>
              </a:buClr>
              <a:buSzPts val="1680"/>
              <a:buFont typeface="Arial"/>
              <a:buChar char="•"/>
              <a:defRPr sz="2400" b="0" i="0" u="none" strike="noStrike" cap="none">
                <a:solidFill>
                  <a:schemeClr val="dk2"/>
                </a:solidFill>
                <a:latin typeface="Sorts Mill Goudy"/>
                <a:ea typeface="Sorts Mill Goudy"/>
                <a:cs typeface="Sorts Mill Goudy"/>
                <a:sym typeface="Sorts Mill Goudy"/>
              </a:defRPr>
            </a:lvl1pPr>
            <a:lvl2pPr marL="914400" marR="0" lvl="1" indent="-317500" algn="l" rtl="0">
              <a:lnSpc>
                <a:spcPct val="100000"/>
              </a:lnSpc>
              <a:spcBef>
                <a:spcPts val="500"/>
              </a:spcBef>
              <a:spcAft>
                <a:spcPts val="0"/>
              </a:spcAft>
              <a:buClr>
                <a:schemeClr val="dk2"/>
              </a:buClr>
              <a:buSzPts val="1400"/>
              <a:buFont typeface="Arial"/>
              <a:buChar char="•"/>
              <a:defRPr sz="2000" b="0" i="0" u="none" strike="noStrike" cap="none">
                <a:solidFill>
                  <a:schemeClr val="dk2"/>
                </a:solidFill>
                <a:latin typeface="Sorts Mill Goudy"/>
                <a:ea typeface="Sorts Mill Goudy"/>
                <a:cs typeface="Sorts Mill Goudy"/>
                <a:sym typeface="Sorts Mill Goudy"/>
              </a:defRPr>
            </a:lvl2pPr>
            <a:lvl3pPr marL="1371600" marR="0" lvl="2" indent="-308610" algn="l" rtl="0">
              <a:lnSpc>
                <a:spcPct val="100000"/>
              </a:lnSpc>
              <a:spcBef>
                <a:spcPts val="500"/>
              </a:spcBef>
              <a:spcAft>
                <a:spcPts val="0"/>
              </a:spcAft>
              <a:buClr>
                <a:schemeClr val="dk2"/>
              </a:buClr>
              <a:buSzPts val="1260"/>
              <a:buFont typeface="Arial"/>
              <a:buChar char="•"/>
              <a:defRPr sz="1800" b="0" i="0" u="none" strike="noStrike" cap="none">
                <a:solidFill>
                  <a:schemeClr val="dk2"/>
                </a:solidFill>
                <a:latin typeface="Sorts Mill Goudy"/>
                <a:ea typeface="Sorts Mill Goudy"/>
                <a:cs typeface="Sorts Mill Goudy"/>
                <a:sym typeface="Sorts Mill Goudy"/>
              </a:defRPr>
            </a:lvl3pPr>
            <a:lvl4pPr marL="1828800" marR="0" lvl="3" indent="-299719" algn="l" rtl="0">
              <a:lnSpc>
                <a:spcPct val="100000"/>
              </a:lnSpc>
              <a:spcBef>
                <a:spcPts val="500"/>
              </a:spcBef>
              <a:spcAft>
                <a:spcPts val="0"/>
              </a:spcAft>
              <a:buClr>
                <a:schemeClr val="dk2"/>
              </a:buClr>
              <a:buSzPts val="1120"/>
              <a:buFont typeface="Arial"/>
              <a:buChar char="•"/>
              <a:defRPr sz="1600" b="0" i="0" u="none" strike="noStrike" cap="none">
                <a:solidFill>
                  <a:schemeClr val="dk2"/>
                </a:solidFill>
                <a:latin typeface="Sorts Mill Goudy"/>
                <a:ea typeface="Sorts Mill Goudy"/>
                <a:cs typeface="Sorts Mill Goudy"/>
                <a:sym typeface="Sorts Mill Goudy"/>
              </a:defRPr>
            </a:lvl4pPr>
            <a:lvl5pPr marL="2286000" marR="0" lvl="4" indent="-299720" algn="l" rtl="0">
              <a:lnSpc>
                <a:spcPct val="100000"/>
              </a:lnSpc>
              <a:spcBef>
                <a:spcPts val="500"/>
              </a:spcBef>
              <a:spcAft>
                <a:spcPts val="0"/>
              </a:spcAft>
              <a:buClr>
                <a:schemeClr val="dk2"/>
              </a:buClr>
              <a:buSzPts val="1120"/>
              <a:buFont typeface="Arial"/>
              <a:buChar char="•"/>
              <a:defRPr sz="1600" b="0" i="0" u="none" strike="noStrike" cap="none">
                <a:solidFill>
                  <a:schemeClr val="dk2"/>
                </a:solidFill>
                <a:latin typeface="Sorts Mill Goudy"/>
                <a:ea typeface="Sorts Mill Goudy"/>
                <a:cs typeface="Sorts Mill Goudy"/>
                <a:sym typeface="Sorts Mill Goud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Gill Sans"/>
                <a:ea typeface="Gill Sans"/>
                <a:cs typeface="Gill Sans"/>
                <a:sym typeface="Gill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Gill Sans"/>
                <a:ea typeface="Gill Sans"/>
                <a:cs typeface="Gill Sans"/>
                <a:sym typeface="Gill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Gill Sans"/>
                <a:ea typeface="Gill Sans"/>
                <a:cs typeface="Gill Sans"/>
                <a:sym typeface="Gill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Gill Sans"/>
                <a:ea typeface="Gill Sans"/>
                <a:cs typeface="Gill Sans"/>
                <a:sym typeface="Gill Sans"/>
              </a:defRPr>
            </a:lvl9pPr>
          </a:lstStyle>
          <a:p>
            <a:endParaRPr/>
          </a:p>
        </p:txBody>
      </p:sp>
      <p:sp>
        <p:nvSpPr>
          <p:cNvPr id="12" name="Google Shape;12;p1"/>
          <p:cNvSpPr txBox="1">
            <a:spLocks noGrp="1"/>
          </p:cNvSpPr>
          <p:nvPr>
            <p:ph type="dt" idx="10"/>
          </p:nvPr>
        </p:nvSpPr>
        <p:spPr>
          <a:xfrm rot="5400000">
            <a:off x="9800022" y="3223751"/>
            <a:ext cx="4114801" cy="410501"/>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486E81"/>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1"/>
          <p:cNvSpPr txBox="1">
            <a:spLocks noGrp="1"/>
          </p:cNvSpPr>
          <p:nvPr>
            <p:ph type="ftr" idx="11"/>
          </p:nvPr>
        </p:nvSpPr>
        <p:spPr>
          <a:xfrm rot="5400000">
            <a:off x="-1708136" y="3223750"/>
            <a:ext cx="4114800" cy="410501"/>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486E81"/>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1"/>
          <p:cNvSpPr txBox="1">
            <a:spLocks noGrp="1"/>
          </p:cNvSpPr>
          <p:nvPr>
            <p:ph type="sldNum" idx="12"/>
          </p:nvPr>
        </p:nvSpPr>
        <p:spPr>
          <a:xfrm>
            <a:off x="11116340" y="6356350"/>
            <a:ext cx="871868"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486E81"/>
                </a:solidFill>
                <a:latin typeface="Gill Sans"/>
                <a:ea typeface="Gill Sans"/>
                <a:cs typeface="Gill Sans"/>
                <a:sym typeface="Gill Sans"/>
              </a:defRPr>
            </a:lvl1pPr>
            <a:lvl2pPr marL="0" marR="0" lvl="1" indent="0" algn="r" rtl="0">
              <a:spcBef>
                <a:spcPts val="0"/>
              </a:spcBef>
              <a:buNone/>
              <a:defRPr sz="900" b="0" i="0" u="none" strike="noStrike" cap="none">
                <a:solidFill>
                  <a:srgbClr val="486E81"/>
                </a:solidFill>
                <a:latin typeface="Gill Sans"/>
                <a:ea typeface="Gill Sans"/>
                <a:cs typeface="Gill Sans"/>
                <a:sym typeface="Gill Sans"/>
              </a:defRPr>
            </a:lvl2pPr>
            <a:lvl3pPr marL="0" marR="0" lvl="2" indent="0" algn="r" rtl="0">
              <a:spcBef>
                <a:spcPts val="0"/>
              </a:spcBef>
              <a:buNone/>
              <a:defRPr sz="900" b="0" i="0" u="none" strike="noStrike" cap="none">
                <a:solidFill>
                  <a:srgbClr val="486E81"/>
                </a:solidFill>
                <a:latin typeface="Gill Sans"/>
                <a:ea typeface="Gill Sans"/>
                <a:cs typeface="Gill Sans"/>
                <a:sym typeface="Gill Sans"/>
              </a:defRPr>
            </a:lvl3pPr>
            <a:lvl4pPr marL="0" marR="0" lvl="3" indent="0" algn="r" rtl="0">
              <a:spcBef>
                <a:spcPts val="0"/>
              </a:spcBef>
              <a:buNone/>
              <a:defRPr sz="900" b="0" i="0" u="none" strike="noStrike" cap="none">
                <a:solidFill>
                  <a:srgbClr val="486E81"/>
                </a:solidFill>
                <a:latin typeface="Gill Sans"/>
                <a:ea typeface="Gill Sans"/>
                <a:cs typeface="Gill Sans"/>
                <a:sym typeface="Gill Sans"/>
              </a:defRPr>
            </a:lvl4pPr>
            <a:lvl5pPr marL="0" marR="0" lvl="4" indent="0" algn="r" rtl="0">
              <a:spcBef>
                <a:spcPts val="0"/>
              </a:spcBef>
              <a:buNone/>
              <a:defRPr sz="900" b="0" i="0" u="none" strike="noStrike" cap="none">
                <a:solidFill>
                  <a:srgbClr val="486E81"/>
                </a:solidFill>
                <a:latin typeface="Gill Sans"/>
                <a:ea typeface="Gill Sans"/>
                <a:cs typeface="Gill Sans"/>
                <a:sym typeface="Gill Sans"/>
              </a:defRPr>
            </a:lvl5pPr>
            <a:lvl6pPr marL="0" marR="0" lvl="5" indent="0" algn="r" rtl="0">
              <a:spcBef>
                <a:spcPts val="0"/>
              </a:spcBef>
              <a:buNone/>
              <a:defRPr sz="900" b="0" i="0" u="none" strike="noStrike" cap="none">
                <a:solidFill>
                  <a:srgbClr val="486E81"/>
                </a:solidFill>
                <a:latin typeface="Gill Sans"/>
                <a:ea typeface="Gill Sans"/>
                <a:cs typeface="Gill Sans"/>
                <a:sym typeface="Gill Sans"/>
              </a:defRPr>
            </a:lvl6pPr>
            <a:lvl7pPr marL="0" marR="0" lvl="6" indent="0" algn="r" rtl="0">
              <a:spcBef>
                <a:spcPts val="0"/>
              </a:spcBef>
              <a:buNone/>
              <a:defRPr sz="900" b="0" i="0" u="none" strike="noStrike" cap="none">
                <a:solidFill>
                  <a:srgbClr val="486E81"/>
                </a:solidFill>
                <a:latin typeface="Gill Sans"/>
                <a:ea typeface="Gill Sans"/>
                <a:cs typeface="Gill Sans"/>
                <a:sym typeface="Gill Sans"/>
              </a:defRPr>
            </a:lvl7pPr>
            <a:lvl8pPr marL="0" marR="0" lvl="7" indent="0" algn="r" rtl="0">
              <a:spcBef>
                <a:spcPts val="0"/>
              </a:spcBef>
              <a:buNone/>
              <a:defRPr sz="900" b="0" i="0" u="none" strike="noStrike" cap="none">
                <a:solidFill>
                  <a:srgbClr val="486E81"/>
                </a:solidFill>
                <a:latin typeface="Gill Sans"/>
                <a:ea typeface="Gill Sans"/>
                <a:cs typeface="Gill Sans"/>
                <a:sym typeface="Gill Sans"/>
              </a:defRPr>
            </a:lvl8pPr>
            <a:lvl9pPr marL="0" marR="0" lvl="8" indent="0" algn="r" rtl="0">
              <a:spcBef>
                <a:spcPts val="0"/>
              </a:spcBef>
              <a:buNone/>
              <a:defRPr sz="900" b="0" i="0" u="none" strike="noStrike" cap="none">
                <a:solidFill>
                  <a:srgbClr val="486E81"/>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bg-BG"/>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8"/>
        <p:cNvGrpSpPr/>
        <p:nvPr/>
      </p:nvGrpSpPr>
      <p:grpSpPr>
        <a:xfrm>
          <a:off x="0" y="0"/>
          <a:ext cx="0" cy="0"/>
          <a:chOff x="0" y="0"/>
          <a:chExt cx="0" cy="0"/>
        </a:xfrm>
      </p:grpSpPr>
      <p:pic>
        <p:nvPicPr>
          <p:cNvPr id="99" name="Google Shape;99;p14"/>
          <p:cNvPicPr preferRelativeResize="0"/>
          <p:nvPr/>
        </p:nvPicPr>
        <p:blipFill rotWithShape="1">
          <a:blip r:embed="rId3">
            <a:alphaModFix/>
          </a:blip>
          <a:srcRect/>
          <a:stretch/>
        </p:blipFill>
        <p:spPr>
          <a:xfrm>
            <a:off x="8972884" y="927464"/>
            <a:ext cx="2759904" cy="4660545"/>
          </a:xfrm>
          <a:prstGeom prst="rect">
            <a:avLst/>
          </a:prstGeom>
          <a:noFill/>
          <a:ln>
            <a:noFill/>
          </a:ln>
        </p:spPr>
      </p:pic>
      <p:sp>
        <p:nvSpPr>
          <p:cNvPr id="100" name="Google Shape;100;p14"/>
          <p:cNvSpPr txBox="1"/>
          <p:nvPr/>
        </p:nvSpPr>
        <p:spPr>
          <a:xfrm>
            <a:off x="9159663" y="365326"/>
            <a:ext cx="2210862"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bg-BG" sz="1800" b="1" i="0" u="none" strike="noStrike" cap="none">
                <a:solidFill>
                  <a:srgbClr val="002060"/>
                </a:solidFill>
                <a:latin typeface="Consolas"/>
                <a:ea typeface="Consolas"/>
                <a:cs typeface="Consolas"/>
                <a:sym typeface="Consolas"/>
              </a:rPr>
              <a:t>катедра</a:t>
            </a:r>
            <a:endParaRPr/>
          </a:p>
          <a:p>
            <a:pPr marL="0" marR="0" lvl="0" indent="0" algn="ctr" rtl="0">
              <a:spcBef>
                <a:spcPts val="0"/>
              </a:spcBef>
              <a:spcAft>
                <a:spcPts val="0"/>
              </a:spcAft>
              <a:buNone/>
            </a:pPr>
            <a:r>
              <a:rPr lang="bg-BG" sz="1800" b="1" i="0" u="none" strike="noStrike" cap="none">
                <a:solidFill>
                  <a:srgbClr val="002060"/>
                </a:solidFill>
                <a:latin typeface="Consolas"/>
                <a:ea typeface="Consolas"/>
                <a:cs typeface="Consolas"/>
                <a:sym typeface="Consolas"/>
              </a:rPr>
              <a:t>АВТОМАТИЗАЦИЯ НА</a:t>
            </a:r>
            <a:br>
              <a:rPr lang="bg-BG" sz="1800" b="1" i="0" u="none" strike="noStrike" cap="none">
                <a:solidFill>
                  <a:srgbClr val="002060"/>
                </a:solidFill>
                <a:latin typeface="Consolas"/>
                <a:ea typeface="Consolas"/>
                <a:cs typeface="Consolas"/>
                <a:sym typeface="Consolas"/>
              </a:rPr>
            </a:br>
            <a:r>
              <a:rPr lang="bg-BG" sz="1800" b="1" i="0" u="none" strike="noStrike" cap="none">
                <a:solidFill>
                  <a:srgbClr val="002060"/>
                </a:solidFill>
                <a:latin typeface="Consolas"/>
                <a:ea typeface="Consolas"/>
                <a:cs typeface="Consolas"/>
                <a:sym typeface="Consolas"/>
              </a:rPr>
              <a:t>ПРОИЗВОДСТВОТО</a:t>
            </a:r>
            <a:endParaRPr/>
          </a:p>
        </p:txBody>
      </p:sp>
      <p:sp>
        <p:nvSpPr>
          <p:cNvPr id="101" name="Google Shape;101;p14"/>
          <p:cNvSpPr txBox="1"/>
          <p:nvPr/>
        </p:nvSpPr>
        <p:spPr>
          <a:xfrm>
            <a:off x="8994131" y="5080013"/>
            <a:ext cx="2717411" cy="147732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bg-BG" sz="1800" b="1" i="0" u="none" strike="noStrike" cap="none">
                <a:solidFill>
                  <a:srgbClr val="002060"/>
                </a:solidFill>
                <a:latin typeface="Consolas"/>
                <a:ea typeface="Consolas"/>
                <a:cs typeface="Consolas"/>
                <a:sym typeface="Consolas"/>
              </a:rPr>
              <a:t>ХИМИКОТЕХНОЛОГИЧЕН И</a:t>
            </a:r>
            <a:br>
              <a:rPr lang="bg-BG" sz="1800" b="1" i="0" u="none" strike="noStrike" cap="none">
                <a:solidFill>
                  <a:srgbClr val="002060"/>
                </a:solidFill>
                <a:latin typeface="Consolas"/>
                <a:ea typeface="Consolas"/>
                <a:cs typeface="Consolas"/>
                <a:sym typeface="Consolas"/>
              </a:rPr>
            </a:br>
            <a:r>
              <a:rPr lang="bg-BG" sz="1800" b="1" i="0" u="none" strike="noStrike" cap="none">
                <a:solidFill>
                  <a:srgbClr val="002060"/>
                </a:solidFill>
                <a:latin typeface="Consolas"/>
                <a:ea typeface="Consolas"/>
                <a:cs typeface="Consolas"/>
                <a:sym typeface="Consolas"/>
              </a:rPr>
              <a:t>МЕТАЛУРГИЧЕН </a:t>
            </a:r>
            <a:endParaRPr/>
          </a:p>
          <a:p>
            <a:pPr marL="0" marR="0" lvl="0" indent="0" algn="ctr" rtl="0">
              <a:spcBef>
                <a:spcPts val="0"/>
              </a:spcBef>
              <a:spcAft>
                <a:spcPts val="0"/>
              </a:spcAft>
              <a:buNone/>
            </a:pPr>
            <a:r>
              <a:rPr lang="bg-BG" sz="1800" b="1" i="0" u="none" strike="noStrike" cap="none">
                <a:solidFill>
                  <a:srgbClr val="002060"/>
                </a:solidFill>
                <a:latin typeface="Consolas"/>
                <a:ea typeface="Consolas"/>
                <a:cs typeface="Consolas"/>
                <a:sym typeface="Consolas"/>
              </a:rPr>
              <a:t>УНИВЕРСИТЕТ</a:t>
            </a:r>
            <a:endParaRPr/>
          </a:p>
          <a:p>
            <a:pPr marL="0" marR="0" lvl="0" indent="0" algn="ctr" rtl="0">
              <a:spcBef>
                <a:spcPts val="0"/>
              </a:spcBef>
              <a:spcAft>
                <a:spcPts val="0"/>
              </a:spcAft>
              <a:buNone/>
            </a:pPr>
            <a:endParaRPr sz="1800" b="1" i="0" u="none" strike="noStrike" cap="none">
              <a:solidFill>
                <a:srgbClr val="002060"/>
              </a:solidFill>
              <a:latin typeface="Consolas"/>
              <a:ea typeface="Consolas"/>
              <a:cs typeface="Consolas"/>
              <a:sym typeface="Consolas"/>
            </a:endParaRPr>
          </a:p>
          <a:p>
            <a:pPr marL="0" marR="0" lvl="0" indent="0" algn="ctr" rtl="0">
              <a:spcBef>
                <a:spcPts val="0"/>
              </a:spcBef>
              <a:spcAft>
                <a:spcPts val="0"/>
              </a:spcAft>
              <a:buNone/>
            </a:pPr>
            <a:r>
              <a:rPr lang="bg-BG" sz="1800" b="1" i="0" u="none" strike="noStrike" cap="none">
                <a:solidFill>
                  <a:srgbClr val="002060"/>
                </a:solidFill>
                <a:latin typeface="Consolas"/>
                <a:ea typeface="Consolas"/>
                <a:cs typeface="Consolas"/>
                <a:sym typeface="Consolas"/>
              </a:rPr>
              <a:t>СОФИЯ</a:t>
            </a:r>
            <a:endParaRPr/>
          </a:p>
        </p:txBody>
      </p:sp>
      <p:sp>
        <p:nvSpPr>
          <p:cNvPr id="102" name="Google Shape;102;p14"/>
          <p:cNvSpPr txBox="1"/>
          <p:nvPr/>
        </p:nvSpPr>
        <p:spPr>
          <a:xfrm>
            <a:off x="1462707" y="1075011"/>
            <a:ext cx="5258171"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bg-BG" sz="4800" b="1" i="0" u="none" strike="noStrike" cap="none">
                <a:solidFill>
                  <a:srgbClr val="002060"/>
                </a:solidFill>
                <a:latin typeface="Consolas"/>
                <a:ea typeface="Consolas"/>
                <a:cs typeface="Consolas"/>
                <a:sym typeface="Consolas"/>
              </a:rPr>
              <a:t>ДИПЛОМНА РАБОТА</a:t>
            </a:r>
            <a:endParaRPr/>
          </a:p>
        </p:txBody>
      </p:sp>
      <p:sp>
        <p:nvSpPr>
          <p:cNvPr id="103" name="Google Shape;103;p14"/>
          <p:cNvSpPr txBox="1"/>
          <p:nvPr/>
        </p:nvSpPr>
        <p:spPr>
          <a:xfrm>
            <a:off x="835142" y="2890411"/>
            <a:ext cx="6513300" cy="107717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3200" b="1" i="0" u="none" strike="noStrike" cap="none">
                <a:solidFill>
                  <a:srgbClr val="002060"/>
                </a:solidFill>
                <a:latin typeface="Consolas"/>
                <a:ea typeface="Consolas"/>
                <a:cs typeface="Consolas"/>
                <a:sym typeface="Consolas"/>
              </a:rPr>
              <a:t>Киберсигурност на Интернет информационни системи</a:t>
            </a:r>
            <a:endParaRPr lang="ru-RU"/>
          </a:p>
        </p:txBody>
      </p:sp>
      <p:sp>
        <p:nvSpPr>
          <p:cNvPr id="104" name="Google Shape;104;p14"/>
          <p:cNvSpPr txBox="1"/>
          <p:nvPr/>
        </p:nvSpPr>
        <p:spPr>
          <a:xfrm>
            <a:off x="519289" y="4600221"/>
            <a:ext cx="7151400" cy="144650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bg-BG" sz="2400">
                <a:solidFill>
                  <a:srgbClr val="165271"/>
                </a:solidFill>
                <a:latin typeface="Consolas"/>
                <a:ea typeface="Consolas"/>
                <a:cs typeface="Consolas"/>
                <a:sym typeface="Consolas"/>
              </a:rPr>
              <a:t>Кирил Николаев Кискинов</a:t>
            </a:r>
            <a:r>
              <a:rPr lang="bg-BG" sz="2400" b="0" i="0" u="none" strike="noStrike" cap="none">
                <a:solidFill>
                  <a:srgbClr val="165271"/>
                </a:solidFill>
                <a:latin typeface="Consolas"/>
                <a:ea typeface="Consolas"/>
                <a:cs typeface="Consolas"/>
                <a:sym typeface="Consolas"/>
              </a:rPr>
              <a:t>, фак.№ МС1625</a:t>
            </a:r>
            <a:endParaRPr/>
          </a:p>
          <a:p>
            <a:pPr marL="0" marR="0" lvl="0" indent="0" algn="ctr" rtl="0">
              <a:spcBef>
                <a:spcPts val="0"/>
              </a:spcBef>
              <a:spcAft>
                <a:spcPts val="0"/>
              </a:spcAft>
              <a:buNone/>
            </a:pPr>
            <a:r>
              <a:rPr lang="bg-BG" sz="2400" b="0" i="0" u="none" strike="noStrike" cap="none">
                <a:solidFill>
                  <a:srgbClr val="165271"/>
                </a:solidFill>
                <a:latin typeface="Consolas"/>
                <a:ea typeface="Consolas"/>
                <a:cs typeface="Consolas"/>
                <a:sym typeface="Consolas"/>
              </a:rPr>
              <a:t>м</a:t>
            </a:r>
            <a:r>
              <a:rPr lang="bg-BG" sz="2400">
                <a:solidFill>
                  <a:srgbClr val="165271"/>
                </a:solidFill>
                <a:latin typeface="Consolas"/>
                <a:ea typeface="Consolas"/>
                <a:cs typeface="Consolas"/>
                <a:sym typeface="Consolas"/>
              </a:rPr>
              <a:t>агистър</a:t>
            </a:r>
            <a:r>
              <a:rPr lang="bg-BG" sz="2400" b="0" i="0" u="none" strike="noStrike" cap="none">
                <a:solidFill>
                  <a:srgbClr val="165271"/>
                </a:solidFill>
                <a:latin typeface="Consolas"/>
                <a:ea typeface="Consolas"/>
                <a:cs typeface="Consolas"/>
                <a:sym typeface="Consolas"/>
              </a:rPr>
              <a:t>, специалност </a:t>
            </a:r>
            <a:r>
              <a:rPr lang="bg-BG" sz="2400">
                <a:solidFill>
                  <a:srgbClr val="165271"/>
                </a:solidFill>
                <a:latin typeface="Consolas"/>
                <a:ea typeface="Consolas"/>
                <a:cs typeface="Consolas"/>
                <a:sym typeface="Consolas"/>
              </a:rPr>
              <a:t>АИТ</a:t>
            </a:r>
            <a:endParaRPr/>
          </a:p>
          <a:p>
            <a:pPr marL="0" marR="0" lvl="0" indent="0" algn="ctr" rtl="0">
              <a:spcBef>
                <a:spcPts val="0"/>
              </a:spcBef>
              <a:spcAft>
                <a:spcPts val="0"/>
              </a:spcAft>
              <a:buNone/>
            </a:pPr>
            <a:endParaRPr sz="2400" b="0" i="0" u="none" strike="noStrike" cap="none">
              <a:solidFill>
                <a:srgbClr val="165271"/>
              </a:solidFill>
              <a:latin typeface="Consolas"/>
              <a:ea typeface="Consolas"/>
              <a:cs typeface="Consolas"/>
              <a:sym typeface="Consolas"/>
            </a:endParaRPr>
          </a:p>
          <a:p>
            <a:pPr marL="0" marR="0" lvl="0" indent="0" algn="ctr" rtl="0">
              <a:spcBef>
                <a:spcPts val="0"/>
              </a:spcBef>
              <a:spcAft>
                <a:spcPts val="0"/>
              </a:spcAft>
              <a:buNone/>
            </a:pPr>
            <a:r>
              <a:rPr lang="bg-BG" sz="1600" b="0" i="0" u="none" strike="noStrike" cap="none">
                <a:solidFill>
                  <a:srgbClr val="165271"/>
                </a:solidFill>
                <a:latin typeface="Consolas"/>
                <a:ea typeface="Consolas"/>
                <a:cs typeface="Consolas"/>
                <a:sym typeface="Consolas"/>
              </a:rPr>
              <a:t>Ръководител: </a:t>
            </a:r>
            <a:r>
              <a:rPr lang="ru-RU" sz="1600" b="0" i="0" u="none" strike="noStrike" cap="none">
                <a:solidFill>
                  <a:srgbClr val="165271"/>
                </a:solidFill>
                <a:latin typeface="Consolas"/>
                <a:ea typeface="Consolas"/>
                <a:cs typeface="Consolas"/>
                <a:sym typeface="Consolas"/>
              </a:rPr>
              <a:t>Гл. ас. д-р инж. Васил Методиев</a:t>
            </a:r>
            <a:endParaRPr sz="1600" b="0" i="0" u="none" strike="noStrike" cap="none">
              <a:solidFill>
                <a:srgbClr val="A5A5A5"/>
              </a:solidFill>
              <a:latin typeface="Consolas"/>
              <a:ea typeface="Consolas"/>
              <a:cs typeface="Consolas"/>
              <a:sym typeface="Consolas"/>
            </a:endParaRPr>
          </a:p>
        </p:txBody>
      </p:sp>
      <p:cxnSp>
        <p:nvCxnSpPr>
          <p:cNvPr id="105" name="Google Shape;105;p14"/>
          <p:cNvCxnSpPr/>
          <p:nvPr/>
        </p:nvCxnSpPr>
        <p:spPr>
          <a:xfrm>
            <a:off x="519289" y="2257778"/>
            <a:ext cx="7405511" cy="0"/>
          </a:xfrm>
          <a:prstGeom prst="straightConnector1">
            <a:avLst/>
          </a:prstGeom>
          <a:noFill/>
          <a:ln w="9525" cap="flat" cmpd="sng">
            <a:solidFill>
              <a:schemeClr val="accent6"/>
            </a:solidFill>
            <a:prstDash val="solid"/>
            <a:miter lim="800000"/>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0"/>
        <p:cNvGrpSpPr/>
        <p:nvPr/>
      </p:nvGrpSpPr>
      <p:grpSpPr>
        <a:xfrm>
          <a:off x="0" y="0"/>
          <a:ext cx="0" cy="0"/>
          <a:chOff x="0" y="0"/>
          <a:chExt cx="0" cy="0"/>
        </a:xfrm>
      </p:grpSpPr>
      <p:pic>
        <p:nvPicPr>
          <p:cNvPr id="111" name="Google Shape;111;p15" descr="Image result for target"/>
          <p:cNvPicPr preferRelativeResize="0"/>
          <p:nvPr/>
        </p:nvPicPr>
        <p:blipFill rotWithShape="1">
          <a:blip r:embed="rId3">
            <a:alphaModFix/>
          </a:blip>
          <a:srcRect b="12070"/>
          <a:stretch/>
        </p:blipFill>
        <p:spPr>
          <a:xfrm>
            <a:off x="386419" y="1236188"/>
            <a:ext cx="929685" cy="980964"/>
          </a:xfrm>
          <a:prstGeom prst="rect">
            <a:avLst/>
          </a:prstGeom>
          <a:noFill/>
          <a:ln>
            <a:noFill/>
          </a:ln>
        </p:spPr>
      </p:pic>
      <p:grpSp>
        <p:nvGrpSpPr>
          <p:cNvPr id="112" name="Google Shape;112;p15"/>
          <p:cNvGrpSpPr/>
          <p:nvPr/>
        </p:nvGrpSpPr>
        <p:grpSpPr>
          <a:xfrm>
            <a:off x="39572" y="0"/>
            <a:ext cx="11971806" cy="1095020"/>
            <a:chOff x="39572" y="0"/>
            <a:chExt cx="11971806" cy="1095020"/>
          </a:xfrm>
        </p:grpSpPr>
        <p:sp>
          <p:nvSpPr>
            <p:cNvPr id="113" name="Google Shape;113;p15"/>
            <p:cNvSpPr txBox="1"/>
            <p:nvPr/>
          </p:nvSpPr>
          <p:spPr>
            <a:xfrm>
              <a:off x="39572" y="0"/>
              <a:ext cx="11971800" cy="55395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b="1">
                  <a:solidFill>
                    <a:srgbClr val="002060"/>
                  </a:solidFill>
                  <a:latin typeface="Consolas"/>
                  <a:ea typeface="Consolas"/>
                  <a:cs typeface="Consolas"/>
                  <a:sym typeface="Consolas"/>
                </a:rPr>
                <a:t>КИБЕРСИГУРНОСТ НА ИНТЕРНЕТ ИНФОРМАЦИОННИ СИСТЕМИ</a:t>
              </a:r>
            </a:p>
            <a:p>
              <a:pPr marL="0" marR="0" lvl="0" indent="0" algn="l" rtl="0">
                <a:spcBef>
                  <a:spcPts val="0"/>
                </a:spcBef>
                <a:spcAft>
                  <a:spcPts val="0"/>
                </a:spcAft>
                <a:buNone/>
              </a:pPr>
              <a:endParaRPr/>
            </a:p>
          </p:txBody>
        </p:sp>
        <p:sp>
          <p:nvSpPr>
            <p:cNvPr id="114" name="Google Shape;114;p15"/>
            <p:cNvSpPr txBox="1"/>
            <p:nvPr/>
          </p:nvSpPr>
          <p:spPr>
            <a:xfrm>
              <a:off x="9775499" y="369325"/>
              <a:ext cx="15873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bg-BG">
                  <a:solidFill>
                    <a:srgbClr val="165271"/>
                  </a:solidFill>
                  <a:latin typeface="Consolas"/>
                  <a:ea typeface="Consolas"/>
                  <a:cs typeface="Consolas"/>
                  <a:sym typeface="Consolas"/>
                </a:rPr>
                <a:t>Кирил Кискинов</a:t>
              </a:r>
              <a:endParaRPr sz="1050" b="0" i="0" u="none" strike="noStrike" cap="none">
                <a:solidFill>
                  <a:srgbClr val="A5A5A5"/>
                </a:solidFill>
                <a:latin typeface="Consolas"/>
                <a:ea typeface="Consolas"/>
                <a:cs typeface="Consolas"/>
                <a:sym typeface="Consolas"/>
              </a:endParaRPr>
            </a:p>
          </p:txBody>
        </p:sp>
        <p:cxnSp>
          <p:nvCxnSpPr>
            <p:cNvPr id="115" name="Google Shape;115;p15"/>
            <p:cNvCxnSpPr>
              <a:cxnSpLocks/>
            </p:cNvCxnSpPr>
            <p:nvPr/>
          </p:nvCxnSpPr>
          <p:spPr>
            <a:xfrm flipV="1">
              <a:off x="293636" y="369325"/>
              <a:ext cx="11090128" cy="7"/>
            </a:xfrm>
            <a:prstGeom prst="straightConnector1">
              <a:avLst/>
            </a:prstGeom>
            <a:noFill/>
            <a:ln w="9525" cap="flat" cmpd="sng">
              <a:solidFill>
                <a:schemeClr val="accent6"/>
              </a:solidFill>
              <a:prstDash val="solid"/>
              <a:miter lim="800000"/>
              <a:headEnd type="none" w="sm" len="sm"/>
              <a:tailEnd type="none" w="sm" len="sm"/>
            </a:ln>
          </p:spPr>
        </p:cxnSp>
        <p:pic>
          <p:nvPicPr>
            <p:cNvPr id="116" name="Google Shape;116;p15"/>
            <p:cNvPicPr preferRelativeResize="0"/>
            <p:nvPr/>
          </p:nvPicPr>
          <p:blipFill rotWithShape="1">
            <a:blip r:embed="rId4">
              <a:alphaModFix/>
            </a:blip>
            <a:srcRect/>
            <a:stretch/>
          </p:blipFill>
          <p:spPr>
            <a:xfrm>
              <a:off x="11362923" y="0"/>
              <a:ext cx="648455" cy="1095020"/>
            </a:xfrm>
            <a:prstGeom prst="rect">
              <a:avLst/>
            </a:prstGeom>
            <a:noFill/>
            <a:ln>
              <a:noFill/>
            </a:ln>
          </p:spPr>
        </p:pic>
      </p:grpSp>
      <p:sp>
        <p:nvSpPr>
          <p:cNvPr id="117" name="Google Shape;117;p15"/>
          <p:cNvSpPr txBox="1"/>
          <p:nvPr/>
        </p:nvSpPr>
        <p:spPr>
          <a:xfrm>
            <a:off x="1468418" y="496452"/>
            <a:ext cx="10684009" cy="18466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bg-BG" sz="1800" b="0" i="0" u="none" strike="noStrike" cap="none">
                <a:solidFill>
                  <a:srgbClr val="165271"/>
                </a:solidFill>
                <a:latin typeface="Consolas" panose="020B0609020204030204" pitchFamily="49" charset="0"/>
                <a:ea typeface="Consolas"/>
                <a:cs typeface="Consolas"/>
                <a:sym typeface="Consolas"/>
              </a:rPr>
              <a:t>Цел на дипломната работа</a:t>
            </a:r>
            <a:endParaRPr sz="1800">
              <a:latin typeface="Consolas" panose="020B0609020204030204" pitchFamily="49" charset="0"/>
            </a:endParaRPr>
          </a:p>
          <a:p>
            <a:pPr marL="0" marR="0" lvl="0" indent="0" algn="l" rtl="0">
              <a:spcBef>
                <a:spcPts val="0"/>
              </a:spcBef>
              <a:spcAft>
                <a:spcPts val="0"/>
              </a:spcAft>
              <a:buNone/>
            </a:pPr>
            <a:endParaRPr sz="2400">
              <a:solidFill>
                <a:srgbClr val="165271"/>
              </a:solidFill>
              <a:latin typeface="Consolas"/>
              <a:ea typeface="Consolas"/>
              <a:cs typeface="Consolas"/>
              <a:sym typeface="Consolas"/>
            </a:endParaRPr>
          </a:p>
          <a:p>
            <a:pPr marL="0" marR="0" lvl="0" indent="0" algn="l" rtl="0">
              <a:spcBef>
                <a:spcPts val="0"/>
              </a:spcBef>
              <a:spcAft>
                <a:spcPts val="0"/>
              </a:spcAft>
              <a:buNone/>
            </a:pPr>
            <a:r>
              <a:rPr lang="ru-RU" sz="1800" b="1">
                <a:solidFill>
                  <a:schemeClr val="dk1"/>
                </a:solidFill>
                <a:latin typeface="Consolas"/>
                <a:ea typeface="Consolas"/>
                <a:cs typeface="Consolas"/>
                <a:sym typeface="Consolas"/>
              </a:rPr>
              <a:t>Основната цел на дипломната работа е да се изследват и приложат съвременни подходи, инструменти и техники в областта на киберсигурността и етичното хакерство чрез практически примери, с което се цели придобиване на базови знания и практически умения за анализ, защита и оценка на сигурността на информационни системи.</a:t>
            </a:r>
            <a:endParaRPr lang="ru-RU" sz="1800" b="1">
              <a:solidFill>
                <a:srgbClr val="A5A5A5"/>
              </a:solidFill>
              <a:latin typeface="Consolas"/>
              <a:ea typeface="Consolas"/>
              <a:cs typeface="Consolas"/>
              <a:sym typeface="Consolas"/>
            </a:endParaRPr>
          </a:p>
        </p:txBody>
      </p:sp>
      <p:sp>
        <p:nvSpPr>
          <p:cNvPr id="118" name="Google Shape;118;p15"/>
          <p:cNvSpPr/>
          <p:nvPr/>
        </p:nvSpPr>
        <p:spPr>
          <a:xfrm>
            <a:off x="1468419" y="2513289"/>
            <a:ext cx="10252019" cy="453090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bg-BG" sz="2000">
                <a:solidFill>
                  <a:srgbClr val="165271"/>
                </a:solidFill>
                <a:latin typeface="Consolas"/>
                <a:ea typeface="Consolas"/>
                <a:cs typeface="Consolas"/>
                <a:sym typeface="Consolas"/>
              </a:rPr>
              <a:t>Задачи</a:t>
            </a:r>
            <a:endParaRPr/>
          </a:p>
          <a:p>
            <a:pPr marL="0" marR="0" lvl="0" indent="0" algn="l" rtl="0">
              <a:spcBef>
                <a:spcPts val="0"/>
              </a:spcBef>
              <a:spcAft>
                <a:spcPts val="0"/>
              </a:spcAft>
              <a:buNone/>
            </a:pPr>
            <a:endParaRPr sz="2000">
              <a:solidFill>
                <a:srgbClr val="165271"/>
              </a:solidFill>
              <a:latin typeface="Consolas"/>
              <a:ea typeface="Consolas"/>
              <a:cs typeface="Consolas"/>
              <a:sym typeface="Consolas"/>
            </a:endParaRPr>
          </a:p>
          <a:p>
            <a:pPr marL="285750" marR="0" lvl="0" indent="-285750" algn="l" rtl="0">
              <a:spcBef>
                <a:spcPts val="0"/>
              </a:spcBef>
              <a:spcAft>
                <a:spcPts val="0"/>
              </a:spcAft>
              <a:buClr>
                <a:schemeClr val="dk1"/>
              </a:buClr>
              <a:buSzPts val="1800"/>
              <a:buFont typeface="Arial"/>
              <a:buChar char="•"/>
            </a:pPr>
            <a:r>
              <a:rPr lang="ru-RU" sz="1800">
                <a:solidFill>
                  <a:schemeClr val="dk1"/>
                </a:solidFill>
                <a:latin typeface="Consolas" panose="020B0609020204030204" pitchFamily="49" charset="0"/>
                <a:ea typeface="Consolas"/>
                <a:cs typeface="Consolas"/>
                <a:sym typeface="Consolas"/>
              </a:rPr>
              <a:t>Да се проучи създаването на Ed25519 двойка ключове и да се реализира криптиран бекъп на файлове, включително процесите на архивиране, разархивиране и сигурно изтриване.	</a:t>
            </a:r>
            <a:endParaRPr lang="ru-RU" sz="1800">
              <a:latin typeface="Consolas" panose="020B0609020204030204" pitchFamily="49" charset="0"/>
            </a:endParaRPr>
          </a:p>
          <a:p>
            <a:pPr marL="285750" marR="0" lvl="0" indent="-285750" algn="l" rtl="0">
              <a:spcBef>
                <a:spcPts val="0"/>
              </a:spcBef>
              <a:spcAft>
                <a:spcPts val="0"/>
              </a:spcAft>
              <a:buClr>
                <a:schemeClr val="dk1"/>
              </a:buClr>
              <a:buSzPts val="1800"/>
              <a:buFont typeface="Arial"/>
              <a:buChar char="•"/>
            </a:pPr>
            <a:r>
              <a:rPr lang="ru-RU" sz="1800">
                <a:solidFill>
                  <a:schemeClr val="dk1"/>
                </a:solidFill>
                <a:latin typeface="Consolas" panose="020B0609020204030204" pitchFamily="49" charset="0"/>
                <a:ea typeface="Consolas"/>
                <a:cs typeface="Consolas"/>
                <a:sym typeface="Consolas"/>
              </a:rPr>
              <a:t>Да се извърши мрежово сканиране на интернет сървър с инструмента nmap и анализ на предоставяните услуги, както и сканиране на порт 443 с инструмента sslscan и интерпретация на резултатите.</a:t>
            </a:r>
            <a:endParaRPr sz="1800">
              <a:solidFill>
                <a:schemeClr val="dk1"/>
              </a:solidFill>
              <a:latin typeface="Consolas" panose="020B0609020204030204" pitchFamily="49" charset="0"/>
              <a:ea typeface="Consolas"/>
              <a:cs typeface="Consolas"/>
              <a:sym typeface="Consolas"/>
            </a:endParaRPr>
          </a:p>
          <a:p>
            <a:pPr marL="285750" marR="0" lvl="0" indent="-285750" algn="l" rtl="0">
              <a:spcBef>
                <a:spcPts val="0"/>
              </a:spcBef>
              <a:spcAft>
                <a:spcPts val="0"/>
              </a:spcAft>
              <a:buClr>
                <a:schemeClr val="dk1"/>
              </a:buClr>
              <a:buSzPts val="1800"/>
              <a:buFont typeface="Arial"/>
              <a:buChar char="•"/>
            </a:pPr>
            <a:r>
              <a:rPr lang="ru-RU" sz="1800">
                <a:solidFill>
                  <a:schemeClr val="dk1"/>
                </a:solidFill>
                <a:latin typeface="Consolas" panose="020B0609020204030204" pitchFamily="49" charset="0"/>
                <a:ea typeface="Consolas"/>
                <a:cs typeface="Consolas"/>
                <a:sym typeface="Consolas"/>
              </a:rPr>
              <a:t>Да се инсталират и конфигурират виртуални машини Kali Linux и Metasploitable във VirtualBox и да се проведе контролирана атака с инструмента hydra, последвана от анализ на резултатите.</a:t>
            </a:r>
          </a:p>
          <a:p>
            <a:pPr marL="285750" marR="0" lvl="0" indent="-285750" algn="l" rtl="0">
              <a:spcBef>
                <a:spcPts val="0"/>
              </a:spcBef>
              <a:spcAft>
                <a:spcPts val="0"/>
              </a:spcAft>
              <a:buClr>
                <a:schemeClr val="dk1"/>
              </a:buClr>
              <a:buSzPts val="1800"/>
              <a:buFont typeface="Arial"/>
              <a:buChar char="•"/>
            </a:pPr>
            <a:r>
              <a:rPr lang="ru-RU" sz="1800">
                <a:latin typeface="Consolas" panose="020B0609020204030204" pitchFamily="49" charset="0"/>
              </a:rPr>
              <a:t>Да се осъществи сканиране на уеб сайта на ХТМУ с инструмента OWASP ZAP, да се идентифицират уязвимости, да се оцени свързаният с тях риск и да се предложат мерки за неговото ограничаване.</a:t>
            </a:r>
            <a:endParaRPr sz="1800">
              <a:latin typeface="Consolas" panose="020B0609020204030204" pitchFamily="49" charset="0"/>
            </a:endParaRPr>
          </a:p>
        </p:txBody>
      </p:sp>
      <p:grpSp>
        <p:nvGrpSpPr>
          <p:cNvPr id="119" name="Google Shape;119;p15"/>
          <p:cNvGrpSpPr/>
          <p:nvPr/>
        </p:nvGrpSpPr>
        <p:grpSpPr>
          <a:xfrm>
            <a:off x="386397" y="4065100"/>
            <a:ext cx="929727" cy="923347"/>
            <a:chOff x="1112967" y="2659673"/>
            <a:chExt cx="1535723" cy="1538655"/>
          </a:xfrm>
        </p:grpSpPr>
        <p:grpSp>
          <p:nvGrpSpPr>
            <p:cNvPr id="120" name="Google Shape;120;p15"/>
            <p:cNvGrpSpPr/>
            <p:nvPr/>
          </p:nvGrpSpPr>
          <p:grpSpPr>
            <a:xfrm>
              <a:off x="1112967" y="2659673"/>
              <a:ext cx="1535723" cy="1538655"/>
              <a:chOff x="4709747" y="1208942"/>
              <a:chExt cx="1535723" cy="1538655"/>
            </a:xfrm>
          </p:grpSpPr>
          <p:sp>
            <p:nvSpPr>
              <p:cNvPr id="121" name="Google Shape;121;p15"/>
              <p:cNvSpPr/>
              <p:nvPr/>
            </p:nvSpPr>
            <p:spPr>
              <a:xfrm>
                <a:off x="4709747" y="1208942"/>
                <a:ext cx="1535723" cy="1538655"/>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122" name="Google Shape;122;p15"/>
              <p:cNvSpPr/>
              <p:nvPr/>
            </p:nvSpPr>
            <p:spPr>
              <a:xfrm>
                <a:off x="4850423" y="1345223"/>
                <a:ext cx="1254370" cy="1266092"/>
              </a:xfrm>
              <a:prstGeom prst="ellipse">
                <a:avLst/>
              </a:prstGeom>
              <a:solidFill>
                <a:srgbClr val="86C6E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grpSp>
        <p:grpSp>
          <p:nvGrpSpPr>
            <p:cNvPr id="123" name="Google Shape;123;p15"/>
            <p:cNvGrpSpPr/>
            <p:nvPr/>
          </p:nvGrpSpPr>
          <p:grpSpPr>
            <a:xfrm>
              <a:off x="1583787" y="3135181"/>
              <a:ext cx="594083" cy="587639"/>
              <a:chOff x="2311401" y="612776"/>
              <a:chExt cx="1709738" cy="1627188"/>
            </a:xfrm>
          </p:grpSpPr>
          <p:sp>
            <p:nvSpPr>
              <p:cNvPr id="124" name="Google Shape;124;p15"/>
              <p:cNvSpPr/>
              <p:nvPr/>
            </p:nvSpPr>
            <p:spPr>
              <a:xfrm>
                <a:off x="2311401" y="612776"/>
                <a:ext cx="1276350" cy="1490663"/>
              </a:xfrm>
              <a:custGeom>
                <a:avLst/>
                <a:gdLst/>
                <a:ahLst/>
                <a:cxnLst/>
                <a:rect l="l" t="t" r="r" b="b"/>
                <a:pathLst>
                  <a:path w="2411" h="2818" extrusionOk="0">
                    <a:moveTo>
                      <a:pt x="261" y="0"/>
                    </a:moveTo>
                    <a:lnTo>
                      <a:pt x="2141" y="0"/>
                    </a:lnTo>
                    <a:lnTo>
                      <a:pt x="2181" y="3"/>
                    </a:lnTo>
                    <a:lnTo>
                      <a:pt x="2219" y="12"/>
                    </a:lnTo>
                    <a:lnTo>
                      <a:pt x="2255" y="26"/>
                    </a:lnTo>
                    <a:lnTo>
                      <a:pt x="2288" y="45"/>
                    </a:lnTo>
                    <a:lnTo>
                      <a:pt x="2318" y="68"/>
                    </a:lnTo>
                    <a:lnTo>
                      <a:pt x="2345" y="95"/>
                    </a:lnTo>
                    <a:lnTo>
                      <a:pt x="2368" y="126"/>
                    </a:lnTo>
                    <a:lnTo>
                      <a:pt x="2386" y="159"/>
                    </a:lnTo>
                    <a:lnTo>
                      <a:pt x="2400" y="195"/>
                    </a:lnTo>
                    <a:lnTo>
                      <a:pt x="2408" y="234"/>
                    </a:lnTo>
                    <a:lnTo>
                      <a:pt x="2411" y="274"/>
                    </a:lnTo>
                    <a:lnTo>
                      <a:pt x="2411" y="1716"/>
                    </a:lnTo>
                    <a:lnTo>
                      <a:pt x="2142" y="2036"/>
                    </a:lnTo>
                    <a:lnTo>
                      <a:pt x="2142" y="474"/>
                    </a:lnTo>
                    <a:lnTo>
                      <a:pt x="2140" y="440"/>
                    </a:lnTo>
                    <a:lnTo>
                      <a:pt x="2132" y="409"/>
                    </a:lnTo>
                    <a:lnTo>
                      <a:pt x="2119" y="379"/>
                    </a:lnTo>
                    <a:lnTo>
                      <a:pt x="2102" y="353"/>
                    </a:lnTo>
                    <a:lnTo>
                      <a:pt x="2081" y="329"/>
                    </a:lnTo>
                    <a:lnTo>
                      <a:pt x="2056" y="309"/>
                    </a:lnTo>
                    <a:lnTo>
                      <a:pt x="2029" y="292"/>
                    </a:lnTo>
                    <a:lnTo>
                      <a:pt x="1999" y="279"/>
                    </a:lnTo>
                    <a:lnTo>
                      <a:pt x="1967" y="272"/>
                    </a:lnTo>
                    <a:lnTo>
                      <a:pt x="1934" y="269"/>
                    </a:lnTo>
                    <a:lnTo>
                      <a:pt x="479" y="269"/>
                    </a:lnTo>
                    <a:lnTo>
                      <a:pt x="445" y="272"/>
                    </a:lnTo>
                    <a:lnTo>
                      <a:pt x="412" y="279"/>
                    </a:lnTo>
                    <a:lnTo>
                      <a:pt x="382" y="292"/>
                    </a:lnTo>
                    <a:lnTo>
                      <a:pt x="355" y="309"/>
                    </a:lnTo>
                    <a:lnTo>
                      <a:pt x="330" y="329"/>
                    </a:lnTo>
                    <a:lnTo>
                      <a:pt x="309" y="353"/>
                    </a:lnTo>
                    <a:lnTo>
                      <a:pt x="292" y="379"/>
                    </a:lnTo>
                    <a:lnTo>
                      <a:pt x="279" y="409"/>
                    </a:lnTo>
                    <a:lnTo>
                      <a:pt x="271" y="440"/>
                    </a:lnTo>
                    <a:lnTo>
                      <a:pt x="269" y="474"/>
                    </a:lnTo>
                    <a:lnTo>
                      <a:pt x="269" y="2338"/>
                    </a:lnTo>
                    <a:lnTo>
                      <a:pt x="271" y="2371"/>
                    </a:lnTo>
                    <a:lnTo>
                      <a:pt x="279" y="2403"/>
                    </a:lnTo>
                    <a:lnTo>
                      <a:pt x="292" y="2432"/>
                    </a:lnTo>
                    <a:lnTo>
                      <a:pt x="309" y="2459"/>
                    </a:lnTo>
                    <a:lnTo>
                      <a:pt x="330" y="2483"/>
                    </a:lnTo>
                    <a:lnTo>
                      <a:pt x="355" y="2503"/>
                    </a:lnTo>
                    <a:lnTo>
                      <a:pt x="382" y="2520"/>
                    </a:lnTo>
                    <a:lnTo>
                      <a:pt x="412" y="2533"/>
                    </a:lnTo>
                    <a:lnTo>
                      <a:pt x="445" y="2540"/>
                    </a:lnTo>
                    <a:lnTo>
                      <a:pt x="479" y="2543"/>
                    </a:lnTo>
                    <a:lnTo>
                      <a:pt x="1080" y="2543"/>
                    </a:lnTo>
                    <a:lnTo>
                      <a:pt x="1098" y="2579"/>
                    </a:lnTo>
                    <a:lnTo>
                      <a:pt x="1119" y="2615"/>
                    </a:lnTo>
                    <a:lnTo>
                      <a:pt x="1144" y="2648"/>
                    </a:lnTo>
                    <a:lnTo>
                      <a:pt x="1171" y="2680"/>
                    </a:lnTo>
                    <a:lnTo>
                      <a:pt x="1202" y="2710"/>
                    </a:lnTo>
                    <a:lnTo>
                      <a:pt x="1328" y="2818"/>
                    </a:lnTo>
                    <a:lnTo>
                      <a:pt x="272" y="2818"/>
                    </a:lnTo>
                    <a:lnTo>
                      <a:pt x="232" y="2815"/>
                    </a:lnTo>
                    <a:lnTo>
                      <a:pt x="194" y="2807"/>
                    </a:lnTo>
                    <a:lnTo>
                      <a:pt x="157" y="2793"/>
                    </a:lnTo>
                    <a:lnTo>
                      <a:pt x="123" y="2773"/>
                    </a:lnTo>
                    <a:lnTo>
                      <a:pt x="93" y="2750"/>
                    </a:lnTo>
                    <a:lnTo>
                      <a:pt x="66" y="2723"/>
                    </a:lnTo>
                    <a:lnTo>
                      <a:pt x="43" y="2693"/>
                    </a:lnTo>
                    <a:lnTo>
                      <a:pt x="25" y="2660"/>
                    </a:lnTo>
                    <a:lnTo>
                      <a:pt x="11" y="2623"/>
                    </a:lnTo>
                    <a:lnTo>
                      <a:pt x="3" y="2585"/>
                    </a:lnTo>
                    <a:lnTo>
                      <a:pt x="0" y="2544"/>
                    </a:lnTo>
                    <a:lnTo>
                      <a:pt x="0" y="263"/>
                    </a:lnTo>
                    <a:lnTo>
                      <a:pt x="3" y="224"/>
                    </a:lnTo>
                    <a:lnTo>
                      <a:pt x="11" y="187"/>
                    </a:lnTo>
                    <a:lnTo>
                      <a:pt x="24" y="153"/>
                    </a:lnTo>
                    <a:lnTo>
                      <a:pt x="42" y="120"/>
                    </a:lnTo>
                    <a:lnTo>
                      <a:pt x="63" y="91"/>
                    </a:lnTo>
                    <a:lnTo>
                      <a:pt x="89" y="66"/>
                    </a:lnTo>
                    <a:lnTo>
                      <a:pt x="118" y="44"/>
                    </a:lnTo>
                    <a:lnTo>
                      <a:pt x="151" y="25"/>
                    </a:lnTo>
                    <a:lnTo>
                      <a:pt x="185" y="12"/>
                    </a:lnTo>
                    <a:lnTo>
                      <a:pt x="222" y="3"/>
                    </a:lnTo>
                    <a:lnTo>
                      <a:pt x="261"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125" name="Google Shape;125;p15"/>
              <p:cNvSpPr/>
              <p:nvPr/>
            </p:nvSpPr>
            <p:spPr>
              <a:xfrm>
                <a:off x="2565401" y="938214"/>
                <a:ext cx="781050" cy="141288"/>
              </a:xfrm>
              <a:custGeom>
                <a:avLst/>
                <a:gdLst/>
                <a:ahLst/>
                <a:cxnLst/>
                <a:rect l="l" t="t" r="r" b="b"/>
                <a:pathLst>
                  <a:path w="1474" h="269" extrusionOk="0">
                    <a:moveTo>
                      <a:pt x="134" y="0"/>
                    </a:moveTo>
                    <a:lnTo>
                      <a:pt x="1341" y="0"/>
                    </a:lnTo>
                    <a:lnTo>
                      <a:pt x="1368" y="3"/>
                    </a:lnTo>
                    <a:lnTo>
                      <a:pt x="1393" y="11"/>
                    </a:lnTo>
                    <a:lnTo>
                      <a:pt x="1416" y="23"/>
                    </a:lnTo>
                    <a:lnTo>
                      <a:pt x="1435" y="40"/>
                    </a:lnTo>
                    <a:lnTo>
                      <a:pt x="1452" y="59"/>
                    </a:lnTo>
                    <a:lnTo>
                      <a:pt x="1464" y="82"/>
                    </a:lnTo>
                    <a:lnTo>
                      <a:pt x="1471" y="107"/>
                    </a:lnTo>
                    <a:lnTo>
                      <a:pt x="1474" y="134"/>
                    </a:lnTo>
                    <a:lnTo>
                      <a:pt x="1471" y="161"/>
                    </a:lnTo>
                    <a:lnTo>
                      <a:pt x="1464" y="186"/>
                    </a:lnTo>
                    <a:lnTo>
                      <a:pt x="1451" y="209"/>
                    </a:lnTo>
                    <a:lnTo>
                      <a:pt x="1435" y="229"/>
                    </a:lnTo>
                    <a:lnTo>
                      <a:pt x="1416" y="246"/>
                    </a:lnTo>
                    <a:lnTo>
                      <a:pt x="1393" y="258"/>
                    </a:lnTo>
                    <a:lnTo>
                      <a:pt x="1368" y="266"/>
                    </a:lnTo>
                    <a:lnTo>
                      <a:pt x="1341" y="269"/>
                    </a:lnTo>
                    <a:lnTo>
                      <a:pt x="134" y="269"/>
                    </a:lnTo>
                    <a:lnTo>
                      <a:pt x="107" y="266"/>
                    </a:lnTo>
                    <a:lnTo>
                      <a:pt x="82" y="258"/>
                    </a:lnTo>
                    <a:lnTo>
                      <a:pt x="59" y="246"/>
                    </a:lnTo>
                    <a:lnTo>
                      <a:pt x="39" y="229"/>
                    </a:lnTo>
                    <a:lnTo>
                      <a:pt x="23" y="209"/>
                    </a:lnTo>
                    <a:lnTo>
                      <a:pt x="11" y="186"/>
                    </a:lnTo>
                    <a:lnTo>
                      <a:pt x="3" y="161"/>
                    </a:lnTo>
                    <a:lnTo>
                      <a:pt x="0" y="134"/>
                    </a:lnTo>
                    <a:lnTo>
                      <a:pt x="3" y="107"/>
                    </a:lnTo>
                    <a:lnTo>
                      <a:pt x="11" y="82"/>
                    </a:lnTo>
                    <a:lnTo>
                      <a:pt x="23" y="59"/>
                    </a:lnTo>
                    <a:lnTo>
                      <a:pt x="39" y="40"/>
                    </a:lnTo>
                    <a:lnTo>
                      <a:pt x="59" y="23"/>
                    </a:lnTo>
                    <a:lnTo>
                      <a:pt x="82" y="11"/>
                    </a:lnTo>
                    <a:lnTo>
                      <a:pt x="107" y="3"/>
                    </a:lnTo>
                    <a:lnTo>
                      <a:pt x="134"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126" name="Google Shape;126;p15"/>
              <p:cNvSpPr/>
              <p:nvPr/>
            </p:nvSpPr>
            <p:spPr>
              <a:xfrm>
                <a:off x="2565401" y="1174751"/>
                <a:ext cx="781050" cy="141288"/>
              </a:xfrm>
              <a:custGeom>
                <a:avLst/>
                <a:gdLst/>
                <a:ahLst/>
                <a:cxnLst/>
                <a:rect l="l" t="t" r="r" b="b"/>
                <a:pathLst>
                  <a:path w="1474" h="268" extrusionOk="0">
                    <a:moveTo>
                      <a:pt x="134" y="0"/>
                    </a:moveTo>
                    <a:lnTo>
                      <a:pt x="1341" y="0"/>
                    </a:lnTo>
                    <a:lnTo>
                      <a:pt x="1368" y="2"/>
                    </a:lnTo>
                    <a:lnTo>
                      <a:pt x="1393" y="10"/>
                    </a:lnTo>
                    <a:lnTo>
                      <a:pt x="1416" y="22"/>
                    </a:lnTo>
                    <a:lnTo>
                      <a:pt x="1435" y="39"/>
                    </a:lnTo>
                    <a:lnTo>
                      <a:pt x="1452" y="58"/>
                    </a:lnTo>
                    <a:lnTo>
                      <a:pt x="1464" y="82"/>
                    </a:lnTo>
                    <a:lnTo>
                      <a:pt x="1471" y="107"/>
                    </a:lnTo>
                    <a:lnTo>
                      <a:pt x="1474" y="134"/>
                    </a:lnTo>
                    <a:lnTo>
                      <a:pt x="1471" y="161"/>
                    </a:lnTo>
                    <a:lnTo>
                      <a:pt x="1464" y="186"/>
                    </a:lnTo>
                    <a:lnTo>
                      <a:pt x="1451" y="209"/>
                    </a:lnTo>
                    <a:lnTo>
                      <a:pt x="1435" y="229"/>
                    </a:lnTo>
                    <a:lnTo>
                      <a:pt x="1416" y="245"/>
                    </a:lnTo>
                    <a:lnTo>
                      <a:pt x="1393" y="257"/>
                    </a:lnTo>
                    <a:lnTo>
                      <a:pt x="1368" y="265"/>
                    </a:lnTo>
                    <a:lnTo>
                      <a:pt x="1341" y="268"/>
                    </a:lnTo>
                    <a:lnTo>
                      <a:pt x="134" y="268"/>
                    </a:lnTo>
                    <a:lnTo>
                      <a:pt x="107" y="265"/>
                    </a:lnTo>
                    <a:lnTo>
                      <a:pt x="82" y="257"/>
                    </a:lnTo>
                    <a:lnTo>
                      <a:pt x="59" y="245"/>
                    </a:lnTo>
                    <a:lnTo>
                      <a:pt x="39" y="229"/>
                    </a:lnTo>
                    <a:lnTo>
                      <a:pt x="23" y="209"/>
                    </a:lnTo>
                    <a:lnTo>
                      <a:pt x="11" y="186"/>
                    </a:lnTo>
                    <a:lnTo>
                      <a:pt x="3" y="161"/>
                    </a:lnTo>
                    <a:lnTo>
                      <a:pt x="0" y="134"/>
                    </a:lnTo>
                    <a:lnTo>
                      <a:pt x="3" y="107"/>
                    </a:lnTo>
                    <a:lnTo>
                      <a:pt x="11" y="82"/>
                    </a:lnTo>
                    <a:lnTo>
                      <a:pt x="23" y="58"/>
                    </a:lnTo>
                    <a:lnTo>
                      <a:pt x="39" y="39"/>
                    </a:lnTo>
                    <a:lnTo>
                      <a:pt x="59" y="22"/>
                    </a:lnTo>
                    <a:lnTo>
                      <a:pt x="82" y="10"/>
                    </a:lnTo>
                    <a:lnTo>
                      <a:pt x="107" y="2"/>
                    </a:lnTo>
                    <a:lnTo>
                      <a:pt x="134"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127" name="Google Shape;127;p15"/>
              <p:cNvSpPr/>
              <p:nvPr/>
            </p:nvSpPr>
            <p:spPr>
              <a:xfrm>
                <a:off x="2565401" y="1411289"/>
                <a:ext cx="781050" cy="138113"/>
              </a:xfrm>
              <a:custGeom>
                <a:avLst/>
                <a:gdLst/>
                <a:ahLst/>
                <a:cxnLst/>
                <a:rect l="l" t="t" r="r" b="b"/>
                <a:pathLst>
                  <a:path w="1474" h="262" extrusionOk="0">
                    <a:moveTo>
                      <a:pt x="134" y="0"/>
                    </a:moveTo>
                    <a:lnTo>
                      <a:pt x="1341" y="0"/>
                    </a:lnTo>
                    <a:lnTo>
                      <a:pt x="1368" y="3"/>
                    </a:lnTo>
                    <a:lnTo>
                      <a:pt x="1393" y="10"/>
                    </a:lnTo>
                    <a:lnTo>
                      <a:pt x="1416" y="22"/>
                    </a:lnTo>
                    <a:lnTo>
                      <a:pt x="1435" y="38"/>
                    </a:lnTo>
                    <a:lnTo>
                      <a:pt x="1452" y="57"/>
                    </a:lnTo>
                    <a:lnTo>
                      <a:pt x="1464" y="79"/>
                    </a:lnTo>
                    <a:lnTo>
                      <a:pt x="1471" y="104"/>
                    </a:lnTo>
                    <a:lnTo>
                      <a:pt x="1474" y="131"/>
                    </a:lnTo>
                    <a:lnTo>
                      <a:pt x="1471" y="158"/>
                    </a:lnTo>
                    <a:lnTo>
                      <a:pt x="1464" y="183"/>
                    </a:lnTo>
                    <a:lnTo>
                      <a:pt x="1451" y="205"/>
                    </a:lnTo>
                    <a:lnTo>
                      <a:pt x="1435" y="225"/>
                    </a:lnTo>
                    <a:lnTo>
                      <a:pt x="1416" y="240"/>
                    </a:lnTo>
                    <a:lnTo>
                      <a:pt x="1393" y="252"/>
                    </a:lnTo>
                    <a:lnTo>
                      <a:pt x="1368" y="259"/>
                    </a:lnTo>
                    <a:lnTo>
                      <a:pt x="1341" y="262"/>
                    </a:lnTo>
                    <a:lnTo>
                      <a:pt x="134" y="262"/>
                    </a:lnTo>
                    <a:lnTo>
                      <a:pt x="107" y="259"/>
                    </a:lnTo>
                    <a:lnTo>
                      <a:pt x="82" y="252"/>
                    </a:lnTo>
                    <a:lnTo>
                      <a:pt x="59" y="240"/>
                    </a:lnTo>
                    <a:lnTo>
                      <a:pt x="39" y="225"/>
                    </a:lnTo>
                    <a:lnTo>
                      <a:pt x="23" y="205"/>
                    </a:lnTo>
                    <a:lnTo>
                      <a:pt x="11" y="183"/>
                    </a:lnTo>
                    <a:lnTo>
                      <a:pt x="3" y="158"/>
                    </a:lnTo>
                    <a:lnTo>
                      <a:pt x="0" y="131"/>
                    </a:lnTo>
                    <a:lnTo>
                      <a:pt x="3" y="104"/>
                    </a:lnTo>
                    <a:lnTo>
                      <a:pt x="11" y="79"/>
                    </a:lnTo>
                    <a:lnTo>
                      <a:pt x="23" y="57"/>
                    </a:lnTo>
                    <a:lnTo>
                      <a:pt x="39" y="38"/>
                    </a:lnTo>
                    <a:lnTo>
                      <a:pt x="59" y="22"/>
                    </a:lnTo>
                    <a:lnTo>
                      <a:pt x="82" y="10"/>
                    </a:lnTo>
                    <a:lnTo>
                      <a:pt x="107" y="3"/>
                    </a:lnTo>
                    <a:lnTo>
                      <a:pt x="134"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128" name="Google Shape;128;p15"/>
              <p:cNvSpPr/>
              <p:nvPr/>
            </p:nvSpPr>
            <p:spPr>
              <a:xfrm>
                <a:off x="2565401" y="1636714"/>
                <a:ext cx="431800" cy="139700"/>
              </a:xfrm>
              <a:custGeom>
                <a:avLst/>
                <a:gdLst/>
                <a:ahLst/>
                <a:cxnLst/>
                <a:rect l="l" t="t" r="r" b="b"/>
                <a:pathLst>
                  <a:path w="816" h="262" extrusionOk="0">
                    <a:moveTo>
                      <a:pt x="134" y="0"/>
                    </a:moveTo>
                    <a:lnTo>
                      <a:pt x="816" y="0"/>
                    </a:lnTo>
                    <a:lnTo>
                      <a:pt x="777" y="22"/>
                    </a:lnTo>
                    <a:lnTo>
                      <a:pt x="738" y="49"/>
                    </a:lnTo>
                    <a:lnTo>
                      <a:pt x="704" y="78"/>
                    </a:lnTo>
                    <a:lnTo>
                      <a:pt x="671" y="112"/>
                    </a:lnTo>
                    <a:lnTo>
                      <a:pt x="644" y="148"/>
                    </a:lnTo>
                    <a:lnTo>
                      <a:pt x="620" y="186"/>
                    </a:lnTo>
                    <a:lnTo>
                      <a:pt x="600" y="225"/>
                    </a:lnTo>
                    <a:lnTo>
                      <a:pt x="584" y="262"/>
                    </a:lnTo>
                    <a:lnTo>
                      <a:pt x="134" y="262"/>
                    </a:lnTo>
                    <a:lnTo>
                      <a:pt x="107" y="259"/>
                    </a:lnTo>
                    <a:lnTo>
                      <a:pt x="82" y="252"/>
                    </a:lnTo>
                    <a:lnTo>
                      <a:pt x="59" y="240"/>
                    </a:lnTo>
                    <a:lnTo>
                      <a:pt x="39" y="224"/>
                    </a:lnTo>
                    <a:lnTo>
                      <a:pt x="23" y="205"/>
                    </a:lnTo>
                    <a:lnTo>
                      <a:pt x="10" y="183"/>
                    </a:lnTo>
                    <a:lnTo>
                      <a:pt x="3" y="158"/>
                    </a:lnTo>
                    <a:lnTo>
                      <a:pt x="0" y="132"/>
                    </a:lnTo>
                    <a:lnTo>
                      <a:pt x="3" y="105"/>
                    </a:lnTo>
                    <a:lnTo>
                      <a:pt x="10" y="80"/>
                    </a:lnTo>
                    <a:lnTo>
                      <a:pt x="23" y="58"/>
                    </a:lnTo>
                    <a:lnTo>
                      <a:pt x="39" y="39"/>
                    </a:lnTo>
                    <a:lnTo>
                      <a:pt x="59" y="22"/>
                    </a:lnTo>
                    <a:lnTo>
                      <a:pt x="82" y="10"/>
                    </a:lnTo>
                    <a:lnTo>
                      <a:pt x="107" y="2"/>
                    </a:lnTo>
                    <a:lnTo>
                      <a:pt x="134"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129" name="Google Shape;129;p15"/>
              <p:cNvSpPr/>
              <p:nvPr/>
            </p:nvSpPr>
            <p:spPr>
              <a:xfrm>
                <a:off x="3221039" y="1636714"/>
                <a:ext cx="125413" cy="93663"/>
              </a:xfrm>
              <a:custGeom>
                <a:avLst/>
                <a:gdLst/>
                <a:ahLst/>
                <a:cxnLst/>
                <a:rect l="l" t="t" r="r" b="b"/>
                <a:pathLst>
                  <a:path w="236" h="177" extrusionOk="0">
                    <a:moveTo>
                      <a:pt x="0" y="0"/>
                    </a:moveTo>
                    <a:lnTo>
                      <a:pt x="102" y="0"/>
                    </a:lnTo>
                    <a:lnTo>
                      <a:pt x="129" y="3"/>
                    </a:lnTo>
                    <a:lnTo>
                      <a:pt x="154" y="10"/>
                    </a:lnTo>
                    <a:lnTo>
                      <a:pt x="177" y="22"/>
                    </a:lnTo>
                    <a:lnTo>
                      <a:pt x="196" y="39"/>
                    </a:lnTo>
                    <a:lnTo>
                      <a:pt x="213" y="59"/>
                    </a:lnTo>
                    <a:lnTo>
                      <a:pt x="225" y="81"/>
                    </a:lnTo>
                    <a:lnTo>
                      <a:pt x="233" y="106"/>
                    </a:lnTo>
                    <a:lnTo>
                      <a:pt x="236" y="133"/>
                    </a:lnTo>
                    <a:lnTo>
                      <a:pt x="234" y="156"/>
                    </a:lnTo>
                    <a:lnTo>
                      <a:pt x="228" y="177"/>
                    </a:lnTo>
                    <a:lnTo>
                      <a:pt x="95" y="63"/>
                    </a:lnTo>
                    <a:lnTo>
                      <a:pt x="72" y="45"/>
                    </a:lnTo>
                    <a:lnTo>
                      <a:pt x="49" y="28"/>
                    </a:lnTo>
                    <a:lnTo>
                      <a:pt x="25" y="12"/>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130" name="Google Shape;130;p15"/>
              <p:cNvSpPr/>
              <p:nvPr/>
            </p:nvSpPr>
            <p:spPr>
              <a:xfrm>
                <a:off x="2986089" y="1417639"/>
                <a:ext cx="1035050" cy="822325"/>
              </a:xfrm>
              <a:custGeom>
                <a:avLst/>
                <a:gdLst/>
                <a:ahLst/>
                <a:cxnLst/>
                <a:rect l="l" t="t" r="r" b="b"/>
                <a:pathLst>
                  <a:path w="1957" h="1553" extrusionOk="0">
                    <a:moveTo>
                      <a:pt x="1719" y="0"/>
                    </a:moveTo>
                    <a:lnTo>
                      <a:pt x="1752" y="2"/>
                    </a:lnTo>
                    <a:lnTo>
                      <a:pt x="1784" y="9"/>
                    </a:lnTo>
                    <a:lnTo>
                      <a:pt x="1816" y="20"/>
                    </a:lnTo>
                    <a:lnTo>
                      <a:pt x="1845" y="36"/>
                    </a:lnTo>
                    <a:lnTo>
                      <a:pt x="1873" y="56"/>
                    </a:lnTo>
                    <a:lnTo>
                      <a:pt x="1898" y="81"/>
                    </a:lnTo>
                    <a:lnTo>
                      <a:pt x="1920" y="108"/>
                    </a:lnTo>
                    <a:lnTo>
                      <a:pt x="1935" y="137"/>
                    </a:lnTo>
                    <a:lnTo>
                      <a:pt x="1947" y="169"/>
                    </a:lnTo>
                    <a:lnTo>
                      <a:pt x="1954" y="201"/>
                    </a:lnTo>
                    <a:lnTo>
                      <a:pt x="1957" y="233"/>
                    </a:lnTo>
                    <a:lnTo>
                      <a:pt x="1955" y="266"/>
                    </a:lnTo>
                    <a:lnTo>
                      <a:pt x="1948" y="298"/>
                    </a:lnTo>
                    <a:lnTo>
                      <a:pt x="1937" y="329"/>
                    </a:lnTo>
                    <a:lnTo>
                      <a:pt x="1922" y="359"/>
                    </a:lnTo>
                    <a:lnTo>
                      <a:pt x="1901" y="387"/>
                    </a:lnTo>
                    <a:lnTo>
                      <a:pt x="976" y="1470"/>
                    </a:lnTo>
                    <a:lnTo>
                      <a:pt x="955" y="1492"/>
                    </a:lnTo>
                    <a:lnTo>
                      <a:pt x="931" y="1511"/>
                    </a:lnTo>
                    <a:lnTo>
                      <a:pt x="905" y="1527"/>
                    </a:lnTo>
                    <a:lnTo>
                      <a:pt x="877" y="1539"/>
                    </a:lnTo>
                    <a:lnTo>
                      <a:pt x="847" y="1548"/>
                    </a:lnTo>
                    <a:lnTo>
                      <a:pt x="817" y="1553"/>
                    </a:lnTo>
                    <a:lnTo>
                      <a:pt x="798" y="1553"/>
                    </a:lnTo>
                    <a:lnTo>
                      <a:pt x="764" y="1551"/>
                    </a:lnTo>
                    <a:lnTo>
                      <a:pt x="732" y="1544"/>
                    </a:lnTo>
                    <a:lnTo>
                      <a:pt x="701" y="1531"/>
                    </a:lnTo>
                    <a:lnTo>
                      <a:pt x="672" y="1515"/>
                    </a:lnTo>
                    <a:lnTo>
                      <a:pt x="645" y="1495"/>
                    </a:lnTo>
                    <a:lnTo>
                      <a:pt x="81" y="1012"/>
                    </a:lnTo>
                    <a:lnTo>
                      <a:pt x="57" y="987"/>
                    </a:lnTo>
                    <a:lnTo>
                      <a:pt x="36" y="959"/>
                    </a:lnTo>
                    <a:lnTo>
                      <a:pt x="21" y="930"/>
                    </a:lnTo>
                    <a:lnTo>
                      <a:pt x="9" y="900"/>
                    </a:lnTo>
                    <a:lnTo>
                      <a:pt x="2" y="868"/>
                    </a:lnTo>
                    <a:lnTo>
                      <a:pt x="0" y="835"/>
                    </a:lnTo>
                    <a:lnTo>
                      <a:pt x="2" y="803"/>
                    </a:lnTo>
                    <a:lnTo>
                      <a:pt x="8" y="770"/>
                    </a:lnTo>
                    <a:lnTo>
                      <a:pt x="19" y="739"/>
                    </a:lnTo>
                    <a:lnTo>
                      <a:pt x="35" y="708"/>
                    </a:lnTo>
                    <a:lnTo>
                      <a:pt x="56" y="680"/>
                    </a:lnTo>
                    <a:lnTo>
                      <a:pt x="80" y="656"/>
                    </a:lnTo>
                    <a:lnTo>
                      <a:pt x="107" y="636"/>
                    </a:lnTo>
                    <a:lnTo>
                      <a:pt x="136" y="620"/>
                    </a:lnTo>
                    <a:lnTo>
                      <a:pt x="167" y="608"/>
                    </a:lnTo>
                    <a:lnTo>
                      <a:pt x="199" y="601"/>
                    </a:lnTo>
                    <a:lnTo>
                      <a:pt x="232" y="599"/>
                    </a:lnTo>
                    <a:lnTo>
                      <a:pt x="265" y="601"/>
                    </a:lnTo>
                    <a:lnTo>
                      <a:pt x="297" y="608"/>
                    </a:lnTo>
                    <a:lnTo>
                      <a:pt x="329" y="619"/>
                    </a:lnTo>
                    <a:lnTo>
                      <a:pt x="359" y="635"/>
                    </a:lnTo>
                    <a:lnTo>
                      <a:pt x="386" y="655"/>
                    </a:lnTo>
                    <a:lnTo>
                      <a:pt x="772" y="986"/>
                    </a:lnTo>
                    <a:lnTo>
                      <a:pt x="1543" y="83"/>
                    </a:lnTo>
                    <a:lnTo>
                      <a:pt x="1567" y="58"/>
                    </a:lnTo>
                    <a:lnTo>
                      <a:pt x="1594" y="38"/>
                    </a:lnTo>
                    <a:lnTo>
                      <a:pt x="1624" y="22"/>
                    </a:lnTo>
                    <a:lnTo>
                      <a:pt x="1655" y="10"/>
                    </a:lnTo>
                    <a:lnTo>
                      <a:pt x="1687" y="3"/>
                    </a:lnTo>
                    <a:lnTo>
                      <a:pt x="1719"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6"/>
          <p:cNvSpPr txBox="1">
            <a:spLocks noGrp="1"/>
          </p:cNvSpPr>
          <p:nvPr>
            <p:ph type="ctrTitle"/>
          </p:nvPr>
        </p:nvSpPr>
        <p:spPr>
          <a:xfrm>
            <a:off x="2038350" y="587328"/>
            <a:ext cx="8115300" cy="595200"/>
          </a:xfrm>
          <a:prstGeom prst="rect">
            <a:avLst/>
          </a:prstGeom>
        </p:spPr>
        <p:txBody>
          <a:bodyPr spcFirstLastPara="1" wrap="square" lIns="91425" tIns="45700" rIns="91425" bIns="45700" anchor="b" anchorCtr="0">
            <a:normAutofit fontScale="90000"/>
          </a:bodyPr>
          <a:lstStyle/>
          <a:p>
            <a:pPr marL="0" lvl="0" indent="0" algn="ctr" rtl="0">
              <a:spcBef>
                <a:spcPts val="0"/>
              </a:spcBef>
              <a:spcAft>
                <a:spcPts val="0"/>
              </a:spcAft>
              <a:buNone/>
            </a:pPr>
            <a:r>
              <a:rPr lang="ru-RU">
                <a:solidFill>
                  <a:srgbClr val="165271"/>
                </a:solidFill>
                <a:latin typeface="Consolas"/>
                <a:ea typeface="Consolas"/>
                <a:cs typeface="Consolas"/>
                <a:sym typeface="Consolas"/>
              </a:rPr>
              <a:t>Създаване на Ed25519 двойка ключове</a:t>
            </a:r>
            <a:endParaRPr>
              <a:solidFill>
                <a:srgbClr val="165271"/>
              </a:solidFill>
              <a:latin typeface="Consolas"/>
              <a:ea typeface="Consolas"/>
              <a:cs typeface="Consolas"/>
              <a:sym typeface="Consolas"/>
            </a:endParaRPr>
          </a:p>
        </p:txBody>
      </p:sp>
      <p:grpSp>
        <p:nvGrpSpPr>
          <p:cNvPr id="137" name="Google Shape;137;p16"/>
          <p:cNvGrpSpPr/>
          <p:nvPr/>
        </p:nvGrpSpPr>
        <p:grpSpPr>
          <a:xfrm>
            <a:off x="39572" y="0"/>
            <a:ext cx="11971806" cy="1095019"/>
            <a:chOff x="39572" y="0"/>
            <a:chExt cx="11971806" cy="1095019"/>
          </a:xfrm>
        </p:grpSpPr>
        <p:sp>
          <p:nvSpPr>
            <p:cNvPr id="138" name="Google Shape;138;p16"/>
            <p:cNvSpPr txBox="1"/>
            <p:nvPr/>
          </p:nvSpPr>
          <p:spPr>
            <a:xfrm>
              <a:off x="39572" y="0"/>
              <a:ext cx="119718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b="1" i="0" u="none" strike="noStrike" cap="none">
                  <a:solidFill>
                    <a:srgbClr val="002060"/>
                  </a:solidFill>
                  <a:latin typeface="Consolas"/>
                  <a:ea typeface="Consolas"/>
                  <a:cs typeface="Consolas"/>
                  <a:sym typeface="Consolas"/>
                </a:rPr>
                <a:t>КИБЕРСИГУРНОСТ НА ИНТЕРНЕТ ИНФОРМАЦИОННИ СИСТЕМИ</a:t>
              </a:r>
            </a:p>
          </p:txBody>
        </p:sp>
        <p:sp>
          <p:nvSpPr>
            <p:cNvPr id="139" name="Google Shape;139;p16"/>
            <p:cNvSpPr txBox="1"/>
            <p:nvPr/>
          </p:nvSpPr>
          <p:spPr>
            <a:xfrm>
              <a:off x="9775499" y="369325"/>
              <a:ext cx="15873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bg-BG">
                  <a:solidFill>
                    <a:srgbClr val="165271"/>
                  </a:solidFill>
                  <a:latin typeface="Consolas"/>
                  <a:ea typeface="Consolas"/>
                  <a:cs typeface="Consolas"/>
                  <a:sym typeface="Consolas"/>
                </a:rPr>
                <a:t>Кирил Кискинов</a:t>
              </a:r>
              <a:endParaRPr sz="1050" b="0" i="0" u="none" strike="noStrike" cap="none">
                <a:solidFill>
                  <a:srgbClr val="A5A5A5"/>
                </a:solidFill>
                <a:latin typeface="Consolas"/>
                <a:ea typeface="Consolas"/>
                <a:cs typeface="Consolas"/>
                <a:sym typeface="Consolas"/>
              </a:endParaRPr>
            </a:p>
          </p:txBody>
        </p:sp>
        <p:pic>
          <p:nvPicPr>
            <p:cNvPr id="141" name="Google Shape;141;p16"/>
            <p:cNvPicPr preferRelativeResize="0"/>
            <p:nvPr/>
          </p:nvPicPr>
          <p:blipFill rotWithShape="1">
            <a:blip r:embed="rId3">
              <a:alphaModFix/>
            </a:blip>
            <a:srcRect/>
            <a:stretch/>
          </p:blipFill>
          <p:spPr>
            <a:xfrm>
              <a:off x="11362923" y="0"/>
              <a:ext cx="648455" cy="1095019"/>
            </a:xfrm>
            <a:prstGeom prst="rect">
              <a:avLst/>
            </a:prstGeom>
            <a:noFill/>
            <a:ln>
              <a:noFill/>
            </a:ln>
          </p:spPr>
        </p:pic>
      </p:grpSp>
      <p:cxnSp>
        <p:nvCxnSpPr>
          <p:cNvPr id="9" name="Google Shape;115;p15">
            <a:extLst>
              <a:ext uri="{FF2B5EF4-FFF2-40B4-BE49-F238E27FC236}">
                <a16:creationId xmlns:a16="http://schemas.microsoft.com/office/drawing/2014/main" id="{5DF0C95F-E2EB-4031-8E1A-6E1344CC0258}"/>
              </a:ext>
            </a:extLst>
          </p:cNvPr>
          <p:cNvCxnSpPr>
            <a:cxnSpLocks/>
          </p:cNvCxnSpPr>
          <p:nvPr/>
        </p:nvCxnSpPr>
        <p:spPr>
          <a:xfrm flipV="1">
            <a:off x="293636" y="369325"/>
            <a:ext cx="11090128" cy="7"/>
          </a:xfrm>
          <a:prstGeom prst="straightConnector1">
            <a:avLst/>
          </a:prstGeom>
          <a:noFill/>
          <a:ln w="9525" cap="flat" cmpd="sng">
            <a:solidFill>
              <a:schemeClr val="accent6"/>
            </a:solidFill>
            <a:prstDash val="solid"/>
            <a:miter lim="800000"/>
            <a:headEnd type="none" w="sm" len="sm"/>
            <a:tailEnd type="none" w="sm" len="sm"/>
          </a:ln>
        </p:spPr>
      </p:cxnSp>
      <p:pic>
        <p:nvPicPr>
          <p:cNvPr id="2" name="Picture 1">
            <a:extLst>
              <a:ext uri="{FF2B5EF4-FFF2-40B4-BE49-F238E27FC236}">
                <a16:creationId xmlns:a16="http://schemas.microsoft.com/office/drawing/2014/main" id="{765281CC-77F2-413B-98A6-10CBC9DBA758}"/>
              </a:ext>
            </a:extLst>
          </p:cNvPr>
          <p:cNvPicPr>
            <a:picLocks noChangeAspect="1"/>
          </p:cNvPicPr>
          <p:nvPr/>
        </p:nvPicPr>
        <p:blipFill>
          <a:blip r:embed="rId4"/>
          <a:stretch>
            <a:fillRect/>
          </a:stretch>
        </p:blipFill>
        <p:spPr>
          <a:xfrm>
            <a:off x="792809" y="1313015"/>
            <a:ext cx="10606381" cy="535960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6"/>
          <p:cNvSpPr txBox="1">
            <a:spLocks noGrp="1"/>
          </p:cNvSpPr>
          <p:nvPr>
            <p:ph type="ctrTitle"/>
          </p:nvPr>
        </p:nvSpPr>
        <p:spPr>
          <a:xfrm>
            <a:off x="490890" y="495803"/>
            <a:ext cx="11069163" cy="5952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ru-RU" sz="3200">
                <a:solidFill>
                  <a:srgbClr val="165271"/>
                </a:solidFill>
                <a:latin typeface="Consolas"/>
                <a:ea typeface="Consolas"/>
                <a:cs typeface="Consolas"/>
                <a:sym typeface="Consolas"/>
              </a:rPr>
              <a:t>Създаване на криптиран zip архив</a:t>
            </a:r>
            <a:endParaRPr sz="3200">
              <a:solidFill>
                <a:srgbClr val="165271"/>
              </a:solidFill>
              <a:latin typeface="Consolas"/>
              <a:ea typeface="Consolas"/>
              <a:cs typeface="Consolas"/>
              <a:sym typeface="Consolas"/>
            </a:endParaRPr>
          </a:p>
        </p:txBody>
      </p:sp>
      <p:grpSp>
        <p:nvGrpSpPr>
          <p:cNvPr id="137" name="Google Shape;137;p16"/>
          <p:cNvGrpSpPr/>
          <p:nvPr/>
        </p:nvGrpSpPr>
        <p:grpSpPr>
          <a:xfrm>
            <a:off x="39572" y="0"/>
            <a:ext cx="11971806" cy="1095019"/>
            <a:chOff x="39572" y="0"/>
            <a:chExt cx="11971806" cy="1095019"/>
          </a:xfrm>
        </p:grpSpPr>
        <p:sp>
          <p:nvSpPr>
            <p:cNvPr id="138" name="Google Shape;138;p16"/>
            <p:cNvSpPr txBox="1"/>
            <p:nvPr/>
          </p:nvSpPr>
          <p:spPr>
            <a:xfrm>
              <a:off x="39572" y="0"/>
              <a:ext cx="119718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b="1" i="0" u="none" strike="noStrike" cap="none">
                  <a:solidFill>
                    <a:srgbClr val="002060"/>
                  </a:solidFill>
                  <a:latin typeface="Consolas"/>
                  <a:ea typeface="Consolas"/>
                  <a:cs typeface="Consolas"/>
                  <a:sym typeface="Consolas"/>
                </a:rPr>
                <a:t>КИБЕРСИГУРНОСТ НА ИНТЕРНЕТ ИНФОРМАЦИОННИ СИСТЕМИ</a:t>
              </a:r>
            </a:p>
          </p:txBody>
        </p:sp>
        <p:sp>
          <p:nvSpPr>
            <p:cNvPr id="139" name="Google Shape;139;p16"/>
            <p:cNvSpPr txBox="1"/>
            <p:nvPr/>
          </p:nvSpPr>
          <p:spPr>
            <a:xfrm>
              <a:off x="9775499" y="369325"/>
              <a:ext cx="15873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bg-BG">
                  <a:solidFill>
                    <a:srgbClr val="165271"/>
                  </a:solidFill>
                  <a:latin typeface="Consolas"/>
                  <a:ea typeface="Consolas"/>
                  <a:cs typeface="Consolas"/>
                  <a:sym typeface="Consolas"/>
                </a:rPr>
                <a:t>Кирил Кискинов</a:t>
              </a:r>
              <a:endParaRPr sz="1050" b="0" i="0" u="none" strike="noStrike" cap="none">
                <a:solidFill>
                  <a:srgbClr val="A5A5A5"/>
                </a:solidFill>
                <a:latin typeface="Consolas"/>
                <a:ea typeface="Consolas"/>
                <a:cs typeface="Consolas"/>
                <a:sym typeface="Consolas"/>
              </a:endParaRPr>
            </a:p>
          </p:txBody>
        </p:sp>
        <p:pic>
          <p:nvPicPr>
            <p:cNvPr id="141" name="Google Shape;141;p16"/>
            <p:cNvPicPr preferRelativeResize="0"/>
            <p:nvPr/>
          </p:nvPicPr>
          <p:blipFill rotWithShape="1">
            <a:blip r:embed="rId3">
              <a:alphaModFix/>
            </a:blip>
            <a:srcRect/>
            <a:stretch/>
          </p:blipFill>
          <p:spPr>
            <a:xfrm>
              <a:off x="11362923" y="0"/>
              <a:ext cx="648455" cy="1095019"/>
            </a:xfrm>
            <a:prstGeom prst="rect">
              <a:avLst/>
            </a:prstGeom>
            <a:noFill/>
            <a:ln>
              <a:noFill/>
            </a:ln>
          </p:spPr>
        </p:pic>
      </p:grpSp>
      <p:cxnSp>
        <p:nvCxnSpPr>
          <p:cNvPr id="9" name="Google Shape;115;p15">
            <a:extLst>
              <a:ext uri="{FF2B5EF4-FFF2-40B4-BE49-F238E27FC236}">
                <a16:creationId xmlns:a16="http://schemas.microsoft.com/office/drawing/2014/main" id="{5DF0C95F-E2EB-4031-8E1A-6E1344CC0258}"/>
              </a:ext>
            </a:extLst>
          </p:cNvPr>
          <p:cNvCxnSpPr>
            <a:cxnSpLocks/>
          </p:cNvCxnSpPr>
          <p:nvPr/>
        </p:nvCxnSpPr>
        <p:spPr>
          <a:xfrm flipV="1">
            <a:off x="293636" y="369325"/>
            <a:ext cx="11090128" cy="7"/>
          </a:xfrm>
          <a:prstGeom prst="straightConnector1">
            <a:avLst/>
          </a:prstGeom>
          <a:noFill/>
          <a:ln w="9525" cap="flat" cmpd="sng">
            <a:solidFill>
              <a:schemeClr val="accent6"/>
            </a:solidFill>
            <a:prstDash val="solid"/>
            <a:miter lim="800000"/>
            <a:headEnd type="none" w="sm" len="sm"/>
            <a:tailEnd type="none" w="sm" len="sm"/>
          </a:ln>
        </p:spPr>
      </p:cxnSp>
      <p:pic>
        <p:nvPicPr>
          <p:cNvPr id="3" name="Picture 2">
            <a:extLst>
              <a:ext uri="{FF2B5EF4-FFF2-40B4-BE49-F238E27FC236}">
                <a16:creationId xmlns:a16="http://schemas.microsoft.com/office/drawing/2014/main" id="{C57C35CC-79C0-48F2-8F6A-F8D6612862C5}"/>
              </a:ext>
            </a:extLst>
          </p:cNvPr>
          <p:cNvPicPr>
            <a:picLocks noChangeAspect="1"/>
          </p:cNvPicPr>
          <p:nvPr/>
        </p:nvPicPr>
        <p:blipFill>
          <a:blip r:embed="rId4"/>
          <a:stretch>
            <a:fillRect/>
          </a:stretch>
        </p:blipFill>
        <p:spPr>
          <a:xfrm>
            <a:off x="0" y="1204016"/>
            <a:ext cx="8267414" cy="3799492"/>
          </a:xfrm>
          <a:prstGeom prst="rect">
            <a:avLst/>
          </a:prstGeom>
        </p:spPr>
      </p:pic>
      <p:pic>
        <p:nvPicPr>
          <p:cNvPr id="11" name="Picture 10">
            <a:extLst>
              <a:ext uri="{FF2B5EF4-FFF2-40B4-BE49-F238E27FC236}">
                <a16:creationId xmlns:a16="http://schemas.microsoft.com/office/drawing/2014/main" id="{E20760F9-FB75-4BDE-B47C-26888F518D23}"/>
              </a:ext>
            </a:extLst>
          </p:cNvPr>
          <p:cNvPicPr/>
          <p:nvPr/>
        </p:nvPicPr>
        <p:blipFill>
          <a:blip r:embed="rId5">
            <a:extLst>
              <a:ext uri="{28A0092B-C50C-407E-A947-70E740481C1C}">
                <a14:useLocalDpi xmlns:a14="http://schemas.microsoft.com/office/drawing/2010/main" val="0"/>
              </a:ext>
            </a:extLst>
          </a:blip>
          <a:stretch>
            <a:fillRect/>
          </a:stretch>
        </p:blipFill>
        <p:spPr>
          <a:xfrm>
            <a:off x="3462391" y="4705564"/>
            <a:ext cx="8729609" cy="2152436"/>
          </a:xfrm>
          <a:prstGeom prst="rect">
            <a:avLst/>
          </a:prstGeom>
        </p:spPr>
      </p:pic>
      <p:sp>
        <p:nvSpPr>
          <p:cNvPr id="4" name="TextBox 3">
            <a:extLst>
              <a:ext uri="{FF2B5EF4-FFF2-40B4-BE49-F238E27FC236}">
                <a16:creationId xmlns:a16="http://schemas.microsoft.com/office/drawing/2014/main" id="{5F19D38B-CA7A-4F9A-924D-06CAEA4C444B}"/>
              </a:ext>
            </a:extLst>
          </p:cNvPr>
          <p:cNvSpPr txBox="1"/>
          <p:nvPr/>
        </p:nvSpPr>
        <p:spPr>
          <a:xfrm>
            <a:off x="132040" y="5585262"/>
            <a:ext cx="3422819" cy="707886"/>
          </a:xfrm>
          <a:prstGeom prst="rect">
            <a:avLst/>
          </a:prstGeom>
          <a:noFill/>
        </p:spPr>
        <p:txBody>
          <a:bodyPr wrap="square" rtlCol="0">
            <a:spAutoFit/>
          </a:bodyPr>
          <a:lstStyle/>
          <a:p>
            <a:r>
              <a:rPr lang="bg-BG" sz="2000">
                <a:latin typeface="Consolas" panose="020B0609020204030204" pitchFamily="49" charset="0"/>
              </a:rPr>
              <a:t>Архивиране на текущата директория (дясно)</a:t>
            </a:r>
          </a:p>
        </p:txBody>
      </p:sp>
      <p:sp>
        <p:nvSpPr>
          <p:cNvPr id="14" name="TextBox 13">
            <a:extLst>
              <a:ext uri="{FF2B5EF4-FFF2-40B4-BE49-F238E27FC236}">
                <a16:creationId xmlns:a16="http://schemas.microsoft.com/office/drawing/2014/main" id="{8DAF6BAC-F24D-40FB-A7FF-017C85882D41}"/>
              </a:ext>
            </a:extLst>
          </p:cNvPr>
          <p:cNvSpPr txBox="1"/>
          <p:nvPr/>
        </p:nvSpPr>
        <p:spPr>
          <a:xfrm>
            <a:off x="8588553" y="2088099"/>
            <a:ext cx="3422819" cy="1323439"/>
          </a:xfrm>
          <a:prstGeom prst="rect">
            <a:avLst/>
          </a:prstGeom>
          <a:noFill/>
        </p:spPr>
        <p:txBody>
          <a:bodyPr wrap="square" rtlCol="0">
            <a:spAutoFit/>
          </a:bodyPr>
          <a:lstStyle/>
          <a:p>
            <a:r>
              <a:rPr lang="ru-RU" sz="2000">
                <a:latin typeface="Consolas" panose="020B0609020204030204" pitchFamily="49" charset="0"/>
              </a:rPr>
              <a:t>Създаване на директория с име </a:t>
            </a:r>
            <a:r>
              <a:rPr lang="ru-RU" sz="2000" i="1">
                <a:latin typeface="Consolas" panose="020B0609020204030204" pitchFamily="49" charset="0"/>
              </a:rPr>
              <a:t>example_backup </a:t>
            </a:r>
            <a:r>
              <a:rPr lang="ru-RU" sz="2000">
                <a:latin typeface="Consolas" panose="020B0609020204030204" pitchFamily="49" charset="0"/>
              </a:rPr>
              <a:t>и някои примерни файлове (ляво)</a:t>
            </a:r>
            <a:endParaRPr lang="bg-BG" sz="2000">
              <a:latin typeface="Consolas" panose="020B0609020204030204" pitchFamily="49" charset="0"/>
            </a:endParaRPr>
          </a:p>
        </p:txBody>
      </p:sp>
    </p:spTree>
    <p:extLst>
      <p:ext uri="{BB962C8B-B14F-4D97-AF65-F5344CB8AC3E}">
        <p14:creationId xmlns:p14="http://schemas.microsoft.com/office/powerpoint/2010/main" val="203199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6"/>
          <p:cNvSpPr txBox="1">
            <a:spLocks noGrp="1"/>
          </p:cNvSpPr>
          <p:nvPr>
            <p:ph type="ctrTitle"/>
          </p:nvPr>
        </p:nvSpPr>
        <p:spPr>
          <a:xfrm>
            <a:off x="490890" y="495803"/>
            <a:ext cx="11069163" cy="5952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ru-RU" sz="3200">
                <a:solidFill>
                  <a:srgbClr val="165271"/>
                </a:solidFill>
                <a:latin typeface="Consolas"/>
                <a:ea typeface="Consolas"/>
                <a:cs typeface="Consolas"/>
                <a:sym typeface="Consolas"/>
              </a:rPr>
              <a:t>Създаване на криптиран zip архив</a:t>
            </a:r>
            <a:endParaRPr sz="3200">
              <a:solidFill>
                <a:srgbClr val="165271"/>
              </a:solidFill>
              <a:latin typeface="Consolas"/>
              <a:ea typeface="Consolas"/>
              <a:cs typeface="Consolas"/>
              <a:sym typeface="Consolas"/>
            </a:endParaRPr>
          </a:p>
        </p:txBody>
      </p:sp>
      <p:grpSp>
        <p:nvGrpSpPr>
          <p:cNvPr id="137" name="Google Shape;137;p16"/>
          <p:cNvGrpSpPr/>
          <p:nvPr/>
        </p:nvGrpSpPr>
        <p:grpSpPr>
          <a:xfrm>
            <a:off x="39572" y="0"/>
            <a:ext cx="11971806" cy="1095019"/>
            <a:chOff x="39572" y="0"/>
            <a:chExt cx="11971806" cy="1095019"/>
          </a:xfrm>
        </p:grpSpPr>
        <p:sp>
          <p:nvSpPr>
            <p:cNvPr id="138" name="Google Shape;138;p16"/>
            <p:cNvSpPr txBox="1"/>
            <p:nvPr/>
          </p:nvSpPr>
          <p:spPr>
            <a:xfrm>
              <a:off x="39572" y="0"/>
              <a:ext cx="119718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b="1" i="0" u="none" strike="noStrike" cap="none">
                  <a:solidFill>
                    <a:srgbClr val="002060"/>
                  </a:solidFill>
                  <a:latin typeface="Consolas"/>
                  <a:ea typeface="Consolas"/>
                  <a:cs typeface="Consolas"/>
                  <a:sym typeface="Consolas"/>
                </a:rPr>
                <a:t>КИБЕРСИГУРНОСТ НА ИНТЕРНЕТ ИНФОРМАЦИОННИ СИСТЕМИ</a:t>
              </a:r>
            </a:p>
          </p:txBody>
        </p:sp>
        <p:sp>
          <p:nvSpPr>
            <p:cNvPr id="139" name="Google Shape;139;p16"/>
            <p:cNvSpPr txBox="1"/>
            <p:nvPr/>
          </p:nvSpPr>
          <p:spPr>
            <a:xfrm>
              <a:off x="9775499" y="369325"/>
              <a:ext cx="15873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bg-BG">
                  <a:solidFill>
                    <a:srgbClr val="165271"/>
                  </a:solidFill>
                  <a:latin typeface="Consolas"/>
                  <a:ea typeface="Consolas"/>
                  <a:cs typeface="Consolas"/>
                  <a:sym typeface="Consolas"/>
                </a:rPr>
                <a:t>Кирил Кискинов</a:t>
              </a:r>
              <a:endParaRPr sz="1050" b="0" i="0" u="none" strike="noStrike" cap="none">
                <a:solidFill>
                  <a:srgbClr val="A5A5A5"/>
                </a:solidFill>
                <a:latin typeface="Consolas"/>
                <a:ea typeface="Consolas"/>
                <a:cs typeface="Consolas"/>
                <a:sym typeface="Consolas"/>
              </a:endParaRPr>
            </a:p>
          </p:txBody>
        </p:sp>
        <p:pic>
          <p:nvPicPr>
            <p:cNvPr id="141" name="Google Shape;141;p16"/>
            <p:cNvPicPr preferRelativeResize="0"/>
            <p:nvPr/>
          </p:nvPicPr>
          <p:blipFill rotWithShape="1">
            <a:blip r:embed="rId3">
              <a:alphaModFix/>
            </a:blip>
            <a:srcRect/>
            <a:stretch/>
          </p:blipFill>
          <p:spPr>
            <a:xfrm>
              <a:off x="11362923" y="0"/>
              <a:ext cx="648455" cy="1095019"/>
            </a:xfrm>
            <a:prstGeom prst="rect">
              <a:avLst/>
            </a:prstGeom>
            <a:noFill/>
            <a:ln>
              <a:noFill/>
            </a:ln>
          </p:spPr>
        </p:pic>
      </p:grpSp>
      <p:cxnSp>
        <p:nvCxnSpPr>
          <p:cNvPr id="9" name="Google Shape;115;p15">
            <a:extLst>
              <a:ext uri="{FF2B5EF4-FFF2-40B4-BE49-F238E27FC236}">
                <a16:creationId xmlns:a16="http://schemas.microsoft.com/office/drawing/2014/main" id="{5DF0C95F-E2EB-4031-8E1A-6E1344CC0258}"/>
              </a:ext>
            </a:extLst>
          </p:cNvPr>
          <p:cNvCxnSpPr>
            <a:cxnSpLocks/>
          </p:cNvCxnSpPr>
          <p:nvPr/>
        </p:nvCxnSpPr>
        <p:spPr>
          <a:xfrm flipV="1">
            <a:off x="293636" y="369325"/>
            <a:ext cx="11090128" cy="7"/>
          </a:xfrm>
          <a:prstGeom prst="straightConnector1">
            <a:avLst/>
          </a:prstGeom>
          <a:noFill/>
          <a:ln w="9525" cap="flat" cmpd="sng">
            <a:solidFill>
              <a:schemeClr val="accent6"/>
            </a:solidFill>
            <a:prstDash val="solid"/>
            <a:miter lim="800000"/>
            <a:headEnd type="none" w="sm" len="sm"/>
            <a:tailEnd type="none" w="sm" len="sm"/>
          </a:ln>
        </p:spPr>
      </p:cxnSp>
      <p:pic>
        <p:nvPicPr>
          <p:cNvPr id="12" name="Picture 11">
            <a:extLst>
              <a:ext uri="{FF2B5EF4-FFF2-40B4-BE49-F238E27FC236}">
                <a16:creationId xmlns:a16="http://schemas.microsoft.com/office/drawing/2014/main" id="{5DA54ADD-042D-4D70-9B00-36D72633C5C8}"/>
              </a:ext>
            </a:extLst>
          </p:cNvPr>
          <p:cNvPicPr/>
          <p:nvPr/>
        </p:nvPicPr>
        <p:blipFill>
          <a:blip r:embed="rId4">
            <a:extLst>
              <a:ext uri="{28A0092B-C50C-407E-A947-70E740481C1C}">
                <a14:useLocalDpi xmlns:a14="http://schemas.microsoft.com/office/drawing/2010/main" val="0"/>
              </a:ext>
            </a:extLst>
          </a:blip>
          <a:stretch>
            <a:fillRect/>
          </a:stretch>
        </p:blipFill>
        <p:spPr>
          <a:xfrm>
            <a:off x="930018" y="1217474"/>
            <a:ext cx="10331964" cy="5512283"/>
          </a:xfrm>
          <a:prstGeom prst="rect">
            <a:avLst/>
          </a:prstGeom>
        </p:spPr>
      </p:pic>
    </p:spTree>
    <p:extLst>
      <p:ext uri="{BB962C8B-B14F-4D97-AF65-F5344CB8AC3E}">
        <p14:creationId xmlns:p14="http://schemas.microsoft.com/office/powerpoint/2010/main" val="3674981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6"/>
          <p:cNvSpPr txBox="1">
            <a:spLocks noGrp="1"/>
          </p:cNvSpPr>
          <p:nvPr>
            <p:ph type="ctrTitle"/>
          </p:nvPr>
        </p:nvSpPr>
        <p:spPr>
          <a:xfrm>
            <a:off x="490890" y="608817"/>
            <a:ext cx="11069163" cy="595200"/>
          </a:xfrm>
          <a:prstGeom prst="rect">
            <a:avLst/>
          </a:prstGeom>
        </p:spPr>
        <p:txBody>
          <a:bodyPr spcFirstLastPara="1" wrap="square" lIns="91425" tIns="45700" rIns="91425" bIns="45700" anchor="b" anchorCtr="0">
            <a:normAutofit fontScale="90000"/>
          </a:bodyPr>
          <a:lstStyle/>
          <a:p>
            <a:pPr marL="0" lvl="0" indent="0" algn="ctr" rtl="0">
              <a:spcBef>
                <a:spcPts val="0"/>
              </a:spcBef>
              <a:spcAft>
                <a:spcPts val="0"/>
              </a:spcAft>
              <a:buNone/>
            </a:pPr>
            <a:r>
              <a:rPr lang="ru-RU" sz="3200">
                <a:solidFill>
                  <a:srgbClr val="165271"/>
                </a:solidFill>
                <a:latin typeface="Consolas"/>
                <a:ea typeface="Consolas"/>
                <a:cs typeface="Consolas"/>
                <a:sym typeface="Consolas"/>
              </a:rPr>
              <a:t>Създаване на криптиран архив чрез </a:t>
            </a:r>
            <a:r>
              <a:rPr lang="en-US" sz="3200">
                <a:solidFill>
                  <a:srgbClr val="165271"/>
                </a:solidFill>
                <a:latin typeface="Consolas"/>
                <a:ea typeface="Consolas"/>
                <a:cs typeface="Consolas"/>
                <a:sym typeface="Consolas"/>
              </a:rPr>
              <a:t>GNU Privacy Guard</a:t>
            </a:r>
            <a:endParaRPr sz="3200">
              <a:solidFill>
                <a:srgbClr val="165271"/>
              </a:solidFill>
              <a:latin typeface="Consolas"/>
              <a:ea typeface="Consolas"/>
              <a:cs typeface="Consolas"/>
              <a:sym typeface="Consolas"/>
            </a:endParaRPr>
          </a:p>
        </p:txBody>
      </p:sp>
      <p:grpSp>
        <p:nvGrpSpPr>
          <p:cNvPr id="137" name="Google Shape;137;p16"/>
          <p:cNvGrpSpPr/>
          <p:nvPr/>
        </p:nvGrpSpPr>
        <p:grpSpPr>
          <a:xfrm>
            <a:off x="39572" y="0"/>
            <a:ext cx="11971806" cy="1095019"/>
            <a:chOff x="39572" y="0"/>
            <a:chExt cx="11971806" cy="1095019"/>
          </a:xfrm>
        </p:grpSpPr>
        <p:sp>
          <p:nvSpPr>
            <p:cNvPr id="138" name="Google Shape;138;p16"/>
            <p:cNvSpPr txBox="1"/>
            <p:nvPr/>
          </p:nvSpPr>
          <p:spPr>
            <a:xfrm>
              <a:off x="39572" y="0"/>
              <a:ext cx="119718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b="1" i="0" u="none" strike="noStrike" cap="none">
                  <a:solidFill>
                    <a:srgbClr val="002060"/>
                  </a:solidFill>
                  <a:latin typeface="Consolas"/>
                  <a:ea typeface="Consolas"/>
                  <a:cs typeface="Consolas"/>
                  <a:sym typeface="Consolas"/>
                </a:rPr>
                <a:t>КИБЕРСИГУРНОСТ НА ИНТЕРНЕТ ИНФОРМАЦИОННИ СИСТЕМИ</a:t>
              </a:r>
            </a:p>
          </p:txBody>
        </p:sp>
        <p:sp>
          <p:nvSpPr>
            <p:cNvPr id="139" name="Google Shape;139;p16"/>
            <p:cNvSpPr txBox="1"/>
            <p:nvPr/>
          </p:nvSpPr>
          <p:spPr>
            <a:xfrm>
              <a:off x="9775499" y="369325"/>
              <a:ext cx="15873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bg-BG">
                  <a:solidFill>
                    <a:srgbClr val="165271"/>
                  </a:solidFill>
                  <a:latin typeface="Consolas"/>
                  <a:ea typeface="Consolas"/>
                  <a:cs typeface="Consolas"/>
                  <a:sym typeface="Consolas"/>
                </a:rPr>
                <a:t>Кирил Кискинов</a:t>
              </a:r>
              <a:endParaRPr sz="1050" b="0" i="0" u="none" strike="noStrike" cap="none">
                <a:solidFill>
                  <a:srgbClr val="A5A5A5"/>
                </a:solidFill>
                <a:latin typeface="Consolas"/>
                <a:ea typeface="Consolas"/>
                <a:cs typeface="Consolas"/>
                <a:sym typeface="Consolas"/>
              </a:endParaRPr>
            </a:p>
          </p:txBody>
        </p:sp>
        <p:pic>
          <p:nvPicPr>
            <p:cNvPr id="141" name="Google Shape;141;p16"/>
            <p:cNvPicPr preferRelativeResize="0"/>
            <p:nvPr/>
          </p:nvPicPr>
          <p:blipFill rotWithShape="1">
            <a:blip r:embed="rId3">
              <a:alphaModFix/>
            </a:blip>
            <a:srcRect/>
            <a:stretch/>
          </p:blipFill>
          <p:spPr>
            <a:xfrm>
              <a:off x="11362923" y="0"/>
              <a:ext cx="648455" cy="1095019"/>
            </a:xfrm>
            <a:prstGeom prst="rect">
              <a:avLst/>
            </a:prstGeom>
            <a:noFill/>
            <a:ln>
              <a:noFill/>
            </a:ln>
          </p:spPr>
        </p:pic>
      </p:grpSp>
      <p:cxnSp>
        <p:nvCxnSpPr>
          <p:cNvPr id="9" name="Google Shape;115;p15">
            <a:extLst>
              <a:ext uri="{FF2B5EF4-FFF2-40B4-BE49-F238E27FC236}">
                <a16:creationId xmlns:a16="http://schemas.microsoft.com/office/drawing/2014/main" id="{5DF0C95F-E2EB-4031-8E1A-6E1344CC0258}"/>
              </a:ext>
            </a:extLst>
          </p:cNvPr>
          <p:cNvCxnSpPr>
            <a:cxnSpLocks/>
          </p:cNvCxnSpPr>
          <p:nvPr/>
        </p:nvCxnSpPr>
        <p:spPr>
          <a:xfrm flipV="1">
            <a:off x="293636" y="369325"/>
            <a:ext cx="11090128" cy="7"/>
          </a:xfrm>
          <a:prstGeom prst="straightConnector1">
            <a:avLst/>
          </a:prstGeom>
          <a:noFill/>
          <a:ln w="9525" cap="flat" cmpd="sng">
            <a:solidFill>
              <a:schemeClr val="accent6"/>
            </a:solidFill>
            <a:prstDash val="solid"/>
            <a:miter lim="800000"/>
            <a:headEnd type="none" w="sm" len="sm"/>
            <a:tailEnd type="none" w="sm" len="sm"/>
          </a:ln>
        </p:spPr>
      </p:cxnSp>
      <p:pic>
        <p:nvPicPr>
          <p:cNvPr id="10" name="Picture 9">
            <a:extLst>
              <a:ext uri="{FF2B5EF4-FFF2-40B4-BE49-F238E27FC236}">
                <a16:creationId xmlns:a16="http://schemas.microsoft.com/office/drawing/2014/main" id="{BDF79881-05AF-42FE-9CE9-ED1363C3B76D}"/>
              </a:ext>
            </a:extLst>
          </p:cNvPr>
          <p:cNvPicPr/>
          <p:nvPr/>
        </p:nvPicPr>
        <p:blipFill>
          <a:blip r:embed="rId4">
            <a:extLst>
              <a:ext uri="{28A0092B-C50C-407E-A947-70E740481C1C}">
                <a14:useLocalDpi xmlns:a14="http://schemas.microsoft.com/office/drawing/2010/main" val="0"/>
              </a:ext>
            </a:extLst>
          </a:blip>
          <a:stretch>
            <a:fillRect/>
          </a:stretch>
        </p:blipFill>
        <p:spPr>
          <a:xfrm>
            <a:off x="0" y="1402406"/>
            <a:ext cx="6852863" cy="2861359"/>
          </a:xfrm>
          <a:prstGeom prst="rect">
            <a:avLst/>
          </a:prstGeom>
        </p:spPr>
      </p:pic>
      <p:pic>
        <p:nvPicPr>
          <p:cNvPr id="11" name="Picture 10">
            <a:extLst>
              <a:ext uri="{FF2B5EF4-FFF2-40B4-BE49-F238E27FC236}">
                <a16:creationId xmlns:a16="http://schemas.microsoft.com/office/drawing/2014/main" id="{9F52CE46-590D-43B7-9431-8164C7096B99}"/>
              </a:ext>
            </a:extLst>
          </p:cNvPr>
          <p:cNvPicPr/>
          <p:nvPr/>
        </p:nvPicPr>
        <p:blipFill>
          <a:blip r:embed="rId5">
            <a:extLst>
              <a:ext uri="{28A0092B-C50C-407E-A947-70E740481C1C}">
                <a14:useLocalDpi xmlns:a14="http://schemas.microsoft.com/office/drawing/2010/main" val="0"/>
              </a:ext>
            </a:extLst>
          </a:blip>
          <a:stretch>
            <a:fillRect/>
          </a:stretch>
        </p:blipFill>
        <p:spPr>
          <a:xfrm>
            <a:off x="6852864" y="1402406"/>
            <a:ext cx="5339136" cy="5455594"/>
          </a:xfrm>
          <a:prstGeom prst="rect">
            <a:avLst/>
          </a:prstGeom>
        </p:spPr>
      </p:pic>
      <p:sp>
        <p:nvSpPr>
          <p:cNvPr id="13" name="TextBox 12">
            <a:extLst>
              <a:ext uri="{FF2B5EF4-FFF2-40B4-BE49-F238E27FC236}">
                <a16:creationId xmlns:a16="http://schemas.microsoft.com/office/drawing/2014/main" id="{5A88E6E7-B271-42FD-8379-B88385723012}"/>
              </a:ext>
            </a:extLst>
          </p:cNvPr>
          <p:cNvSpPr txBox="1"/>
          <p:nvPr/>
        </p:nvSpPr>
        <p:spPr>
          <a:xfrm>
            <a:off x="1040225" y="4626547"/>
            <a:ext cx="4298912" cy="400110"/>
          </a:xfrm>
          <a:prstGeom prst="rect">
            <a:avLst/>
          </a:prstGeom>
          <a:noFill/>
        </p:spPr>
        <p:txBody>
          <a:bodyPr wrap="square" rtlCol="0">
            <a:spAutoFit/>
          </a:bodyPr>
          <a:lstStyle/>
          <a:p>
            <a:r>
              <a:rPr lang="bg-BG" sz="2000">
                <a:latin typeface="Consolas" panose="020B0609020204030204" pitchFamily="49" charset="0"/>
              </a:rPr>
              <a:t>Създаване на </a:t>
            </a:r>
            <a:r>
              <a:rPr lang="en-US" sz="2000">
                <a:latin typeface="Consolas" panose="020B0609020204030204" pitchFamily="49" charset="0"/>
              </a:rPr>
              <a:t>tar </a:t>
            </a:r>
            <a:r>
              <a:rPr lang="bg-BG" sz="2000">
                <a:latin typeface="Consolas" panose="020B0609020204030204" pitchFamily="49" charset="0"/>
              </a:rPr>
              <a:t>архив (горе)</a:t>
            </a:r>
          </a:p>
        </p:txBody>
      </p:sp>
      <p:sp>
        <p:nvSpPr>
          <p:cNvPr id="14" name="TextBox 13">
            <a:extLst>
              <a:ext uri="{FF2B5EF4-FFF2-40B4-BE49-F238E27FC236}">
                <a16:creationId xmlns:a16="http://schemas.microsoft.com/office/drawing/2014/main" id="{DFE37030-45EE-4020-835B-6D2EF3B4FF26}"/>
              </a:ext>
            </a:extLst>
          </p:cNvPr>
          <p:cNvSpPr txBox="1"/>
          <p:nvPr/>
        </p:nvSpPr>
        <p:spPr>
          <a:xfrm>
            <a:off x="1040225" y="5472018"/>
            <a:ext cx="4298912" cy="707886"/>
          </a:xfrm>
          <a:prstGeom prst="rect">
            <a:avLst/>
          </a:prstGeom>
          <a:noFill/>
        </p:spPr>
        <p:txBody>
          <a:bodyPr wrap="square" rtlCol="0">
            <a:spAutoFit/>
          </a:bodyPr>
          <a:lstStyle/>
          <a:p>
            <a:r>
              <a:rPr lang="ru-RU" sz="2000">
                <a:latin typeface="Consolas" panose="020B0609020204030204" pitchFamily="49" charset="0"/>
              </a:rPr>
              <a:t>Шифроване на</a:t>
            </a:r>
            <a:r>
              <a:rPr lang="en-US" sz="2000">
                <a:latin typeface="Consolas" panose="020B0609020204030204" pitchFamily="49" charset="0"/>
              </a:rPr>
              <a:t> archive</a:t>
            </a:r>
            <a:r>
              <a:rPr lang="ru-RU" sz="2000">
                <a:latin typeface="Consolas" panose="020B0609020204030204" pitchFamily="49" charset="0"/>
              </a:rPr>
              <a:t>.tar.bz2 с помощта на GPG </a:t>
            </a:r>
            <a:r>
              <a:rPr lang="bg-BG" sz="2000">
                <a:latin typeface="Consolas" panose="020B0609020204030204" pitchFamily="49" charset="0"/>
              </a:rPr>
              <a:t>(дясно)</a:t>
            </a:r>
          </a:p>
        </p:txBody>
      </p:sp>
    </p:spTree>
    <p:extLst>
      <p:ext uri="{BB962C8B-B14F-4D97-AF65-F5344CB8AC3E}">
        <p14:creationId xmlns:p14="http://schemas.microsoft.com/office/powerpoint/2010/main" val="3408088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6"/>
          <p:cNvSpPr txBox="1">
            <a:spLocks noGrp="1"/>
          </p:cNvSpPr>
          <p:nvPr>
            <p:ph type="ctrTitle"/>
          </p:nvPr>
        </p:nvSpPr>
        <p:spPr>
          <a:xfrm>
            <a:off x="490890" y="608817"/>
            <a:ext cx="11069163" cy="595200"/>
          </a:xfrm>
          <a:prstGeom prst="rect">
            <a:avLst/>
          </a:prstGeom>
        </p:spPr>
        <p:txBody>
          <a:bodyPr spcFirstLastPara="1" wrap="square" lIns="91425" tIns="45700" rIns="91425" bIns="45700" anchor="b" anchorCtr="0">
            <a:normAutofit fontScale="90000"/>
          </a:bodyPr>
          <a:lstStyle/>
          <a:p>
            <a:pPr marL="0" lvl="0" indent="0" algn="ctr" rtl="0">
              <a:spcBef>
                <a:spcPts val="0"/>
              </a:spcBef>
              <a:spcAft>
                <a:spcPts val="0"/>
              </a:spcAft>
              <a:buNone/>
            </a:pPr>
            <a:r>
              <a:rPr lang="ru-RU" sz="3200">
                <a:solidFill>
                  <a:srgbClr val="165271"/>
                </a:solidFill>
                <a:latin typeface="Consolas"/>
                <a:ea typeface="Consolas"/>
                <a:cs typeface="Consolas"/>
                <a:sym typeface="Consolas"/>
              </a:rPr>
              <a:t>Създаване на криптиран архив чрез </a:t>
            </a:r>
            <a:r>
              <a:rPr lang="en-US" sz="3200">
                <a:solidFill>
                  <a:srgbClr val="165271"/>
                </a:solidFill>
                <a:latin typeface="Consolas"/>
                <a:ea typeface="Consolas"/>
                <a:cs typeface="Consolas"/>
                <a:sym typeface="Consolas"/>
              </a:rPr>
              <a:t>GNU Privacy Guard</a:t>
            </a:r>
            <a:endParaRPr sz="3200">
              <a:solidFill>
                <a:srgbClr val="165271"/>
              </a:solidFill>
              <a:latin typeface="Consolas"/>
              <a:ea typeface="Consolas"/>
              <a:cs typeface="Consolas"/>
              <a:sym typeface="Consolas"/>
            </a:endParaRPr>
          </a:p>
        </p:txBody>
      </p:sp>
      <p:grpSp>
        <p:nvGrpSpPr>
          <p:cNvPr id="137" name="Google Shape;137;p16"/>
          <p:cNvGrpSpPr/>
          <p:nvPr/>
        </p:nvGrpSpPr>
        <p:grpSpPr>
          <a:xfrm>
            <a:off x="39572" y="0"/>
            <a:ext cx="11971806" cy="1095019"/>
            <a:chOff x="39572" y="0"/>
            <a:chExt cx="11971806" cy="1095019"/>
          </a:xfrm>
        </p:grpSpPr>
        <p:sp>
          <p:nvSpPr>
            <p:cNvPr id="138" name="Google Shape;138;p16"/>
            <p:cNvSpPr txBox="1"/>
            <p:nvPr/>
          </p:nvSpPr>
          <p:spPr>
            <a:xfrm>
              <a:off x="39572" y="0"/>
              <a:ext cx="119718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b="1" i="0" u="none" strike="noStrike" cap="none">
                  <a:solidFill>
                    <a:srgbClr val="002060"/>
                  </a:solidFill>
                  <a:latin typeface="Consolas"/>
                  <a:ea typeface="Consolas"/>
                  <a:cs typeface="Consolas"/>
                  <a:sym typeface="Consolas"/>
                </a:rPr>
                <a:t>КИБЕРСИГУРНОСТ НА ИНТЕРНЕТ ИНФОРМАЦИОННИ СИСТЕМИ</a:t>
              </a:r>
            </a:p>
          </p:txBody>
        </p:sp>
        <p:sp>
          <p:nvSpPr>
            <p:cNvPr id="139" name="Google Shape;139;p16"/>
            <p:cNvSpPr txBox="1"/>
            <p:nvPr/>
          </p:nvSpPr>
          <p:spPr>
            <a:xfrm>
              <a:off x="9775499" y="369325"/>
              <a:ext cx="15873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bg-BG">
                  <a:solidFill>
                    <a:srgbClr val="165271"/>
                  </a:solidFill>
                  <a:latin typeface="Consolas"/>
                  <a:ea typeface="Consolas"/>
                  <a:cs typeface="Consolas"/>
                  <a:sym typeface="Consolas"/>
                </a:rPr>
                <a:t>Кирил Кискинов</a:t>
              </a:r>
              <a:endParaRPr sz="1050" b="0" i="0" u="none" strike="noStrike" cap="none">
                <a:solidFill>
                  <a:srgbClr val="A5A5A5"/>
                </a:solidFill>
                <a:latin typeface="Consolas"/>
                <a:ea typeface="Consolas"/>
                <a:cs typeface="Consolas"/>
                <a:sym typeface="Consolas"/>
              </a:endParaRPr>
            </a:p>
          </p:txBody>
        </p:sp>
        <p:pic>
          <p:nvPicPr>
            <p:cNvPr id="141" name="Google Shape;141;p16"/>
            <p:cNvPicPr preferRelativeResize="0"/>
            <p:nvPr/>
          </p:nvPicPr>
          <p:blipFill rotWithShape="1">
            <a:blip r:embed="rId3">
              <a:alphaModFix/>
            </a:blip>
            <a:srcRect/>
            <a:stretch/>
          </p:blipFill>
          <p:spPr>
            <a:xfrm>
              <a:off x="11362923" y="0"/>
              <a:ext cx="648455" cy="1095019"/>
            </a:xfrm>
            <a:prstGeom prst="rect">
              <a:avLst/>
            </a:prstGeom>
            <a:noFill/>
            <a:ln>
              <a:noFill/>
            </a:ln>
          </p:spPr>
        </p:pic>
      </p:grpSp>
      <p:cxnSp>
        <p:nvCxnSpPr>
          <p:cNvPr id="9" name="Google Shape;115;p15">
            <a:extLst>
              <a:ext uri="{FF2B5EF4-FFF2-40B4-BE49-F238E27FC236}">
                <a16:creationId xmlns:a16="http://schemas.microsoft.com/office/drawing/2014/main" id="{5DF0C95F-E2EB-4031-8E1A-6E1344CC0258}"/>
              </a:ext>
            </a:extLst>
          </p:cNvPr>
          <p:cNvCxnSpPr>
            <a:cxnSpLocks/>
          </p:cNvCxnSpPr>
          <p:nvPr/>
        </p:nvCxnSpPr>
        <p:spPr>
          <a:xfrm flipV="1">
            <a:off x="293636" y="369325"/>
            <a:ext cx="11090128" cy="7"/>
          </a:xfrm>
          <a:prstGeom prst="straightConnector1">
            <a:avLst/>
          </a:prstGeom>
          <a:noFill/>
          <a:ln w="9525" cap="flat" cmpd="sng">
            <a:solidFill>
              <a:schemeClr val="accent6"/>
            </a:solidFill>
            <a:prstDash val="solid"/>
            <a:miter lim="800000"/>
            <a:headEnd type="none" w="sm" len="sm"/>
            <a:tailEnd type="none" w="sm" len="sm"/>
          </a:ln>
        </p:spPr>
      </p:cxnSp>
      <p:sp>
        <p:nvSpPr>
          <p:cNvPr id="13" name="TextBox 12">
            <a:extLst>
              <a:ext uri="{FF2B5EF4-FFF2-40B4-BE49-F238E27FC236}">
                <a16:creationId xmlns:a16="http://schemas.microsoft.com/office/drawing/2014/main" id="{5A88E6E7-B271-42FD-8379-B88385723012}"/>
              </a:ext>
            </a:extLst>
          </p:cNvPr>
          <p:cNvSpPr txBox="1"/>
          <p:nvPr/>
        </p:nvSpPr>
        <p:spPr>
          <a:xfrm>
            <a:off x="1040225" y="5605899"/>
            <a:ext cx="4733851" cy="707886"/>
          </a:xfrm>
          <a:prstGeom prst="rect">
            <a:avLst/>
          </a:prstGeom>
          <a:noFill/>
        </p:spPr>
        <p:txBody>
          <a:bodyPr wrap="square" rtlCol="0">
            <a:spAutoFit/>
          </a:bodyPr>
          <a:lstStyle/>
          <a:p>
            <a:r>
              <a:rPr lang="bg-BG" sz="2000">
                <a:latin typeface="Consolas" panose="020B0609020204030204" pitchFamily="49" charset="0"/>
              </a:rPr>
              <a:t>Разархивиране на </a:t>
            </a:r>
            <a:r>
              <a:rPr lang="en-US" sz="2000">
                <a:latin typeface="Consolas" panose="020B0609020204030204" pitchFamily="49" charset="0"/>
              </a:rPr>
              <a:t>decrypted_archive.tar.bz2</a:t>
            </a:r>
            <a:r>
              <a:rPr lang="bg-BG" sz="2000">
                <a:latin typeface="Consolas" panose="020B0609020204030204" pitchFamily="49" charset="0"/>
              </a:rPr>
              <a:t> (горе)</a:t>
            </a:r>
          </a:p>
        </p:txBody>
      </p:sp>
      <p:sp>
        <p:nvSpPr>
          <p:cNvPr id="14" name="TextBox 13">
            <a:extLst>
              <a:ext uri="{FF2B5EF4-FFF2-40B4-BE49-F238E27FC236}">
                <a16:creationId xmlns:a16="http://schemas.microsoft.com/office/drawing/2014/main" id="{DFE37030-45EE-4020-835B-6D2EF3B4FF26}"/>
              </a:ext>
            </a:extLst>
          </p:cNvPr>
          <p:cNvSpPr txBox="1"/>
          <p:nvPr/>
        </p:nvSpPr>
        <p:spPr>
          <a:xfrm>
            <a:off x="1040225" y="4567893"/>
            <a:ext cx="4298912" cy="707886"/>
          </a:xfrm>
          <a:prstGeom prst="rect">
            <a:avLst/>
          </a:prstGeom>
          <a:noFill/>
        </p:spPr>
        <p:txBody>
          <a:bodyPr wrap="square" rtlCol="0">
            <a:spAutoFit/>
          </a:bodyPr>
          <a:lstStyle/>
          <a:p>
            <a:r>
              <a:rPr lang="ru-RU" sz="2000">
                <a:latin typeface="Consolas" panose="020B0609020204030204" pitchFamily="49" charset="0"/>
              </a:rPr>
              <a:t>Разопаковане и дешифриране на архива tar.bz2</a:t>
            </a:r>
            <a:r>
              <a:rPr lang="en-US" sz="2000">
                <a:latin typeface="Consolas" panose="020B0609020204030204" pitchFamily="49" charset="0"/>
              </a:rPr>
              <a:t> </a:t>
            </a:r>
            <a:r>
              <a:rPr lang="bg-BG" sz="2000">
                <a:latin typeface="Consolas" panose="020B0609020204030204" pitchFamily="49" charset="0"/>
              </a:rPr>
              <a:t>(дясно)</a:t>
            </a:r>
          </a:p>
        </p:txBody>
      </p:sp>
      <p:pic>
        <p:nvPicPr>
          <p:cNvPr id="12" name="Picture 11">
            <a:extLst>
              <a:ext uri="{FF2B5EF4-FFF2-40B4-BE49-F238E27FC236}">
                <a16:creationId xmlns:a16="http://schemas.microsoft.com/office/drawing/2014/main" id="{D8C07B86-0A27-4BE3-A427-24CB7490B4C5}"/>
              </a:ext>
            </a:extLst>
          </p:cNvPr>
          <p:cNvPicPr/>
          <p:nvPr/>
        </p:nvPicPr>
        <p:blipFill>
          <a:blip r:embed="rId4">
            <a:extLst>
              <a:ext uri="{28A0092B-C50C-407E-A947-70E740481C1C}">
                <a14:useLocalDpi xmlns:a14="http://schemas.microsoft.com/office/drawing/2010/main" val="0"/>
              </a:ext>
            </a:extLst>
          </a:blip>
          <a:stretch>
            <a:fillRect/>
          </a:stretch>
        </p:blipFill>
        <p:spPr>
          <a:xfrm>
            <a:off x="6852862" y="1402406"/>
            <a:ext cx="5339137" cy="5455594"/>
          </a:xfrm>
          <a:prstGeom prst="rect">
            <a:avLst/>
          </a:prstGeom>
        </p:spPr>
      </p:pic>
      <p:pic>
        <p:nvPicPr>
          <p:cNvPr id="15" name="Picture 14">
            <a:extLst>
              <a:ext uri="{FF2B5EF4-FFF2-40B4-BE49-F238E27FC236}">
                <a16:creationId xmlns:a16="http://schemas.microsoft.com/office/drawing/2014/main" id="{62ADF63E-79C5-4F40-82C9-A14650AAD6EF}"/>
              </a:ext>
            </a:extLst>
          </p:cNvPr>
          <p:cNvPicPr/>
          <p:nvPr/>
        </p:nvPicPr>
        <p:blipFill>
          <a:blip r:embed="rId5">
            <a:extLst>
              <a:ext uri="{28A0092B-C50C-407E-A947-70E740481C1C}">
                <a14:useLocalDpi xmlns:a14="http://schemas.microsoft.com/office/drawing/2010/main" val="0"/>
              </a:ext>
            </a:extLst>
          </a:blip>
          <a:stretch>
            <a:fillRect/>
          </a:stretch>
        </p:blipFill>
        <p:spPr>
          <a:xfrm>
            <a:off x="-1" y="1395817"/>
            <a:ext cx="6852863" cy="2867931"/>
          </a:xfrm>
          <a:prstGeom prst="rect">
            <a:avLst/>
          </a:prstGeom>
        </p:spPr>
      </p:pic>
    </p:spTree>
    <p:extLst>
      <p:ext uri="{BB962C8B-B14F-4D97-AF65-F5344CB8AC3E}">
        <p14:creationId xmlns:p14="http://schemas.microsoft.com/office/powerpoint/2010/main" val="2468749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6"/>
          <p:cNvSpPr txBox="1">
            <a:spLocks noGrp="1"/>
          </p:cNvSpPr>
          <p:nvPr>
            <p:ph type="ctrTitle"/>
          </p:nvPr>
        </p:nvSpPr>
        <p:spPr>
          <a:xfrm>
            <a:off x="2038350" y="882066"/>
            <a:ext cx="8115300" cy="5952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ru-RU" sz="3200">
                <a:solidFill>
                  <a:srgbClr val="165271"/>
                </a:solidFill>
                <a:latin typeface="Consolas"/>
                <a:ea typeface="Consolas"/>
                <a:cs typeface="Consolas"/>
                <a:sym typeface="Consolas"/>
              </a:rPr>
              <a:t>Сигурно изтриване на файлове</a:t>
            </a:r>
            <a:endParaRPr sz="3200">
              <a:solidFill>
                <a:srgbClr val="165271"/>
              </a:solidFill>
              <a:latin typeface="Consolas"/>
              <a:ea typeface="Consolas"/>
              <a:cs typeface="Consolas"/>
              <a:sym typeface="Consolas"/>
            </a:endParaRPr>
          </a:p>
        </p:txBody>
      </p:sp>
      <p:grpSp>
        <p:nvGrpSpPr>
          <p:cNvPr id="137" name="Google Shape;137;p16"/>
          <p:cNvGrpSpPr/>
          <p:nvPr/>
        </p:nvGrpSpPr>
        <p:grpSpPr>
          <a:xfrm>
            <a:off x="39572" y="0"/>
            <a:ext cx="11971806" cy="1095019"/>
            <a:chOff x="39572" y="0"/>
            <a:chExt cx="11971806" cy="1095019"/>
          </a:xfrm>
        </p:grpSpPr>
        <p:sp>
          <p:nvSpPr>
            <p:cNvPr id="138" name="Google Shape;138;p16"/>
            <p:cNvSpPr txBox="1"/>
            <p:nvPr/>
          </p:nvSpPr>
          <p:spPr>
            <a:xfrm>
              <a:off x="39572" y="0"/>
              <a:ext cx="119718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b="1" i="0" u="none" strike="noStrike" cap="none">
                  <a:solidFill>
                    <a:srgbClr val="002060"/>
                  </a:solidFill>
                  <a:latin typeface="Consolas"/>
                  <a:ea typeface="Consolas"/>
                  <a:cs typeface="Consolas"/>
                  <a:sym typeface="Consolas"/>
                </a:rPr>
                <a:t>КИБЕРСИГУРНОСТ НА ИНТЕРНЕТ ИНФОРМАЦИОННИ СИСТЕМИ</a:t>
              </a:r>
            </a:p>
          </p:txBody>
        </p:sp>
        <p:sp>
          <p:nvSpPr>
            <p:cNvPr id="139" name="Google Shape;139;p16"/>
            <p:cNvSpPr txBox="1"/>
            <p:nvPr/>
          </p:nvSpPr>
          <p:spPr>
            <a:xfrm>
              <a:off x="9775499" y="369325"/>
              <a:ext cx="15873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bg-BG">
                  <a:solidFill>
                    <a:srgbClr val="165271"/>
                  </a:solidFill>
                  <a:latin typeface="Consolas"/>
                  <a:ea typeface="Consolas"/>
                  <a:cs typeface="Consolas"/>
                  <a:sym typeface="Consolas"/>
                </a:rPr>
                <a:t>Кирил Кискинов</a:t>
              </a:r>
              <a:endParaRPr sz="1050" b="0" i="0" u="none" strike="noStrike" cap="none">
                <a:solidFill>
                  <a:srgbClr val="A5A5A5"/>
                </a:solidFill>
                <a:latin typeface="Consolas"/>
                <a:ea typeface="Consolas"/>
                <a:cs typeface="Consolas"/>
                <a:sym typeface="Consolas"/>
              </a:endParaRPr>
            </a:p>
          </p:txBody>
        </p:sp>
        <p:pic>
          <p:nvPicPr>
            <p:cNvPr id="141" name="Google Shape;141;p16"/>
            <p:cNvPicPr preferRelativeResize="0"/>
            <p:nvPr/>
          </p:nvPicPr>
          <p:blipFill rotWithShape="1">
            <a:blip r:embed="rId3">
              <a:alphaModFix/>
            </a:blip>
            <a:srcRect/>
            <a:stretch/>
          </p:blipFill>
          <p:spPr>
            <a:xfrm>
              <a:off x="11362923" y="0"/>
              <a:ext cx="648455" cy="1095019"/>
            </a:xfrm>
            <a:prstGeom prst="rect">
              <a:avLst/>
            </a:prstGeom>
            <a:noFill/>
            <a:ln>
              <a:noFill/>
            </a:ln>
          </p:spPr>
        </p:pic>
      </p:grpSp>
      <p:cxnSp>
        <p:nvCxnSpPr>
          <p:cNvPr id="9" name="Google Shape;115;p15">
            <a:extLst>
              <a:ext uri="{FF2B5EF4-FFF2-40B4-BE49-F238E27FC236}">
                <a16:creationId xmlns:a16="http://schemas.microsoft.com/office/drawing/2014/main" id="{5DF0C95F-E2EB-4031-8E1A-6E1344CC0258}"/>
              </a:ext>
            </a:extLst>
          </p:cNvPr>
          <p:cNvCxnSpPr>
            <a:cxnSpLocks/>
          </p:cNvCxnSpPr>
          <p:nvPr/>
        </p:nvCxnSpPr>
        <p:spPr>
          <a:xfrm flipV="1">
            <a:off x="293636" y="369325"/>
            <a:ext cx="11090128" cy="7"/>
          </a:xfrm>
          <a:prstGeom prst="straightConnector1">
            <a:avLst/>
          </a:prstGeom>
          <a:noFill/>
          <a:ln w="9525" cap="flat" cmpd="sng">
            <a:solidFill>
              <a:schemeClr val="accent6"/>
            </a:solidFill>
            <a:prstDash val="solid"/>
            <a:miter lim="800000"/>
            <a:headEnd type="none" w="sm" len="sm"/>
            <a:tailEnd type="none" w="sm" len="sm"/>
          </a:ln>
        </p:spPr>
      </p:cxnSp>
      <p:pic>
        <p:nvPicPr>
          <p:cNvPr id="3" name="Picture 2">
            <a:extLst>
              <a:ext uri="{FF2B5EF4-FFF2-40B4-BE49-F238E27FC236}">
                <a16:creationId xmlns:a16="http://schemas.microsoft.com/office/drawing/2014/main" id="{B28B5CEA-71DB-47F1-BAAB-7DEC132C6ED7}"/>
              </a:ext>
            </a:extLst>
          </p:cNvPr>
          <p:cNvPicPr>
            <a:picLocks noChangeAspect="1"/>
          </p:cNvPicPr>
          <p:nvPr/>
        </p:nvPicPr>
        <p:blipFill>
          <a:blip r:embed="rId4"/>
          <a:stretch>
            <a:fillRect/>
          </a:stretch>
        </p:blipFill>
        <p:spPr>
          <a:xfrm>
            <a:off x="222765" y="2360571"/>
            <a:ext cx="11746470" cy="2136857"/>
          </a:xfrm>
          <a:prstGeom prst="rect">
            <a:avLst/>
          </a:prstGeom>
        </p:spPr>
      </p:pic>
    </p:spTree>
    <p:extLst>
      <p:ext uri="{BB962C8B-B14F-4D97-AF65-F5344CB8AC3E}">
        <p14:creationId xmlns:p14="http://schemas.microsoft.com/office/powerpoint/2010/main" val="587227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6"/>
          <p:cNvSpPr txBox="1">
            <a:spLocks noGrp="1"/>
          </p:cNvSpPr>
          <p:nvPr>
            <p:ph type="ctrTitle"/>
          </p:nvPr>
        </p:nvSpPr>
        <p:spPr>
          <a:xfrm>
            <a:off x="1911314" y="492486"/>
            <a:ext cx="8369371" cy="595200"/>
          </a:xfrm>
          <a:prstGeom prst="rect">
            <a:avLst/>
          </a:prstGeom>
        </p:spPr>
        <p:txBody>
          <a:bodyPr spcFirstLastPara="1" wrap="square" lIns="91425" tIns="45700" rIns="91425" bIns="45700" anchor="b" anchorCtr="0">
            <a:noAutofit/>
          </a:bodyPr>
          <a:lstStyle/>
          <a:p>
            <a:pPr marL="0" lvl="0" indent="0" algn="ctr" rtl="0">
              <a:spcBef>
                <a:spcPts val="0"/>
              </a:spcBef>
              <a:spcAft>
                <a:spcPts val="0"/>
              </a:spcAft>
              <a:buNone/>
            </a:pPr>
            <a:r>
              <a:rPr lang="ru-RU" sz="3200">
                <a:solidFill>
                  <a:srgbClr val="165271"/>
                </a:solidFill>
                <a:latin typeface="Consolas"/>
                <a:ea typeface="Consolas"/>
                <a:cs typeface="Consolas"/>
                <a:sym typeface="Consolas"/>
              </a:rPr>
              <a:t>Сканиране на интернет сървъри с nmap</a:t>
            </a:r>
            <a:endParaRPr sz="3200">
              <a:solidFill>
                <a:srgbClr val="165271"/>
              </a:solidFill>
              <a:latin typeface="Consolas"/>
              <a:ea typeface="Consolas"/>
              <a:cs typeface="Consolas"/>
              <a:sym typeface="Consolas"/>
            </a:endParaRPr>
          </a:p>
        </p:txBody>
      </p:sp>
      <p:grpSp>
        <p:nvGrpSpPr>
          <p:cNvPr id="137" name="Google Shape;137;p16"/>
          <p:cNvGrpSpPr/>
          <p:nvPr/>
        </p:nvGrpSpPr>
        <p:grpSpPr>
          <a:xfrm>
            <a:off x="39572" y="0"/>
            <a:ext cx="11971806" cy="1095019"/>
            <a:chOff x="39572" y="0"/>
            <a:chExt cx="11971806" cy="1095019"/>
          </a:xfrm>
        </p:grpSpPr>
        <p:sp>
          <p:nvSpPr>
            <p:cNvPr id="138" name="Google Shape;138;p16"/>
            <p:cNvSpPr txBox="1"/>
            <p:nvPr/>
          </p:nvSpPr>
          <p:spPr>
            <a:xfrm>
              <a:off x="39572" y="0"/>
              <a:ext cx="119718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b="1" i="0" u="none" strike="noStrike" cap="none">
                  <a:solidFill>
                    <a:srgbClr val="002060"/>
                  </a:solidFill>
                  <a:latin typeface="Consolas"/>
                  <a:ea typeface="Consolas"/>
                  <a:cs typeface="Consolas"/>
                  <a:sym typeface="Consolas"/>
                </a:rPr>
                <a:t>КИБЕРСИГУРНОСТ НА ИНТЕРНЕТ ИНФОРМАЦИОННИ СИСТЕМИ</a:t>
              </a:r>
            </a:p>
          </p:txBody>
        </p:sp>
        <p:sp>
          <p:nvSpPr>
            <p:cNvPr id="139" name="Google Shape;139;p16"/>
            <p:cNvSpPr txBox="1"/>
            <p:nvPr/>
          </p:nvSpPr>
          <p:spPr>
            <a:xfrm>
              <a:off x="9775499" y="369325"/>
              <a:ext cx="15873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bg-BG">
                  <a:solidFill>
                    <a:srgbClr val="165271"/>
                  </a:solidFill>
                  <a:latin typeface="Consolas"/>
                  <a:ea typeface="Consolas"/>
                  <a:cs typeface="Consolas"/>
                  <a:sym typeface="Consolas"/>
                </a:rPr>
                <a:t>Кирил Кискинов</a:t>
              </a:r>
              <a:endParaRPr sz="1050" b="0" i="0" u="none" strike="noStrike" cap="none">
                <a:solidFill>
                  <a:srgbClr val="A5A5A5"/>
                </a:solidFill>
                <a:latin typeface="Consolas"/>
                <a:ea typeface="Consolas"/>
                <a:cs typeface="Consolas"/>
                <a:sym typeface="Consolas"/>
              </a:endParaRPr>
            </a:p>
          </p:txBody>
        </p:sp>
        <p:pic>
          <p:nvPicPr>
            <p:cNvPr id="141" name="Google Shape;141;p16"/>
            <p:cNvPicPr preferRelativeResize="0"/>
            <p:nvPr/>
          </p:nvPicPr>
          <p:blipFill rotWithShape="1">
            <a:blip r:embed="rId3">
              <a:alphaModFix/>
            </a:blip>
            <a:srcRect/>
            <a:stretch/>
          </p:blipFill>
          <p:spPr>
            <a:xfrm>
              <a:off x="11362923" y="0"/>
              <a:ext cx="648455" cy="1095019"/>
            </a:xfrm>
            <a:prstGeom prst="rect">
              <a:avLst/>
            </a:prstGeom>
            <a:noFill/>
            <a:ln>
              <a:noFill/>
            </a:ln>
          </p:spPr>
        </p:pic>
      </p:grpSp>
      <p:cxnSp>
        <p:nvCxnSpPr>
          <p:cNvPr id="9" name="Google Shape;115;p15">
            <a:extLst>
              <a:ext uri="{FF2B5EF4-FFF2-40B4-BE49-F238E27FC236}">
                <a16:creationId xmlns:a16="http://schemas.microsoft.com/office/drawing/2014/main" id="{5DF0C95F-E2EB-4031-8E1A-6E1344CC0258}"/>
              </a:ext>
            </a:extLst>
          </p:cNvPr>
          <p:cNvCxnSpPr>
            <a:cxnSpLocks/>
          </p:cNvCxnSpPr>
          <p:nvPr/>
        </p:nvCxnSpPr>
        <p:spPr>
          <a:xfrm flipV="1">
            <a:off x="293636" y="369325"/>
            <a:ext cx="11090128" cy="7"/>
          </a:xfrm>
          <a:prstGeom prst="straightConnector1">
            <a:avLst/>
          </a:prstGeom>
          <a:noFill/>
          <a:ln w="9525" cap="flat" cmpd="sng">
            <a:solidFill>
              <a:schemeClr val="accent6"/>
            </a:solidFill>
            <a:prstDash val="solid"/>
            <a:miter lim="800000"/>
            <a:headEnd type="none" w="sm" len="sm"/>
            <a:tailEnd type="none" w="sm" len="sm"/>
          </a:ln>
        </p:spPr>
      </p:cxnSp>
      <p:pic>
        <p:nvPicPr>
          <p:cNvPr id="2" name="Picture 1">
            <a:extLst>
              <a:ext uri="{FF2B5EF4-FFF2-40B4-BE49-F238E27FC236}">
                <a16:creationId xmlns:a16="http://schemas.microsoft.com/office/drawing/2014/main" id="{80FA5018-5AA2-4B16-939B-52E9413B0CEF}"/>
              </a:ext>
            </a:extLst>
          </p:cNvPr>
          <p:cNvPicPr>
            <a:picLocks noChangeAspect="1"/>
          </p:cNvPicPr>
          <p:nvPr/>
        </p:nvPicPr>
        <p:blipFill>
          <a:blip r:embed="rId4"/>
          <a:stretch>
            <a:fillRect/>
          </a:stretch>
        </p:blipFill>
        <p:spPr>
          <a:xfrm>
            <a:off x="2658687" y="1087686"/>
            <a:ext cx="6874624" cy="5762981"/>
          </a:xfrm>
          <a:prstGeom prst="rect">
            <a:avLst/>
          </a:prstGeom>
        </p:spPr>
      </p:pic>
    </p:spTree>
    <p:extLst>
      <p:ext uri="{BB962C8B-B14F-4D97-AF65-F5344CB8AC3E}">
        <p14:creationId xmlns:p14="http://schemas.microsoft.com/office/powerpoint/2010/main" val="1099119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6"/>
          <p:cNvSpPr txBox="1">
            <a:spLocks noGrp="1"/>
          </p:cNvSpPr>
          <p:nvPr>
            <p:ph type="ctrTitle"/>
          </p:nvPr>
        </p:nvSpPr>
        <p:spPr>
          <a:xfrm>
            <a:off x="293636" y="492486"/>
            <a:ext cx="11090128" cy="595200"/>
          </a:xfrm>
          <a:prstGeom prst="rect">
            <a:avLst/>
          </a:prstGeom>
        </p:spPr>
        <p:txBody>
          <a:bodyPr spcFirstLastPara="1" wrap="square" lIns="91425" tIns="45700" rIns="91425" bIns="45700" anchor="b" anchorCtr="0">
            <a:noAutofit/>
          </a:bodyPr>
          <a:lstStyle/>
          <a:p>
            <a:pPr marL="0" lvl="0" indent="0" algn="ctr" rtl="0">
              <a:spcBef>
                <a:spcPts val="0"/>
              </a:spcBef>
              <a:spcAft>
                <a:spcPts val="0"/>
              </a:spcAft>
              <a:buNone/>
            </a:pPr>
            <a:r>
              <a:rPr lang="ru-RU" sz="3200">
                <a:solidFill>
                  <a:srgbClr val="165271"/>
                </a:solidFill>
                <a:latin typeface="Consolas"/>
                <a:ea typeface="Consolas"/>
                <a:cs typeface="Consolas"/>
                <a:sym typeface="Consolas"/>
              </a:rPr>
              <a:t>Сканиране на порт 443 посредством sslscan</a:t>
            </a:r>
            <a:endParaRPr sz="3200">
              <a:solidFill>
                <a:srgbClr val="165271"/>
              </a:solidFill>
              <a:latin typeface="Consolas"/>
              <a:ea typeface="Consolas"/>
              <a:cs typeface="Consolas"/>
              <a:sym typeface="Consolas"/>
            </a:endParaRPr>
          </a:p>
        </p:txBody>
      </p:sp>
      <p:grpSp>
        <p:nvGrpSpPr>
          <p:cNvPr id="137" name="Google Shape;137;p16"/>
          <p:cNvGrpSpPr/>
          <p:nvPr/>
        </p:nvGrpSpPr>
        <p:grpSpPr>
          <a:xfrm>
            <a:off x="39572" y="0"/>
            <a:ext cx="11971806" cy="1095019"/>
            <a:chOff x="39572" y="0"/>
            <a:chExt cx="11971806" cy="1095019"/>
          </a:xfrm>
        </p:grpSpPr>
        <p:sp>
          <p:nvSpPr>
            <p:cNvPr id="138" name="Google Shape;138;p16"/>
            <p:cNvSpPr txBox="1"/>
            <p:nvPr/>
          </p:nvSpPr>
          <p:spPr>
            <a:xfrm>
              <a:off x="39572" y="0"/>
              <a:ext cx="119718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b="1" i="0" u="none" strike="noStrike" cap="none">
                  <a:solidFill>
                    <a:srgbClr val="002060"/>
                  </a:solidFill>
                  <a:latin typeface="Consolas"/>
                  <a:ea typeface="Consolas"/>
                  <a:cs typeface="Consolas"/>
                  <a:sym typeface="Consolas"/>
                </a:rPr>
                <a:t>КИБЕРСИГУРНОСТ НА ИНТЕРНЕТ ИНФОРМАЦИОННИ СИСТЕМИ</a:t>
              </a:r>
            </a:p>
          </p:txBody>
        </p:sp>
        <p:sp>
          <p:nvSpPr>
            <p:cNvPr id="139" name="Google Shape;139;p16"/>
            <p:cNvSpPr txBox="1"/>
            <p:nvPr/>
          </p:nvSpPr>
          <p:spPr>
            <a:xfrm>
              <a:off x="9775499" y="369325"/>
              <a:ext cx="15873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bg-BG">
                  <a:solidFill>
                    <a:srgbClr val="165271"/>
                  </a:solidFill>
                  <a:latin typeface="Consolas"/>
                  <a:ea typeface="Consolas"/>
                  <a:cs typeface="Consolas"/>
                  <a:sym typeface="Consolas"/>
                </a:rPr>
                <a:t>Кирил Кискинов</a:t>
              </a:r>
              <a:endParaRPr sz="1050" b="0" i="0" u="none" strike="noStrike" cap="none">
                <a:solidFill>
                  <a:srgbClr val="A5A5A5"/>
                </a:solidFill>
                <a:latin typeface="Consolas"/>
                <a:ea typeface="Consolas"/>
                <a:cs typeface="Consolas"/>
                <a:sym typeface="Consolas"/>
              </a:endParaRPr>
            </a:p>
          </p:txBody>
        </p:sp>
        <p:pic>
          <p:nvPicPr>
            <p:cNvPr id="141" name="Google Shape;141;p16"/>
            <p:cNvPicPr preferRelativeResize="0"/>
            <p:nvPr/>
          </p:nvPicPr>
          <p:blipFill rotWithShape="1">
            <a:blip r:embed="rId3">
              <a:alphaModFix/>
            </a:blip>
            <a:srcRect/>
            <a:stretch/>
          </p:blipFill>
          <p:spPr>
            <a:xfrm>
              <a:off x="11362923" y="0"/>
              <a:ext cx="648455" cy="1095019"/>
            </a:xfrm>
            <a:prstGeom prst="rect">
              <a:avLst/>
            </a:prstGeom>
            <a:noFill/>
            <a:ln>
              <a:noFill/>
            </a:ln>
          </p:spPr>
        </p:pic>
      </p:grpSp>
      <p:cxnSp>
        <p:nvCxnSpPr>
          <p:cNvPr id="9" name="Google Shape;115;p15">
            <a:extLst>
              <a:ext uri="{FF2B5EF4-FFF2-40B4-BE49-F238E27FC236}">
                <a16:creationId xmlns:a16="http://schemas.microsoft.com/office/drawing/2014/main" id="{5DF0C95F-E2EB-4031-8E1A-6E1344CC0258}"/>
              </a:ext>
            </a:extLst>
          </p:cNvPr>
          <p:cNvCxnSpPr>
            <a:cxnSpLocks/>
          </p:cNvCxnSpPr>
          <p:nvPr/>
        </p:nvCxnSpPr>
        <p:spPr>
          <a:xfrm flipV="1">
            <a:off x="293636" y="369325"/>
            <a:ext cx="11090128" cy="7"/>
          </a:xfrm>
          <a:prstGeom prst="straightConnector1">
            <a:avLst/>
          </a:prstGeom>
          <a:noFill/>
          <a:ln w="9525" cap="flat" cmpd="sng">
            <a:solidFill>
              <a:schemeClr val="accent6"/>
            </a:solidFill>
            <a:prstDash val="solid"/>
            <a:miter lim="800000"/>
            <a:headEnd type="none" w="sm" len="sm"/>
            <a:tailEnd type="none" w="sm" len="sm"/>
          </a:ln>
        </p:spPr>
      </p:cxnSp>
      <p:pic>
        <p:nvPicPr>
          <p:cNvPr id="10" name="Picture 9">
            <a:extLst>
              <a:ext uri="{FF2B5EF4-FFF2-40B4-BE49-F238E27FC236}">
                <a16:creationId xmlns:a16="http://schemas.microsoft.com/office/drawing/2014/main" id="{8E96AA5F-6AD9-4B5D-B9C1-9955EBE7C943}"/>
              </a:ext>
            </a:extLst>
          </p:cNvPr>
          <p:cNvPicPr/>
          <p:nvPr/>
        </p:nvPicPr>
        <p:blipFill>
          <a:blip r:embed="rId4">
            <a:extLst>
              <a:ext uri="{28A0092B-C50C-407E-A947-70E740481C1C}">
                <a14:useLocalDpi xmlns:a14="http://schemas.microsoft.com/office/drawing/2010/main" val="0"/>
              </a:ext>
            </a:extLst>
          </a:blip>
          <a:stretch>
            <a:fillRect/>
          </a:stretch>
        </p:blipFill>
        <p:spPr>
          <a:xfrm>
            <a:off x="2393800" y="1087686"/>
            <a:ext cx="6889800" cy="5762981"/>
          </a:xfrm>
          <a:prstGeom prst="rect">
            <a:avLst/>
          </a:prstGeom>
        </p:spPr>
      </p:pic>
    </p:spTree>
    <p:extLst>
      <p:ext uri="{BB962C8B-B14F-4D97-AF65-F5344CB8AC3E}">
        <p14:creationId xmlns:p14="http://schemas.microsoft.com/office/powerpoint/2010/main" val="17573843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6"/>
          <p:cNvSpPr txBox="1">
            <a:spLocks noGrp="1"/>
          </p:cNvSpPr>
          <p:nvPr>
            <p:ph type="ctrTitle"/>
          </p:nvPr>
        </p:nvSpPr>
        <p:spPr>
          <a:xfrm>
            <a:off x="293636" y="533582"/>
            <a:ext cx="11090128" cy="595200"/>
          </a:xfrm>
          <a:prstGeom prst="rect">
            <a:avLst/>
          </a:prstGeom>
        </p:spPr>
        <p:txBody>
          <a:bodyPr spcFirstLastPara="1" wrap="square" lIns="91425" tIns="45700" rIns="91425" bIns="45700" anchor="b" anchorCtr="0">
            <a:noAutofit/>
          </a:bodyPr>
          <a:lstStyle/>
          <a:p>
            <a:pPr marL="0" lvl="0" indent="0" algn="ctr" rtl="0">
              <a:spcBef>
                <a:spcPts val="0"/>
              </a:spcBef>
              <a:spcAft>
                <a:spcPts val="0"/>
              </a:spcAft>
              <a:buNone/>
            </a:pPr>
            <a:r>
              <a:rPr lang="ru-RU" sz="3200">
                <a:solidFill>
                  <a:srgbClr val="165271"/>
                </a:solidFill>
                <a:latin typeface="Consolas"/>
                <a:ea typeface="Consolas"/>
                <a:cs typeface="Consolas"/>
                <a:sym typeface="Consolas"/>
              </a:rPr>
              <a:t>Показване типа на ОС на сървър чрез nmap</a:t>
            </a:r>
            <a:endParaRPr sz="3200">
              <a:solidFill>
                <a:srgbClr val="165271"/>
              </a:solidFill>
              <a:latin typeface="Consolas"/>
              <a:ea typeface="Consolas"/>
              <a:cs typeface="Consolas"/>
              <a:sym typeface="Consolas"/>
            </a:endParaRPr>
          </a:p>
        </p:txBody>
      </p:sp>
      <p:grpSp>
        <p:nvGrpSpPr>
          <p:cNvPr id="137" name="Google Shape;137;p16"/>
          <p:cNvGrpSpPr/>
          <p:nvPr/>
        </p:nvGrpSpPr>
        <p:grpSpPr>
          <a:xfrm>
            <a:off x="39572" y="0"/>
            <a:ext cx="11971806" cy="1095019"/>
            <a:chOff x="39572" y="0"/>
            <a:chExt cx="11971806" cy="1095019"/>
          </a:xfrm>
        </p:grpSpPr>
        <p:sp>
          <p:nvSpPr>
            <p:cNvPr id="138" name="Google Shape;138;p16"/>
            <p:cNvSpPr txBox="1"/>
            <p:nvPr/>
          </p:nvSpPr>
          <p:spPr>
            <a:xfrm>
              <a:off x="39572" y="0"/>
              <a:ext cx="119718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b="1" i="0" u="none" strike="noStrike" cap="none">
                  <a:solidFill>
                    <a:srgbClr val="002060"/>
                  </a:solidFill>
                  <a:latin typeface="Consolas"/>
                  <a:ea typeface="Consolas"/>
                  <a:cs typeface="Consolas"/>
                  <a:sym typeface="Consolas"/>
                </a:rPr>
                <a:t>КИБЕРСИГУРНОСТ НА ИНТЕРНЕТ ИНФОРМАЦИОННИ СИСТЕМИ</a:t>
              </a:r>
            </a:p>
          </p:txBody>
        </p:sp>
        <p:sp>
          <p:nvSpPr>
            <p:cNvPr id="139" name="Google Shape;139;p16"/>
            <p:cNvSpPr txBox="1"/>
            <p:nvPr/>
          </p:nvSpPr>
          <p:spPr>
            <a:xfrm>
              <a:off x="9775499" y="369325"/>
              <a:ext cx="15873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bg-BG">
                  <a:solidFill>
                    <a:srgbClr val="165271"/>
                  </a:solidFill>
                  <a:latin typeface="Consolas"/>
                  <a:ea typeface="Consolas"/>
                  <a:cs typeface="Consolas"/>
                  <a:sym typeface="Consolas"/>
                </a:rPr>
                <a:t>Кирил Кискинов</a:t>
              </a:r>
              <a:endParaRPr sz="1050" b="0" i="0" u="none" strike="noStrike" cap="none">
                <a:solidFill>
                  <a:srgbClr val="A5A5A5"/>
                </a:solidFill>
                <a:latin typeface="Consolas"/>
                <a:ea typeface="Consolas"/>
                <a:cs typeface="Consolas"/>
                <a:sym typeface="Consolas"/>
              </a:endParaRPr>
            </a:p>
          </p:txBody>
        </p:sp>
        <p:pic>
          <p:nvPicPr>
            <p:cNvPr id="141" name="Google Shape;141;p16"/>
            <p:cNvPicPr preferRelativeResize="0"/>
            <p:nvPr/>
          </p:nvPicPr>
          <p:blipFill rotWithShape="1">
            <a:blip r:embed="rId3">
              <a:alphaModFix/>
            </a:blip>
            <a:srcRect/>
            <a:stretch/>
          </p:blipFill>
          <p:spPr>
            <a:xfrm>
              <a:off x="11362923" y="0"/>
              <a:ext cx="648455" cy="1095019"/>
            </a:xfrm>
            <a:prstGeom prst="rect">
              <a:avLst/>
            </a:prstGeom>
            <a:noFill/>
            <a:ln>
              <a:noFill/>
            </a:ln>
          </p:spPr>
        </p:pic>
      </p:grpSp>
      <p:cxnSp>
        <p:nvCxnSpPr>
          <p:cNvPr id="9" name="Google Shape;115;p15">
            <a:extLst>
              <a:ext uri="{FF2B5EF4-FFF2-40B4-BE49-F238E27FC236}">
                <a16:creationId xmlns:a16="http://schemas.microsoft.com/office/drawing/2014/main" id="{5DF0C95F-E2EB-4031-8E1A-6E1344CC0258}"/>
              </a:ext>
            </a:extLst>
          </p:cNvPr>
          <p:cNvCxnSpPr>
            <a:cxnSpLocks/>
          </p:cNvCxnSpPr>
          <p:nvPr/>
        </p:nvCxnSpPr>
        <p:spPr>
          <a:xfrm flipV="1">
            <a:off x="293636" y="369325"/>
            <a:ext cx="11090128" cy="7"/>
          </a:xfrm>
          <a:prstGeom prst="straightConnector1">
            <a:avLst/>
          </a:prstGeom>
          <a:noFill/>
          <a:ln w="9525" cap="flat" cmpd="sng">
            <a:solidFill>
              <a:schemeClr val="accent6"/>
            </a:solidFill>
            <a:prstDash val="solid"/>
            <a:miter lim="800000"/>
            <a:headEnd type="none" w="sm" len="sm"/>
            <a:tailEnd type="none" w="sm" len="sm"/>
          </a:ln>
        </p:spPr>
      </p:cxnSp>
      <p:pic>
        <p:nvPicPr>
          <p:cNvPr id="11" name="Picture 10">
            <a:extLst>
              <a:ext uri="{FF2B5EF4-FFF2-40B4-BE49-F238E27FC236}">
                <a16:creationId xmlns:a16="http://schemas.microsoft.com/office/drawing/2014/main" id="{AE662E7E-DA8F-4A0E-BCAC-BAEE09CD807E}"/>
              </a:ext>
            </a:extLst>
          </p:cNvPr>
          <p:cNvPicPr/>
          <p:nvPr/>
        </p:nvPicPr>
        <p:blipFill>
          <a:blip r:embed="rId4">
            <a:extLst>
              <a:ext uri="{28A0092B-C50C-407E-A947-70E740481C1C}">
                <a14:useLocalDpi xmlns:a14="http://schemas.microsoft.com/office/drawing/2010/main" val="0"/>
              </a:ext>
            </a:extLst>
          </a:blip>
          <a:stretch>
            <a:fillRect/>
          </a:stretch>
        </p:blipFill>
        <p:spPr>
          <a:xfrm>
            <a:off x="0" y="1470544"/>
            <a:ext cx="6246688" cy="2546651"/>
          </a:xfrm>
          <a:prstGeom prst="rect">
            <a:avLst/>
          </a:prstGeom>
        </p:spPr>
      </p:pic>
      <p:pic>
        <p:nvPicPr>
          <p:cNvPr id="12" name="Picture 11">
            <a:extLst>
              <a:ext uri="{FF2B5EF4-FFF2-40B4-BE49-F238E27FC236}">
                <a16:creationId xmlns:a16="http://schemas.microsoft.com/office/drawing/2014/main" id="{58B89E4E-21A9-4A63-8130-9B6E9B17946B}"/>
              </a:ext>
            </a:extLst>
          </p:cNvPr>
          <p:cNvPicPr/>
          <p:nvPr/>
        </p:nvPicPr>
        <p:blipFill>
          <a:blip r:embed="rId5">
            <a:extLst>
              <a:ext uri="{28A0092B-C50C-407E-A947-70E740481C1C}">
                <a14:useLocalDpi xmlns:a14="http://schemas.microsoft.com/office/drawing/2010/main" val="0"/>
              </a:ext>
            </a:extLst>
          </a:blip>
          <a:stretch>
            <a:fillRect/>
          </a:stretch>
        </p:blipFill>
        <p:spPr>
          <a:xfrm>
            <a:off x="6246688" y="1470545"/>
            <a:ext cx="5945312" cy="5382375"/>
          </a:xfrm>
          <a:prstGeom prst="rect">
            <a:avLst/>
          </a:prstGeom>
        </p:spPr>
      </p:pic>
      <p:sp>
        <p:nvSpPr>
          <p:cNvPr id="13" name="TextBox 12">
            <a:extLst>
              <a:ext uri="{FF2B5EF4-FFF2-40B4-BE49-F238E27FC236}">
                <a16:creationId xmlns:a16="http://schemas.microsoft.com/office/drawing/2014/main" id="{F253C28E-7DB5-4BE2-8A81-74155E82B92B}"/>
              </a:ext>
            </a:extLst>
          </p:cNvPr>
          <p:cNvSpPr txBox="1"/>
          <p:nvPr/>
        </p:nvSpPr>
        <p:spPr>
          <a:xfrm>
            <a:off x="150688" y="4544978"/>
            <a:ext cx="5945312" cy="400110"/>
          </a:xfrm>
          <a:prstGeom prst="rect">
            <a:avLst/>
          </a:prstGeom>
          <a:noFill/>
        </p:spPr>
        <p:txBody>
          <a:bodyPr wrap="square" rtlCol="0">
            <a:spAutoFit/>
          </a:bodyPr>
          <a:lstStyle/>
          <a:p>
            <a:r>
              <a:rPr lang="ru-RU" sz="2000">
                <a:latin typeface="Consolas" panose="020B0609020204030204" pitchFamily="49" charset="0"/>
              </a:rPr>
              <a:t>Откриване на OС на localhost </a:t>
            </a:r>
            <a:r>
              <a:rPr lang="bg-BG" sz="2000">
                <a:latin typeface="Consolas" panose="020B0609020204030204" pitchFamily="49" charset="0"/>
              </a:rPr>
              <a:t>(горе)</a:t>
            </a:r>
          </a:p>
        </p:txBody>
      </p:sp>
      <p:sp>
        <p:nvSpPr>
          <p:cNvPr id="14" name="TextBox 13">
            <a:extLst>
              <a:ext uri="{FF2B5EF4-FFF2-40B4-BE49-F238E27FC236}">
                <a16:creationId xmlns:a16="http://schemas.microsoft.com/office/drawing/2014/main" id="{4AA4507D-98F5-4411-8162-783739873639}"/>
              </a:ext>
            </a:extLst>
          </p:cNvPr>
          <p:cNvSpPr txBox="1"/>
          <p:nvPr/>
        </p:nvSpPr>
        <p:spPr>
          <a:xfrm>
            <a:off x="150688" y="5510744"/>
            <a:ext cx="5945312" cy="400110"/>
          </a:xfrm>
          <a:prstGeom prst="rect">
            <a:avLst/>
          </a:prstGeom>
          <a:noFill/>
        </p:spPr>
        <p:txBody>
          <a:bodyPr wrap="square" rtlCol="0">
            <a:spAutoFit/>
          </a:bodyPr>
          <a:lstStyle/>
          <a:p>
            <a:r>
              <a:rPr lang="ru-RU" sz="2000">
                <a:latin typeface="Consolas" panose="020B0609020204030204" pitchFamily="49" charset="0"/>
              </a:rPr>
              <a:t>Опит за откриване на OС на dir.bg </a:t>
            </a:r>
            <a:r>
              <a:rPr lang="bg-BG" sz="2000">
                <a:latin typeface="Consolas" panose="020B0609020204030204" pitchFamily="49" charset="0"/>
              </a:rPr>
              <a:t>(дясно)</a:t>
            </a:r>
          </a:p>
        </p:txBody>
      </p:sp>
    </p:spTree>
    <p:extLst>
      <p:ext uri="{BB962C8B-B14F-4D97-AF65-F5344CB8AC3E}">
        <p14:creationId xmlns:p14="http://schemas.microsoft.com/office/powerpoint/2010/main" val="303546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6"/>
          <p:cNvSpPr txBox="1">
            <a:spLocks noGrp="1"/>
          </p:cNvSpPr>
          <p:nvPr>
            <p:ph type="ctrTitle"/>
          </p:nvPr>
        </p:nvSpPr>
        <p:spPr>
          <a:xfrm>
            <a:off x="293636" y="554130"/>
            <a:ext cx="11090128" cy="571784"/>
          </a:xfrm>
          <a:prstGeom prst="rect">
            <a:avLst/>
          </a:prstGeom>
        </p:spPr>
        <p:txBody>
          <a:bodyPr spcFirstLastPara="1" wrap="square" lIns="91425" tIns="45700" rIns="91425" bIns="45700" anchor="b" anchorCtr="0">
            <a:noAutofit/>
          </a:bodyPr>
          <a:lstStyle/>
          <a:p>
            <a:pPr marL="0" lvl="0" indent="0" algn="ctr" rtl="0">
              <a:spcBef>
                <a:spcPts val="0"/>
              </a:spcBef>
              <a:spcAft>
                <a:spcPts val="0"/>
              </a:spcAft>
              <a:buNone/>
            </a:pPr>
            <a:r>
              <a:rPr lang="ru-RU" sz="3200">
                <a:solidFill>
                  <a:srgbClr val="165271"/>
                </a:solidFill>
                <a:latin typeface="Consolas"/>
                <a:ea typeface="Consolas"/>
                <a:cs typeface="Consolas"/>
                <a:sym typeface="Consolas"/>
              </a:rPr>
              <a:t>Симулирана атака чрез груба сила с </a:t>
            </a:r>
            <a:r>
              <a:rPr lang="en-US" sz="3200">
                <a:solidFill>
                  <a:srgbClr val="165271"/>
                </a:solidFill>
                <a:latin typeface="Consolas"/>
                <a:ea typeface="Consolas"/>
                <a:cs typeface="Consolas"/>
                <a:sym typeface="Consolas"/>
              </a:rPr>
              <a:t>hydra</a:t>
            </a:r>
            <a:endParaRPr sz="3200">
              <a:solidFill>
                <a:srgbClr val="165271"/>
              </a:solidFill>
              <a:latin typeface="Consolas"/>
              <a:ea typeface="Consolas"/>
              <a:cs typeface="Consolas"/>
              <a:sym typeface="Consolas"/>
            </a:endParaRPr>
          </a:p>
        </p:txBody>
      </p:sp>
      <p:grpSp>
        <p:nvGrpSpPr>
          <p:cNvPr id="137" name="Google Shape;137;p16"/>
          <p:cNvGrpSpPr/>
          <p:nvPr/>
        </p:nvGrpSpPr>
        <p:grpSpPr>
          <a:xfrm>
            <a:off x="39572" y="0"/>
            <a:ext cx="11971806" cy="1095019"/>
            <a:chOff x="39572" y="0"/>
            <a:chExt cx="11971806" cy="1095019"/>
          </a:xfrm>
        </p:grpSpPr>
        <p:sp>
          <p:nvSpPr>
            <p:cNvPr id="138" name="Google Shape;138;p16"/>
            <p:cNvSpPr txBox="1"/>
            <p:nvPr/>
          </p:nvSpPr>
          <p:spPr>
            <a:xfrm>
              <a:off x="39572" y="0"/>
              <a:ext cx="119718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b="1" i="0" u="none" strike="noStrike" cap="none">
                  <a:solidFill>
                    <a:srgbClr val="002060"/>
                  </a:solidFill>
                  <a:latin typeface="Consolas"/>
                  <a:ea typeface="Consolas"/>
                  <a:cs typeface="Consolas"/>
                  <a:sym typeface="Consolas"/>
                </a:rPr>
                <a:t>КИБЕРСИГУРНОСТ НА ИНТЕРНЕТ ИНФОРМАЦИОННИ СИСТЕМИ</a:t>
              </a:r>
            </a:p>
          </p:txBody>
        </p:sp>
        <p:sp>
          <p:nvSpPr>
            <p:cNvPr id="139" name="Google Shape;139;p16"/>
            <p:cNvSpPr txBox="1"/>
            <p:nvPr/>
          </p:nvSpPr>
          <p:spPr>
            <a:xfrm>
              <a:off x="9775499" y="369325"/>
              <a:ext cx="15873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bg-BG">
                  <a:solidFill>
                    <a:srgbClr val="165271"/>
                  </a:solidFill>
                  <a:latin typeface="Consolas"/>
                  <a:ea typeface="Consolas"/>
                  <a:cs typeface="Consolas"/>
                  <a:sym typeface="Consolas"/>
                </a:rPr>
                <a:t>Кирил Кискинов</a:t>
              </a:r>
              <a:endParaRPr sz="1050" b="0" i="0" u="none" strike="noStrike" cap="none">
                <a:solidFill>
                  <a:srgbClr val="A5A5A5"/>
                </a:solidFill>
                <a:latin typeface="Consolas"/>
                <a:ea typeface="Consolas"/>
                <a:cs typeface="Consolas"/>
                <a:sym typeface="Consolas"/>
              </a:endParaRPr>
            </a:p>
          </p:txBody>
        </p:sp>
        <p:pic>
          <p:nvPicPr>
            <p:cNvPr id="141" name="Google Shape;141;p16"/>
            <p:cNvPicPr preferRelativeResize="0"/>
            <p:nvPr/>
          </p:nvPicPr>
          <p:blipFill rotWithShape="1">
            <a:blip r:embed="rId3">
              <a:alphaModFix/>
            </a:blip>
            <a:srcRect/>
            <a:stretch/>
          </p:blipFill>
          <p:spPr>
            <a:xfrm>
              <a:off x="11362923" y="0"/>
              <a:ext cx="648455" cy="1095019"/>
            </a:xfrm>
            <a:prstGeom prst="rect">
              <a:avLst/>
            </a:prstGeom>
            <a:noFill/>
            <a:ln>
              <a:noFill/>
            </a:ln>
          </p:spPr>
        </p:pic>
      </p:grpSp>
      <p:cxnSp>
        <p:nvCxnSpPr>
          <p:cNvPr id="9" name="Google Shape;115;p15">
            <a:extLst>
              <a:ext uri="{FF2B5EF4-FFF2-40B4-BE49-F238E27FC236}">
                <a16:creationId xmlns:a16="http://schemas.microsoft.com/office/drawing/2014/main" id="{5DF0C95F-E2EB-4031-8E1A-6E1344CC0258}"/>
              </a:ext>
            </a:extLst>
          </p:cNvPr>
          <p:cNvCxnSpPr>
            <a:cxnSpLocks/>
          </p:cNvCxnSpPr>
          <p:nvPr/>
        </p:nvCxnSpPr>
        <p:spPr>
          <a:xfrm flipV="1">
            <a:off x="293636" y="369325"/>
            <a:ext cx="11090128" cy="7"/>
          </a:xfrm>
          <a:prstGeom prst="straightConnector1">
            <a:avLst/>
          </a:prstGeom>
          <a:noFill/>
          <a:ln w="9525" cap="flat" cmpd="sng">
            <a:solidFill>
              <a:schemeClr val="accent6"/>
            </a:solidFill>
            <a:prstDash val="solid"/>
            <a:miter lim="800000"/>
            <a:headEnd type="none" w="sm" len="sm"/>
            <a:tailEnd type="none" w="sm" len="sm"/>
          </a:ln>
        </p:spPr>
      </p:cxnSp>
      <p:pic>
        <p:nvPicPr>
          <p:cNvPr id="5" name="Picture 4">
            <a:extLst>
              <a:ext uri="{FF2B5EF4-FFF2-40B4-BE49-F238E27FC236}">
                <a16:creationId xmlns:a16="http://schemas.microsoft.com/office/drawing/2014/main" id="{4AFB00DF-D08F-49A6-B2C6-7EA8B5476310}"/>
              </a:ext>
            </a:extLst>
          </p:cNvPr>
          <p:cNvPicPr>
            <a:picLocks noChangeAspect="1"/>
          </p:cNvPicPr>
          <p:nvPr/>
        </p:nvPicPr>
        <p:blipFill>
          <a:blip r:embed="rId4"/>
          <a:stretch>
            <a:fillRect/>
          </a:stretch>
        </p:blipFill>
        <p:spPr>
          <a:xfrm>
            <a:off x="888244" y="1210840"/>
            <a:ext cx="10415512" cy="5647160"/>
          </a:xfrm>
          <a:prstGeom prst="rect">
            <a:avLst/>
          </a:prstGeom>
        </p:spPr>
      </p:pic>
    </p:spTree>
    <p:extLst>
      <p:ext uri="{BB962C8B-B14F-4D97-AF65-F5344CB8AC3E}">
        <p14:creationId xmlns:p14="http://schemas.microsoft.com/office/powerpoint/2010/main" val="35312218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6"/>
          <p:cNvSpPr txBox="1">
            <a:spLocks noGrp="1"/>
          </p:cNvSpPr>
          <p:nvPr>
            <p:ph type="ctrTitle"/>
          </p:nvPr>
        </p:nvSpPr>
        <p:spPr>
          <a:xfrm>
            <a:off x="293636" y="554130"/>
            <a:ext cx="11090128" cy="571784"/>
          </a:xfrm>
          <a:prstGeom prst="rect">
            <a:avLst/>
          </a:prstGeom>
        </p:spPr>
        <p:txBody>
          <a:bodyPr spcFirstLastPara="1" wrap="square" lIns="91425" tIns="45700" rIns="91425" bIns="45700" anchor="b" anchorCtr="0">
            <a:noAutofit/>
          </a:bodyPr>
          <a:lstStyle/>
          <a:p>
            <a:pPr marL="0" lvl="0" indent="0" algn="ctr" rtl="0">
              <a:spcBef>
                <a:spcPts val="0"/>
              </a:spcBef>
              <a:spcAft>
                <a:spcPts val="0"/>
              </a:spcAft>
              <a:buNone/>
            </a:pPr>
            <a:r>
              <a:rPr lang="ru-RU" sz="3200">
                <a:solidFill>
                  <a:srgbClr val="165271"/>
                </a:solidFill>
                <a:latin typeface="Consolas"/>
                <a:ea typeface="Consolas"/>
                <a:cs typeface="Consolas"/>
                <a:sym typeface="Consolas"/>
              </a:rPr>
              <a:t>Симулирана атака чрез груба сила с </a:t>
            </a:r>
            <a:r>
              <a:rPr lang="en-US" sz="3200">
                <a:solidFill>
                  <a:srgbClr val="165271"/>
                </a:solidFill>
                <a:latin typeface="Consolas"/>
                <a:ea typeface="Consolas"/>
                <a:cs typeface="Consolas"/>
                <a:sym typeface="Consolas"/>
              </a:rPr>
              <a:t>hydra</a:t>
            </a:r>
            <a:endParaRPr sz="3200">
              <a:solidFill>
                <a:srgbClr val="165271"/>
              </a:solidFill>
              <a:latin typeface="Consolas"/>
              <a:ea typeface="Consolas"/>
              <a:cs typeface="Consolas"/>
              <a:sym typeface="Consolas"/>
            </a:endParaRPr>
          </a:p>
        </p:txBody>
      </p:sp>
      <p:grpSp>
        <p:nvGrpSpPr>
          <p:cNvPr id="137" name="Google Shape;137;p16"/>
          <p:cNvGrpSpPr/>
          <p:nvPr/>
        </p:nvGrpSpPr>
        <p:grpSpPr>
          <a:xfrm>
            <a:off x="39572" y="0"/>
            <a:ext cx="11971806" cy="1095019"/>
            <a:chOff x="39572" y="0"/>
            <a:chExt cx="11971806" cy="1095019"/>
          </a:xfrm>
        </p:grpSpPr>
        <p:sp>
          <p:nvSpPr>
            <p:cNvPr id="138" name="Google Shape;138;p16"/>
            <p:cNvSpPr txBox="1"/>
            <p:nvPr/>
          </p:nvSpPr>
          <p:spPr>
            <a:xfrm>
              <a:off x="39572" y="0"/>
              <a:ext cx="119718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b="1" i="0" u="none" strike="noStrike" cap="none">
                  <a:solidFill>
                    <a:srgbClr val="002060"/>
                  </a:solidFill>
                  <a:latin typeface="Consolas"/>
                  <a:ea typeface="Consolas"/>
                  <a:cs typeface="Consolas"/>
                  <a:sym typeface="Consolas"/>
                </a:rPr>
                <a:t>КИБЕРСИГУРНОСТ НА ИНТЕРНЕТ ИНФОРМАЦИОННИ СИСТЕМИ</a:t>
              </a:r>
            </a:p>
          </p:txBody>
        </p:sp>
        <p:sp>
          <p:nvSpPr>
            <p:cNvPr id="139" name="Google Shape;139;p16"/>
            <p:cNvSpPr txBox="1"/>
            <p:nvPr/>
          </p:nvSpPr>
          <p:spPr>
            <a:xfrm>
              <a:off x="9775499" y="369325"/>
              <a:ext cx="15873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bg-BG">
                  <a:solidFill>
                    <a:srgbClr val="165271"/>
                  </a:solidFill>
                  <a:latin typeface="Consolas"/>
                  <a:ea typeface="Consolas"/>
                  <a:cs typeface="Consolas"/>
                  <a:sym typeface="Consolas"/>
                </a:rPr>
                <a:t>Кирил Кискинов</a:t>
              </a:r>
              <a:endParaRPr sz="1050" b="0" i="0" u="none" strike="noStrike" cap="none">
                <a:solidFill>
                  <a:srgbClr val="A5A5A5"/>
                </a:solidFill>
                <a:latin typeface="Consolas"/>
                <a:ea typeface="Consolas"/>
                <a:cs typeface="Consolas"/>
                <a:sym typeface="Consolas"/>
              </a:endParaRPr>
            </a:p>
          </p:txBody>
        </p:sp>
        <p:pic>
          <p:nvPicPr>
            <p:cNvPr id="141" name="Google Shape;141;p16"/>
            <p:cNvPicPr preferRelativeResize="0"/>
            <p:nvPr/>
          </p:nvPicPr>
          <p:blipFill rotWithShape="1">
            <a:blip r:embed="rId3">
              <a:alphaModFix/>
            </a:blip>
            <a:srcRect/>
            <a:stretch/>
          </p:blipFill>
          <p:spPr>
            <a:xfrm>
              <a:off x="11362923" y="0"/>
              <a:ext cx="648455" cy="1095019"/>
            </a:xfrm>
            <a:prstGeom prst="rect">
              <a:avLst/>
            </a:prstGeom>
            <a:noFill/>
            <a:ln>
              <a:noFill/>
            </a:ln>
          </p:spPr>
        </p:pic>
      </p:grpSp>
      <p:cxnSp>
        <p:nvCxnSpPr>
          <p:cNvPr id="9" name="Google Shape;115;p15">
            <a:extLst>
              <a:ext uri="{FF2B5EF4-FFF2-40B4-BE49-F238E27FC236}">
                <a16:creationId xmlns:a16="http://schemas.microsoft.com/office/drawing/2014/main" id="{5DF0C95F-E2EB-4031-8E1A-6E1344CC0258}"/>
              </a:ext>
            </a:extLst>
          </p:cNvPr>
          <p:cNvCxnSpPr>
            <a:cxnSpLocks/>
          </p:cNvCxnSpPr>
          <p:nvPr/>
        </p:nvCxnSpPr>
        <p:spPr>
          <a:xfrm flipV="1">
            <a:off x="293636" y="369325"/>
            <a:ext cx="11090128" cy="7"/>
          </a:xfrm>
          <a:prstGeom prst="straightConnector1">
            <a:avLst/>
          </a:prstGeom>
          <a:noFill/>
          <a:ln w="9525" cap="flat" cmpd="sng">
            <a:solidFill>
              <a:schemeClr val="accent6"/>
            </a:solidFill>
            <a:prstDash val="solid"/>
            <a:miter lim="800000"/>
            <a:headEnd type="none" w="sm" len="sm"/>
            <a:tailEnd type="none" w="sm" len="sm"/>
          </a:ln>
        </p:spPr>
      </p:cxnSp>
      <p:pic>
        <p:nvPicPr>
          <p:cNvPr id="3" name="Picture 2">
            <a:extLst>
              <a:ext uri="{FF2B5EF4-FFF2-40B4-BE49-F238E27FC236}">
                <a16:creationId xmlns:a16="http://schemas.microsoft.com/office/drawing/2014/main" id="{85AD85E8-E29C-4158-9570-04B31A3B5C33}"/>
              </a:ext>
            </a:extLst>
          </p:cNvPr>
          <p:cNvPicPr>
            <a:picLocks noChangeAspect="1"/>
          </p:cNvPicPr>
          <p:nvPr/>
        </p:nvPicPr>
        <p:blipFill>
          <a:blip r:embed="rId4"/>
          <a:stretch>
            <a:fillRect/>
          </a:stretch>
        </p:blipFill>
        <p:spPr>
          <a:xfrm>
            <a:off x="3062351" y="1210840"/>
            <a:ext cx="6067298" cy="5639532"/>
          </a:xfrm>
          <a:prstGeom prst="rect">
            <a:avLst/>
          </a:prstGeom>
        </p:spPr>
      </p:pic>
    </p:spTree>
    <p:extLst>
      <p:ext uri="{BB962C8B-B14F-4D97-AF65-F5344CB8AC3E}">
        <p14:creationId xmlns:p14="http://schemas.microsoft.com/office/powerpoint/2010/main" val="24945802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6"/>
          <p:cNvSpPr txBox="1">
            <a:spLocks noGrp="1"/>
          </p:cNvSpPr>
          <p:nvPr>
            <p:ph type="ctrTitle"/>
          </p:nvPr>
        </p:nvSpPr>
        <p:spPr>
          <a:xfrm>
            <a:off x="293636" y="554130"/>
            <a:ext cx="11090128" cy="571784"/>
          </a:xfrm>
          <a:prstGeom prst="rect">
            <a:avLst/>
          </a:prstGeom>
        </p:spPr>
        <p:txBody>
          <a:bodyPr spcFirstLastPara="1" wrap="square" lIns="91425" tIns="45700" rIns="91425" bIns="45700" anchor="b" anchorCtr="0">
            <a:noAutofit/>
          </a:bodyPr>
          <a:lstStyle/>
          <a:p>
            <a:pPr marL="0" lvl="0" indent="0" algn="ctr" rtl="0">
              <a:spcBef>
                <a:spcPts val="0"/>
              </a:spcBef>
              <a:spcAft>
                <a:spcPts val="0"/>
              </a:spcAft>
              <a:buNone/>
            </a:pPr>
            <a:r>
              <a:rPr lang="ru-RU" sz="3200">
                <a:solidFill>
                  <a:srgbClr val="165271"/>
                </a:solidFill>
                <a:latin typeface="Consolas"/>
                <a:ea typeface="Consolas"/>
                <a:cs typeface="Consolas"/>
                <a:sym typeface="Consolas"/>
              </a:rPr>
              <a:t>Симулирана атака чрез груба сила с </a:t>
            </a:r>
            <a:r>
              <a:rPr lang="en-US" sz="3200">
                <a:solidFill>
                  <a:srgbClr val="165271"/>
                </a:solidFill>
                <a:latin typeface="Consolas"/>
                <a:ea typeface="Consolas"/>
                <a:cs typeface="Consolas"/>
                <a:sym typeface="Consolas"/>
              </a:rPr>
              <a:t>hydra</a:t>
            </a:r>
            <a:endParaRPr sz="3200">
              <a:solidFill>
                <a:srgbClr val="165271"/>
              </a:solidFill>
              <a:latin typeface="Consolas"/>
              <a:ea typeface="Consolas"/>
              <a:cs typeface="Consolas"/>
              <a:sym typeface="Consolas"/>
            </a:endParaRPr>
          </a:p>
        </p:txBody>
      </p:sp>
      <p:grpSp>
        <p:nvGrpSpPr>
          <p:cNvPr id="137" name="Google Shape;137;p16"/>
          <p:cNvGrpSpPr/>
          <p:nvPr/>
        </p:nvGrpSpPr>
        <p:grpSpPr>
          <a:xfrm>
            <a:off x="39572" y="0"/>
            <a:ext cx="11971806" cy="1095019"/>
            <a:chOff x="39572" y="0"/>
            <a:chExt cx="11971806" cy="1095019"/>
          </a:xfrm>
        </p:grpSpPr>
        <p:sp>
          <p:nvSpPr>
            <p:cNvPr id="138" name="Google Shape;138;p16"/>
            <p:cNvSpPr txBox="1"/>
            <p:nvPr/>
          </p:nvSpPr>
          <p:spPr>
            <a:xfrm>
              <a:off x="39572" y="0"/>
              <a:ext cx="119718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b="1" i="0" u="none" strike="noStrike" cap="none">
                  <a:solidFill>
                    <a:srgbClr val="002060"/>
                  </a:solidFill>
                  <a:latin typeface="Consolas"/>
                  <a:ea typeface="Consolas"/>
                  <a:cs typeface="Consolas"/>
                  <a:sym typeface="Consolas"/>
                </a:rPr>
                <a:t>КИБЕРСИГУРНОСТ НА ИНТЕРНЕТ ИНФОРМАЦИОННИ СИСТЕМИ</a:t>
              </a:r>
            </a:p>
          </p:txBody>
        </p:sp>
        <p:sp>
          <p:nvSpPr>
            <p:cNvPr id="139" name="Google Shape;139;p16"/>
            <p:cNvSpPr txBox="1"/>
            <p:nvPr/>
          </p:nvSpPr>
          <p:spPr>
            <a:xfrm>
              <a:off x="9775499" y="369325"/>
              <a:ext cx="15873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bg-BG">
                  <a:solidFill>
                    <a:srgbClr val="165271"/>
                  </a:solidFill>
                  <a:latin typeface="Consolas"/>
                  <a:ea typeface="Consolas"/>
                  <a:cs typeface="Consolas"/>
                  <a:sym typeface="Consolas"/>
                </a:rPr>
                <a:t>Кирил Кискинов</a:t>
              </a:r>
              <a:endParaRPr sz="1050" b="0" i="0" u="none" strike="noStrike" cap="none">
                <a:solidFill>
                  <a:srgbClr val="A5A5A5"/>
                </a:solidFill>
                <a:latin typeface="Consolas"/>
                <a:ea typeface="Consolas"/>
                <a:cs typeface="Consolas"/>
                <a:sym typeface="Consolas"/>
              </a:endParaRPr>
            </a:p>
          </p:txBody>
        </p:sp>
        <p:pic>
          <p:nvPicPr>
            <p:cNvPr id="141" name="Google Shape;141;p16"/>
            <p:cNvPicPr preferRelativeResize="0"/>
            <p:nvPr/>
          </p:nvPicPr>
          <p:blipFill rotWithShape="1">
            <a:blip r:embed="rId3">
              <a:alphaModFix/>
            </a:blip>
            <a:srcRect/>
            <a:stretch/>
          </p:blipFill>
          <p:spPr>
            <a:xfrm>
              <a:off x="11362923" y="0"/>
              <a:ext cx="648455" cy="1095019"/>
            </a:xfrm>
            <a:prstGeom prst="rect">
              <a:avLst/>
            </a:prstGeom>
            <a:noFill/>
            <a:ln>
              <a:noFill/>
            </a:ln>
          </p:spPr>
        </p:pic>
      </p:grpSp>
      <p:cxnSp>
        <p:nvCxnSpPr>
          <p:cNvPr id="9" name="Google Shape;115;p15">
            <a:extLst>
              <a:ext uri="{FF2B5EF4-FFF2-40B4-BE49-F238E27FC236}">
                <a16:creationId xmlns:a16="http://schemas.microsoft.com/office/drawing/2014/main" id="{5DF0C95F-E2EB-4031-8E1A-6E1344CC0258}"/>
              </a:ext>
            </a:extLst>
          </p:cNvPr>
          <p:cNvCxnSpPr>
            <a:cxnSpLocks/>
          </p:cNvCxnSpPr>
          <p:nvPr/>
        </p:nvCxnSpPr>
        <p:spPr>
          <a:xfrm flipV="1">
            <a:off x="293636" y="369325"/>
            <a:ext cx="11090128" cy="7"/>
          </a:xfrm>
          <a:prstGeom prst="straightConnector1">
            <a:avLst/>
          </a:prstGeom>
          <a:noFill/>
          <a:ln w="9525" cap="flat" cmpd="sng">
            <a:solidFill>
              <a:schemeClr val="accent6"/>
            </a:solidFill>
            <a:prstDash val="solid"/>
            <a:miter lim="800000"/>
            <a:headEnd type="none" w="sm" len="sm"/>
            <a:tailEnd type="none" w="sm" len="sm"/>
          </a:ln>
        </p:spPr>
      </p:cxnSp>
      <p:pic>
        <p:nvPicPr>
          <p:cNvPr id="4" name="Picture 3">
            <a:extLst>
              <a:ext uri="{FF2B5EF4-FFF2-40B4-BE49-F238E27FC236}">
                <a16:creationId xmlns:a16="http://schemas.microsoft.com/office/drawing/2014/main" id="{A07F7CE2-80BC-4AE4-8AF6-6FF7C3BB7BF8}"/>
              </a:ext>
            </a:extLst>
          </p:cNvPr>
          <p:cNvPicPr>
            <a:picLocks noChangeAspect="1"/>
          </p:cNvPicPr>
          <p:nvPr/>
        </p:nvPicPr>
        <p:blipFill>
          <a:blip r:embed="rId4"/>
          <a:stretch>
            <a:fillRect/>
          </a:stretch>
        </p:blipFill>
        <p:spPr>
          <a:xfrm>
            <a:off x="2991823" y="1252236"/>
            <a:ext cx="6067298" cy="5605764"/>
          </a:xfrm>
          <a:prstGeom prst="rect">
            <a:avLst/>
          </a:prstGeom>
        </p:spPr>
      </p:pic>
    </p:spTree>
    <p:extLst>
      <p:ext uri="{BB962C8B-B14F-4D97-AF65-F5344CB8AC3E}">
        <p14:creationId xmlns:p14="http://schemas.microsoft.com/office/powerpoint/2010/main" val="3941587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6"/>
          <p:cNvSpPr txBox="1">
            <a:spLocks noGrp="1"/>
          </p:cNvSpPr>
          <p:nvPr>
            <p:ph type="ctrTitle"/>
          </p:nvPr>
        </p:nvSpPr>
        <p:spPr>
          <a:xfrm>
            <a:off x="293636" y="554130"/>
            <a:ext cx="11090128" cy="571784"/>
          </a:xfrm>
          <a:prstGeom prst="rect">
            <a:avLst/>
          </a:prstGeom>
        </p:spPr>
        <p:txBody>
          <a:bodyPr spcFirstLastPara="1" wrap="square" lIns="91425" tIns="45700" rIns="91425" bIns="45700" anchor="b" anchorCtr="0">
            <a:noAutofit/>
          </a:bodyPr>
          <a:lstStyle/>
          <a:p>
            <a:pPr marL="0" lvl="0" indent="0" algn="ctr" rtl="0">
              <a:spcBef>
                <a:spcPts val="0"/>
              </a:spcBef>
              <a:spcAft>
                <a:spcPts val="0"/>
              </a:spcAft>
              <a:buNone/>
            </a:pPr>
            <a:r>
              <a:rPr lang="ru-RU" sz="3200">
                <a:solidFill>
                  <a:srgbClr val="165271"/>
                </a:solidFill>
                <a:latin typeface="Consolas"/>
                <a:ea typeface="Consolas"/>
                <a:cs typeface="Consolas"/>
                <a:sym typeface="Consolas"/>
              </a:rPr>
              <a:t>Симулирана атака чрез груба сила с </a:t>
            </a:r>
            <a:r>
              <a:rPr lang="en-US" sz="3200">
                <a:solidFill>
                  <a:srgbClr val="165271"/>
                </a:solidFill>
                <a:latin typeface="Consolas"/>
                <a:ea typeface="Consolas"/>
                <a:cs typeface="Consolas"/>
                <a:sym typeface="Consolas"/>
              </a:rPr>
              <a:t>hydra</a:t>
            </a:r>
            <a:endParaRPr sz="3200">
              <a:solidFill>
                <a:srgbClr val="165271"/>
              </a:solidFill>
              <a:latin typeface="Consolas"/>
              <a:ea typeface="Consolas"/>
              <a:cs typeface="Consolas"/>
              <a:sym typeface="Consolas"/>
            </a:endParaRPr>
          </a:p>
        </p:txBody>
      </p:sp>
      <p:grpSp>
        <p:nvGrpSpPr>
          <p:cNvPr id="137" name="Google Shape;137;p16"/>
          <p:cNvGrpSpPr/>
          <p:nvPr/>
        </p:nvGrpSpPr>
        <p:grpSpPr>
          <a:xfrm>
            <a:off x="39572" y="0"/>
            <a:ext cx="11971806" cy="1095019"/>
            <a:chOff x="39572" y="0"/>
            <a:chExt cx="11971806" cy="1095019"/>
          </a:xfrm>
        </p:grpSpPr>
        <p:sp>
          <p:nvSpPr>
            <p:cNvPr id="138" name="Google Shape;138;p16"/>
            <p:cNvSpPr txBox="1"/>
            <p:nvPr/>
          </p:nvSpPr>
          <p:spPr>
            <a:xfrm>
              <a:off x="39572" y="0"/>
              <a:ext cx="119718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b="1" i="0" u="none" strike="noStrike" cap="none">
                  <a:solidFill>
                    <a:srgbClr val="002060"/>
                  </a:solidFill>
                  <a:latin typeface="Consolas"/>
                  <a:ea typeface="Consolas"/>
                  <a:cs typeface="Consolas"/>
                  <a:sym typeface="Consolas"/>
                </a:rPr>
                <a:t>КИБЕРСИГУРНОСТ НА ИНТЕРНЕТ ИНФОРМАЦИОННИ СИСТЕМИ</a:t>
              </a:r>
            </a:p>
          </p:txBody>
        </p:sp>
        <p:sp>
          <p:nvSpPr>
            <p:cNvPr id="139" name="Google Shape;139;p16"/>
            <p:cNvSpPr txBox="1"/>
            <p:nvPr/>
          </p:nvSpPr>
          <p:spPr>
            <a:xfrm>
              <a:off x="9775499" y="369325"/>
              <a:ext cx="15873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bg-BG">
                  <a:solidFill>
                    <a:srgbClr val="165271"/>
                  </a:solidFill>
                  <a:latin typeface="Consolas"/>
                  <a:ea typeface="Consolas"/>
                  <a:cs typeface="Consolas"/>
                  <a:sym typeface="Consolas"/>
                </a:rPr>
                <a:t>Кирил Кискинов</a:t>
              </a:r>
              <a:endParaRPr sz="1050" b="0" i="0" u="none" strike="noStrike" cap="none">
                <a:solidFill>
                  <a:srgbClr val="A5A5A5"/>
                </a:solidFill>
                <a:latin typeface="Consolas"/>
                <a:ea typeface="Consolas"/>
                <a:cs typeface="Consolas"/>
                <a:sym typeface="Consolas"/>
              </a:endParaRPr>
            </a:p>
          </p:txBody>
        </p:sp>
        <p:pic>
          <p:nvPicPr>
            <p:cNvPr id="141" name="Google Shape;141;p16"/>
            <p:cNvPicPr preferRelativeResize="0"/>
            <p:nvPr/>
          </p:nvPicPr>
          <p:blipFill rotWithShape="1">
            <a:blip r:embed="rId3">
              <a:alphaModFix/>
            </a:blip>
            <a:srcRect/>
            <a:stretch/>
          </p:blipFill>
          <p:spPr>
            <a:xfrm>
              <a:off x="11362923" y="0"/>
              <a:ext cx="648455" cy="1095019"/>
            </a:xfrm>
            <a:prstGeom prst="rect">
              <a:avLst/>
            </a:prstGeom>
            <a:noFill/>
            <a:ln>
              <a:noFill/>
            </a:ln>
          </p:spPr>
        </p:pic>
      </p:grpSp>
      <p:cxnSp>
        <p:nvCxnSpPr>
          <p:cNvPr id="9" name="Google Shape;115;p15">
            <a:extLst>
              <a:ext uri="{FF2B5EF4-FFF2-40B4-BE49-F238E27FC236}">
                <a16:creationId xmlns:a16="http://schemas.microsoft.com/office/drawing/2014/main" id="{5DF0C95F-E2EB-4031-8E1A-6E1344CC0258}"/>
              </a:ext>
            </a:extLst>
          </p:cNvPr>
          <p:cNvCxnSpPr>
            <a:cxnSpLocks/>
          </p:cNvCxnSpPr>
          <p:nvPr/>
        </p:nvCxnSpPr>
        <p:spPr>
          <a:xfrm flipV="1">
            <a:off x="293636" y="369325"/>
            <a:ext cx="11090128" cy="7"/>
          </a:xfrm>
          <a:prstGeom prst="straightConnector1">
            <a:avLst/>
          </a:prstGeom>
          <a:noFill/>
          <a:ln w="9525" cap="flat" cmpd="sng">
            <a:solidFill>
              <a:schemeClr val="accent6"/>
            </a:solidFill>
            <a:prstDash val="solid"/>
            <a:miter lim="800000"/>
            <a:headEnd type="none" w="sm" len="sm"/>
            <a:tailEnd type="none" w="sm" len="sm"/>
          </a:ln>
        </p:spPr>
      </p:cxnSp>
      <p:pic>
        <p:nvPicPr>
          <p:cNvPr id="6" name="Picture 5">
            <a:extLst>
              <a:ext uri="{FF2B5EF4-FFF2-40B4-BE49-F238E27FC236}">
                <a16:creationId xmlns:a16="http://schemas.microsoft.com/office/drawing/2014/main" id="{0F9C4930-0ABD-4279-937E-DF167831B21C}"/>
              </a:ext>
            </a:extLst>
          </p:cNvPr>
          <p:cNvPicPr>
            <a:picLocks noChangeAspect="1"/>
          </p:cNvPicPr>
          <p:nvPr/>
        </p:nvPicPr>
        <p:blipFill>
          <a:blip r:embed="rId4"/>
          <a:stretch>
            <a:fillRect/>
          </a:stretch>
        </p:blipFill>
        <p:spPr>
          <a:xfrm>
            <a:off x="888244" y="1216264"/>
            <a:ext cx="10415512" cy="5641736"/>
          </a:xfrm>
          <a:prstGeom prst="rect">
            <a:avLst/>
          </a:prstGeom>
        </p:spPr>
      </p:pic>
    </p:spTree>
    <p:extLst>
      <p:ext uri="{BB962C8B-B14F-4D97-AF65-F5344CB8AC3E}">
        <p14:creationId xmlns:p14="http://schemas.microsoft.com/office/powerpoint/2010/main" val="5038691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6"/>
          <p:cNvSpPr txBox="1">
            <a:spLocks noGrp="1"/>
          </p:cNvSpPr>
          <p:nvPr>
            <p:ph type="ctrTitle"/>
          </p:nvPr>
        </p:nvSpPr>
        <p:spPr>
          <a:xfrm>
            <a:off x="293636" y="554130"/>
            <a:ext cx="11090128" cy="571784"/>
          </a:xfrm>
          <a:prstGeom prst="rect">
            <a:avLst/>
          </a:prstGeom>
        </p:spPr>
        <p:txBody>
          <a:bodyPr spcFirstLastPara="1" wrap="square" lIns="91425" tIns="45700" rIns="91425" bIns="45700" anchor="b" anchorCtr="0">
            <a:noAutofit/>
          </a:bodyPr>
          <a:lstStyle/>
          <a:p>
            <a:pPr marL="0" lvl="0" indent="0" algn="ctr" rtl="0">
              <a:spcBef>
                <a:spcPts val="0"/>
              </a:spcBef>
              <a:spcAft>
                <a:spcPts val="0"/>
              </a:spcAft>
              <a:buNone/>
            </a:pPr>
            <a:r>
              <a:rPr lang="ru-RU" sz="3200">
                <a:solidFill>
                  <a:srgbClr val="165271"/>
                </a:solidFill>
                <a:latin typeface="Consolas"/>
                <a:ea typeface="Consolas"/>
                <a:cs typeface="Consolas"/>
                <a:sym typeface="Consolas"/>
              </a:rPr>
              <a:t>Симулирана атака чрез груба сила с </a:t>
            </a:r>
            <a:r>
              <a:rPr lang="en-US" sz="3200">
                <a:solidFill>
                  <a:srgbClr val="165271"/>
                </a:solidFill>
                <a:latin typeface="Consolas"/>
                <a:ea typeface="Consolas"/>
                <a:cs typeface="Consolas"/>
                <a:sym typeface="Consolas"/>
              </a:rPr>
              <a:t>hydra</a:t>
            </a:r>
            <a:endParaRPr sz="3200">
              <a:solidFill>
                <a:srgbClr val="165271"/>
              </a:solidFill>
              <a:latin typeface="Consolas"/>
              <a:ea typeface="Consolas"/>
              <a:cs typeface="Consolas"/>
              <a:sym typeface="Consolas"/>
            </a:endParaRPr>
          </a:p>
        </p:txBody>
      </p:sp>
      <p:grpSp>
        <p:nvGrpSpPr>
          <p:cNvPr id="137" name="Google Shape;137;p16"/>
          <p:cNvGrpSpPr/>
          <p:nvPr/>
        </p:nvGrpSpPr>
        <p:grpSpPr>
          <a:xfrm>
            <a:off x="39572" y="0"/>
            <a:ext cx="11971806" cy="1095019"/>
            <a:chOff x="39572" y="0"/>
            <a:chExt cx="11971806" cy="1095019"/>
          </a:xfrm>
        </p:grpSpPr>
        <p:sp>
          <p:nvSpPr>
            <p:cNvPr id="138" name="Google Shape;138;p16"/>
            <p:cNvSpPr txBox="1"/>
            <p:nvPr/>
          </p:nvSpPr>
          <p:spPr>
            <a:xfrm>
              <a:off x="39572" y="0"/>
              <a:ext cx="119718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b="1" i="0" u="none" strike="noStrike" cap="none">
                  <a:solidFill>
                    <a:srgbClr val="002060"/>
                  </a:solidFill>
                  <a:latin typeface="Consolas"/>
                  <a:ea typeface="Consolas"/>
                  <a:cs typeface="Consolas"/>
                  <a:sym typeface="Consolas"/>
                </a:rPr>
                <a:t>КИБЕРСИГУРНОСТ НА ИНТЕРНЕТ ИНФОРМАЦИОННИ СИСТЕМИ</a:t>
              </a:r>
            </a:p>
          </p:txBody>
        </p:sp>
        <p:sp>
          <p:nvSpPr>
            <p:cNvPr id="139" name="Google Shape;139;p16"/>
            <p:cNvSpPr txBox="1"/>
            <p:nvPr/>
          </p:nvSpPr>
          <p:spPr>
            <a:xfrm>
              <a:off x="9775499" y="369325"/>
              <a:ext cx="15873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bg-BG">
                  <a:solidFill>
                    <a:srgbClr val="165271"/>
                  </a:solidFill>
                  <a:latin typeface="Consolas"/>
                  <a:ea typeface="Consolas"/>
                  <a:cs typeface="Consolas"/>
                  <a:sym typeface="Consolas"/>
                </a:rPr>
                <a:t>Кирил Кискинов</a:t>
              </a:r>
              <a:endParaRPr sz="1050" b="0" i="0" u="none" strike="noStrike" cap="none">
                <a:solidFill>
                  <a:srgbClr val="A5A5A5"/>
                </a:solidFill>
                <a:latin typeface="Consolas"/>
                <a:ea typeface="Consolas"/>
                <a:cs typeface="Consolas"/>
                <a:sym typeface="Consolas"/>
              </a:endParaRPr>
            </a:p>
          </p:txBody>
        </p:sp>
        <p:pic>
          <p:nvPicPr>
            <p:cNvPr id="141" name="Google Shape;141;p16"/>
            <p:cNvPicPr preferRelativeResize="0"/>
            <p:nvPr/>
          </p:nvPicPr>
          <p:blipFill rotWithShape="1">
            <a:blip r:embed="rId3">
              <a:alphaModFix/>
            </a:blip>
            <a:srcRect/>
            <a:stretch/>
          </p:blipFill>
          <p:spPr>
            <a:xfrm>
              <a:off x="11362923" y="0"/>
              <a:ext cx="648455" cy="1095019"/>
            </a:xfrm>
            <a:prstGeom prst="rect">
              <a:avLst/>
            </a:prstGeom>
            <a:noFill/>
            <a:ln>
              <a:noFill/>
            </a:ln>
          </p:spPr>
        </p:pic>
      </p:grpSp>
      <p:cxnSp>
        <p:nvCxnSpPr>
          <p:cNvPr id="9" name="Google Shape;115;p15">
            <a:extLst>
              <a:ext uri="{FF2B5EF4-FFF2-40B4-BE49-F238E27FC236}">
                <a16:creationId xmlns:a16="http://schemas.microsoft.com/office/drawing/2014/main" id="{5DF0C95F-E2EB-4031-8E1A-6E1344CC0258}"/>
              </a:ext>
            </a:extLst>
          </p:cNvPr>
          <p:cNvCxnSpPr>
            <a:cxnSpLocks/>
          </p:cNvCxnSpPr>
          <p:nvPr/>
        </p:nvCxnSpPr>
        <p:spPr>
          <a:xfrm flipV="1">
            <a:off x="293636" y="369325"/>
            <a:ext cx="11090128" cy="7"/>
          </a:xfrm>
          <a:prstGeom prst="straightConnector1">
            <a:avLst/>
          </a:prstGeom>
          <a:noFill/>
          <a:ln w="9525" cap="flat" cmpd="sng">
            <a:solidFill>
              <a:schemeClr val="accent6"/>
            </a:solidFill>
            <a:prstDash val="solid"/>
            <a:miter lim="800000"/>
            <a:headEnd type="none" w="sm" len="sm"/>
            <a:tailEnd type="none" w="sm" len="sm"/>
          </a:ln>
        </p:spPr>
      </p:cxnSp>
      <p:pic>
        <p:nvPicPr>
          <p:cNvPr id="2" name="Picture 1">
            <a:extLst>
              <a:ext uri="{FF2B5EF4-FFF2-40B4-BE49-F238E27FC236}">
                <a16:creationId xmlns:a16="http://schemas.microsoft.com/office/drawing/2014/main" id="{E2C89EF8-A0A3-4E84-90AC-ED2F6B6A2651}"/>
              </a:ext>
            </a:extLst>
          </p:cNvPr>
          <p:cNvPicPr>
            <a:picLocks noChangeAspect="1"/>
          </p:cNvPicPr>
          <p:nvPr/>
        </p:nvPicPr>
        <p:blipFill>
          <a:blip r:embed="rId4"/>
          <a:stretch>
            <a:fillRect/>
          </a:stretch>
        </p:blipFill>
        <p:spPr>
          <a:xfrm>
            <a:off x="2327364" y="1394688"/>
            <a:ext cx="7537272" cy="5463312"/>
          </a:xfrm>
          <a:prstGeom prst="rect">
            <a:avLst/>
          </a:prstGeom>
        </p:spPr>
      </p:pic>
    </p:spTree>
    <p:extLst>
      <p:ext uri="{BB962C8B-B14F-4D97-AF65-F5344CB8AC3E}">
        <p14:creationId xmlns:p14="http://schemas.microsoft.com/office/powerpoint/2010/main" val="10303982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6"/>
          <p:cNvSpPr txBox="1">
            <a:spLocks noGrp="1"/>
          </p:cNvSpPr>
          <p:nvPr>
            <p:ph type="ctrTitle"/>
          </p:nvPr>
        </p:nvSpPr>
        <p:spPr>
          <a:xfrm>
            <a:off x="293636" y="554130"/>
            <a:ext cx="11090128" cy="571784"/>
          </a:xfrm>
          <a:prstGeom prst="rect">
            <a:avLst/>
          </a:prstGeom>
        </p:spPr>
        <p:txBody>
          <a:bodyPr spcFirstLastPara="1" wrap="square" lIns="91425" tIns="45700" rIns="91425" bIns="45700" anchor="b" anchorCtr="0">
            <a:noAutofit/>
          </a:bodyPr>
          <a:lstStyle/>
          <a:p>
            <a:pPr marL="0" lvl="0" indent="0" algn="ctr" rtl="0">
              <a:spcBef>
                <a:spcPts val="0"/>
              </a:spcBef>
              <a:spcAft>
                <a:spcPts val="0"/>
              </a:spcAft>
              <a:buNone/>
            </a:pPr>
            <a:r>
              <a:rPr lang="ru-RU" sz="3200">
                <a:solidFill>
                  <a:srgbClr val="165271"/>
                </a:solidFill>
                <a:latin typeface="Consolas"/>
                <a:ea typeface="Consolas"/>
                <a:cs typeface="Consolas"/>
                <a:sym typeface="Consolas"/>
              </a:rPr>
              <a:t>Симулирана атака чрез груба сила с </a:t>
            </a:r>
            <a:r>
              <a:rPr lang="en-US" sz="3200">
                <a:solidFill>
                  <a:srgbClr val="165271"/>
                </a:solidFill>
                <a:latin typeface="Consolas"/>
                <a:ea typeface="Consolas"/>
                <a:cs typeface="Consolas"/>
                <a:sym typeface="Consolas"/>
              </a:rPr>
              <a:t>hydra</a:t>
            </a:r>
            <a:endParaRPr sz="3200">
              <a:solidFill>
                <a:srgbClr val="165271"/>
              </a:solidFill>
              <a:latin typeface="Consolas"/>
              <a:ea typeface="Consolas"/>
              <a:cs typeface="Consolas"/>
              <a:sym typeface="Consolas"/>
            </a:endParaRPr>
          </a:p>
        </p:txBody>
      </p:sp>
      <p:grpSp>
        <p:nvGrpSpPr>
          <p:cNvPr id="137" name="Google Shape;137;p16"/>
          <p:cNvGrpSpPr/>
          <p:nvPr/>
        </p:nvGrpSpPr>
        <p:grpSpPr>
          <a:xfrm>
            <a:off x="39572" y="0"/>
            <a:ext cx="11971806" cy="1095019"/>
            <a:chOff x="39572" y="0"/>
            <a:chExt cx="11971806" cy="1095019"/>
          </a:xfrm>
        </p:grpSpPr>
        <p:sp>
          <p:nvSpPr>
            <p:cNvPr id="138" name="Google Shape;138;p16"/>
            <p:cNvSpPr txBox="1"/>
            <p:nvPr/>
          </p:nvSpPr>
          <p:spPr>
            <a:xfrm>
              <a:off x="39572" y="0"/>
              <a:ext cx="119718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b="1" i="0" u="none" strike="noStrike" cap="none">
                  <a:solidFill>
                    <a:srgbClr val="002060"/>
                  </a:solidFill>
                  <a:latin typeface="Consolas"/>
                  <a:ea typeface="Consolas"/>
                  <a:cs typeface="Consolas"/>
                  <a:sym typeface="Consolas"/>
                </a:rPr>
                <a:t>КИБЕРСИГУРНОСТ НА ИНТЕРНЕТ ИНФОРМАЦИОННИ СИСТЕМИ</a:t>
              </a:r>
            </a:p>
          </p:txBody>
        </p:sp>
        <p:sp>
          <p:nvSpPr>
            <p:cNvPr id="139" name="Google Shape;139;p16"/>
            <p:cNvSpPr txBox="1"/>
            <p:nvPr/>
          </p:nvSpPr>
          <p:spPr>
            <a:xfrm>
              <a:off x="9775499" y="369325"/>
              <a:ext cx="15873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bg-BG">
                  <a:solidFill>
                    <a:srgbClr val="165271"/>
                  </a:solidFill>
                  <a:latin typeface="Consolas"/>
                  <a:ea typeface="Consolas"/>
                  <a:cs typeface="Consolas"/>
                  <a:sym typeface="Consolas"/>
                </a:rPr>
                <a:t>Кирил Кискинов</a:t>
              </a:r>
              <a:endParaRPr sz="1050" b="0" i="0" u="none" strike="noStrike" cap="none">
                <a:solidFill>
                  <a:srgbClr val="A5A5A5"/>
                </a:solidFill>
                <a:latin typeface="Consolas"/>
                <a:ea typeface="Consolas"/>
                <a:cs typeface="Consolas"/>
                <a:sym typeface="Consolas"/>
              </a:endParaRPr>
            </a:p>
          </p:txBody>
        </p:sp>
        <p:pic>
          <p:nvPicPr>
            <p:cNvPr id="141" name="Google Shape;141;p16"/>
            <p:cNvPicPr preferRelativeResize="0"/>
            <p:nvPr/>
          </p:nvPicPr>
          <p:blipFill rotWithShape="1">
            <a:blip r:embed="rId3">
              <a:alphaModFix/>
            </a:blip>
            <a:srcRect/>
            <a:stretch/>
          </p:blipFill>
          <p:spPr>
            <a:xfrm>
              <a:off x="11362923" y="0"/>
              <a:ext cx="648455" cy="1095019"/>
            </a:xfrm>
            <a:prstGeom prst="rect">
              <a:avLst/>
            </a:prstGeom>
            <a:noFill/>
            <a:ln>
              <a:noFill/>
            </a:ln>
          </p:spPr>
        </p:pic>
      </p:grpSp>
      <p:cxnSp>
        <p:nvCxnSpPr>
          <p:cNvPr id="9" name="Google Shape;115;p15">
            <a:extLst>
              <a:ext uri="{FF2B5EF4-FFF2-40B4-BE49-F238E27FC236}">
                <a16:creationId xmlns:a16="http://schemas.microsoft.com/office/drawing/2014/main" id="{5DF0C95F-E2EB-4031-8E1A-6E1344CC0258}"/>
              </a:ext>
            </a:extLst>
          </p:cNvPr>
          <p:cNvCxnSpPr>
            <a:cxnSpLocks/>
          </p:cNvCxnSpPr>
          <p:nvPr/>
        </p:nvCxnSpPr>
        <p:spPr>
          <a:xfrm flipV="1">
            <a:off x="293636" y="369325"/>
            <a:ext cx="11090128" cy="7"/>
          </a:xfrm>
          <a:prstGeom prst="straightConnector1">
            <a:avLst/>
          </a:prstGeom>
          <a:noFill/>
          <a:ln w="9525" cap="flat" cmpd="sng">
            <a:solidFill>
              <a:schemeClr val="accent6"/>
            </a:solidFill>
            <a:prstDash val="solid"/>
            <a:miter lim="800000"/>
            <a:headEnd type="none" w="sm" len="sm"/>
            <a:tailEnd type="none" w="sm" len="sm"/>
          </a:ln>
        </p:spPr>
      </p:cxnSp>
      <p:pic>
        <p:nvPicPr>
          <p:cNvPr id="4" name="Picture 3">
            <a:extLst>
              <a:ext uri="{FF2B5EF4-FFF2-40B4-BE49-F238E27FC236}">
                <a16:creationId xmlns:a16="http://schemas.microsoft.com/office/drawing/2014/main" id="{0F71107E-D961-486D-BF9A-4436E3B79962}"/>
              </a:ext>
            </a:extLst>
          </p:cNvPr>
          <p:cNvPicPr>
            <a:picLocks noChangeAspect="1"/>
          </p:cNvPicPr>
          <p:nvPr/>
        </p:nvPicPr>
        <p:blipFill>
          <a:blip r:embed="rId4"/>
          <a:stretch>
            <a:fillRect/>
          </a:stretch>
        </p:blipFill>
        <p:spPr>
          <a:xfrm>
            <a:off x="2064998" y="1399869"/>
            <a:ext cx="7920947" cy="5458131"/>
          </a:xfrm>
          <a:prstGeom prst="rect">
            <a:avLst/>
          </a:prstGeom>
        </p:spPr>
      </p:pic>
    </p:spTree>
    <p:extLst>
      <p:ext uri="{BB962C8B-B14F-4D97-AF65-F5344CB8AC3E}">
        <p14:creationId xmlns:p14="http://schemas.microsoft.com/office/powerpoint/2010/main" val="9401980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6"/>
          <p:cNvSpPr txBox="1">
            <a:spLocks noGrp="1"/>
          </p:cNvSpPr>
          <p:nvPr>
            <p:ph type="ctrTitle"/>
          </p:nvPr>
        </p:nvSpPr>
        <p:spPr>
          <a:xfrm>
            <a:off x="293636" y="554130"/>
            <a:ext cx="11090128" cy="571784"/>
          </a:xfrm>
          <a:prstGeom prst="rect">
            <a:avLst/>
          </a:prstGeom>
        </p:spPr>
        <p:txBody>
          <a:bodyPr spcFirstLastPara="1" wrap="square" lIns="91425" tIns="45700" rIns="91425" bIns="45700" anchor="b" anchorCtr="0">
            <a:noAutofit/>
          </a:bodyPr>
          <a:lstStyle/>
          <a:p>
            <a:pPr marL="0" lvl="0" indent="0" algn="ctr" rtl="0">
              <a:spcBef>
                <a:spcPts val="0"/>
              </a:spcBef>
              <a:spcAft>
                <a:spcPts val="0"/>
              </a:spcAft>
              <a:buNone/>
            </a:pPr>
            <a:r>
              <a:rPr lang="ru-RU" sz="3200">
                <a:solidFill>
                  <a:srgbClr val="165271"/>
                </a:solidFill>
                <a:latin typeface="Consolas"/>
                <a:ea typeface="Consolas"/>
                <a:cs typeface="Consolas"/>
                <a:sym typeface="Consolas"/>
              </a:rPr>
              <a:t>Симулирана атака чрез груба сила с </a:t>
            </a:r>
            <a:r>
              <a:rPr lang="en-US" sz="3200">
                <a:solidFill>
                  <a:srgbClr val="165271"/>
                </a:solidFill>
                <a:latin typeface="Consolas"/>
                <a:ea typeface="Consolas"/>
                <a:cs typeface="Consolas"/>
                <a:sym typeface="Consolas"/>
              </a:rPr>
              <a:t>hydra</a:t>
            </a:r>
            <a:endParaRPr sz="3200">
              <a:solidFill>
                <a:srgbClr val="165271"/>
              </a:solidFill>
              <a:latin typeface="Consolas"/>
              <a:ea typeface="Consolas"/>
              <a:cs typeface="Consolas"/>
              <a:sym typeface="Consolas"/>
            </a:endParaRPr>
          </a:p>
        </p:txBody>
      </p:sp>
      <p:grpSp>
        <p:nvGrpSpPr>
          <p:cNvPr id="137" name="Google Shape;137;p16"/>
          <p:cNvGrpSpPr/>
          <p:nvPr/>
        </p:nvGrpSpPr>
        <p:grpSpPr>
          <a:xfrm>
            <a:off x="39572" y="0"/>
            <a:ext cx="11971806" cy="1095019"/>
            <a:chOff x="39572" y="0"/>
            <a:chExt cx="11971806" cy="1095019"/>
          </a:xfrm>
        </p:grpSpPr>
        <p:sp>
          <p:nvSpPr>
            <p:cNvPr id="138" name="Google Shape;138;p16"/>
            <p:cNvSpPr txBox="1"/>
            <p:nvPr/>
          </p:nvSpPr>
          <p:spPr>
            <a:xfrm>
              <a:off x="39572" y="0"/>
              <a:ext cx="119718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b="1" i="0" u="none" strike="noStrike" cap="none">
                  <a:solidFill>
                    <a:srgbClr val="002060"/>
                  </a:solidFill>
                  <a:latin typeface="Consolas"/>
                  <a:ea typeface="Consolas"/>
                  <a:cs typeface="Consolas"/>
                  <a:sym typeface="Consolas"/>
                </a:rPr>
                <a:t>КИБЕРСИГУРНОСТ НА ИНТЕРНЕТ ИНФОРМАЦИОННИ СИСТЕМИ</a:t>
              </a:r>
            </a:p>
          </p:txBody>
        </p:sp>
        <p:sp>
          <p:nvSpPr>
            <p:cNvPr id="139" name="Google Shape;139;p16"/>
            <p:cNvSpPr txBox="1"/>
            <p:nvPr/>
          </p:nvSpPr>
          <p:spPr>
            <a:xfrm>
              <a:off x="9775499" y="369325"/>
              <a:ext cx="15873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bg-BG">
                  <a:solidFill>
                    <a:srgbClr val="165271"/>
                  </a:solidFill>
                  <a:latin typeface="Consolas"/>
                  <a:ea typeface="Consolas"/>
                  <a:cs typeface="Consolas"/>
                  <a:sym typeface="Consolas"/>
                </a:rPr>
                <a:t>Кирил Кискинов</a:t>
              </a:r>
              <a:endParaRPr sz="1050" b="0" i="0" u="none" strike="noStrike" cap="none">
                <a:solidFill>
                  <a:srgbClr val="A5A5A5"/>
                </a:solidFill>
                <a:latin typeface="Consolas"/>
                <a:ea typeface="Consolas"/>
                <a:cs typeface="Consolas"/>
                <a:sym typeface="Consolas"/>
              </a:endParaRPr>
            </a:p>
          </p:txBody>
        </p:sp>
        <p:pic>
          <p:nvPicPr>
            <p:cNvPr id="141" name="Google Shape;141;p16"/>
            <p:cNvPicPr preferRelativeResize="0"/>
            <p:nvPr/>
          </p:nvPicPr>
          <p:blipFill rotWithShape="1">
            <a:blip r:embed="rId3">
              <a:alphaModFix/>
            </a:blip>
            <a:srcRect/>
            <a:stretch/>
          </p:blipFill>
          <p:spPr>
            <a:xfrm>
              <a:off x="11362923" y="0"/>
              <a:ext cx="648455" cy="1095019"/>
            </a:xfrm>
            <a:prstGeom prst="rect">
              <a:avLst/>
            </a:prstGeom>
            <a:noFill/>
            <a:ln>
              <a:noFill/>
            </a:ln>
          </p:spPr>
        </p:pic>
      </p:grpSp>
      <p:cxnSp>
        <p:nvCxnSpPr>
          <p:cNvPr id="9" name="Google Shape;115;p15">
            <a:extLst>
              <a:ext uri="{FF2B5EF4-FFF2-40B4-BE49-F238E27FC236}">
                <a16:creationId xmlns:a16="http://schemas.microsoft.com/office/drawing/2014/main" id="{5DF0C95F-E2EB-4031-8E1A-6E1344CC0258}"/>
              </a:ext>
            </a:extLst>
          </p:cNvPr>
          <p:cNvCxnSpPr>
            <a:cxnSpLocks/>
          </p:cNvCxnSpPr>
          <p:nvPr/>
        </p:nvCxnSpPr>
        <p:spPr>
          <a:xfrm flipV="1">
            <a:off x="293636" y="369325"/>
            <a:ext cx="11090128" cy="7"/>
          </a:xfrm>
          <a:prstGeom prst="straightConnector1">
            <a:avLst/>
          </a:prstGeom>
          <a:noFill/>
          <a:ln w="9525" cap="flat" cmpd="sng">
            <a:solidFill>
              <a:schemeClr val="accent6"/>
            </a:solidFill>
            <a:prstDash val="solid"/>
            <a:miter lim="800000"/>
            <a:headEnd type="none" w="sm" len="sm"/>
            <a:tailEnd type="none" w="sm" len="sm"/>
          </a:ln>
        </p:spPr>
      </p:cxnSp>
      <p:pic>
        <p:nvPicPr>
          <p:cNvPr id="2" name="Picture 1">
            <a:extLst>
              <a:ext uri="{FF2B5EF4-FFF2-40B4-BE49-F238E27FC236}">
                <a16:creationId xmlns:a16="http://schemas.microsoft.com/office/drawing/2014/main" id="{81F7657D-EB0B-4F99-B8C3-79A6D9250E6A}"/>
              </a:ext>
            </a:extLst>
          </p:cNvPr>
          <p:cNvPicPr>
            <a:picLocks noChangeAspect="1"/>
          </p:cNvPicPr>
          <p:nvPr/>
        </p:nvPicPr>
        <p:blipFill>
          <a:blip r:embed="rId4"/>
          <a:stretch>
            <a:fillRect/>
          </a:stretch>
        </p:blipFill>
        <p:spPr>
          <a:xfrm>
            <a:off x="0" y="1237287"/>
            <a:ext cx="8677275" cy="2266950"/>
          </a:xfrm>
          <a:prstGeom prst="rect">
            <a:avLst/>
          </a:prstGeom>
        </p:spPr>
      </p:pic>
      <p:pic>
        <p:nvPicPr>
          <p:cNvPr id="3" name="Picture 2">
            <a:extLst>
              <a:ext uri="{FF2B5EF4-FFF2-40B4-BE49-F238E27FC236}">
                <a16:creationId xmlns:a16="http://schemas.microsoft.com/office/drawing/2014/main" id="{642D52EC-C597-4A55-A3FB-D3FD95825FAB}"/>
              </a:ext>
            </a:extLst>
          </p:cNvPr>
          <p:cNvPicPr>
            <a:picLocks noChangeAspect="1"/>
          </p:cNvPicPr>
          <p:nvPr/>
        </p:nvPicPr>
        <p:blipFill>
          <a:blip r:embed="rId5"/>
          <a:stretch>
            <a:fillRect/>
          </a:stretch>
        </p:blipFill>
        <p:spPr>
          <a:xfrm>
            <a:off x="4530902" y="1237288"/>
            <a:ext cx="7661097" cy="5620712"/>
          </a:xfrm>
          <a:prstGeom prst="rect">
            <a:avLst/>
          </a:prstGeom>
        </p:spPr>
      </p:pic>
      <p:sp>
        <p:nvSpPr>
          <p:cNvPr id="11" name="TextBox 10">
            <a:extLst>
              <a:ext uri="{FF2B5EF4-FFF2-40B4-BE49-F238E27FC236}">
                <a16:creationId xmlns:a16="http://schemas.microsoft.com/office/drawing/2014/main" id="{1945106F-78E1-4451-9580-FE57D7812E3D}"/>
              </a:ext>
            </a:extLst>
          </p:cNvPr>
          <p:cNvSpPr txBox="1"/>
          <p:nvPr/>
        </p:nvSpPr>
        <p:spPr>
          <a:xfrm>
            <a:off x="304801" y="3784691"/>
            <a:ext cx="3856233" cy="1015663"/>
          </a:xfrm>
          <a:prstGeom prst="rect">
            <a:avLst/>
          </a:prstGeom>
          <a:noFill/>
        </p:spPr>
        <p:txBody>
          <a:bodyPr wrap="square" rtlCol="0">
            <a:spAutoFit/>
          </a:bodyPr>
          <a:lstStyle/>
          <a:p>
            <a:r>
              <a:rPr lang="ru-RU" sz="2000">
                <a:latin typeface="Consolas" panose="020B0609020204030204" pitchFamily="49" charset="0"/>
              </a:rPr>
              <a:t>Създаване на нов потребител в системата Metasploitable </a:t>
            </a:r>
            <a:r>
              <a:rPr lang="bg-BG" sz="2000">
                <a:latin typeface="Consolas" panose="020B0609020204030204" pitchFamily="49" charset="0"/>
              </a:rPr>
              <a:t>(горе)</a:t>
            </a:r>
          </a:p>
        </p:txBody>
      </p:sp>
      <p:sp>
        <p:nvSpPr>
          <p:cNvPr id="12" name="TextBox 11">
            <a:extLst>
              <a:ext uri="{FF2B5EF4-FFF2-40B4-BE49-F238E27FC236}">
                <a16:creationId xmlns:a16="http://schemas.microsoft.com/office/drawing/2014/main" id="{CAAD12C7-89CE-4B1D-ADFF-78517C529CCD}"/>
              </a:ext>
            </a:extLst>
          </p:cNvPr>
          <p:cNvSpPr txBox="1"/>
          <p:nvPr/>
        </p:nvSpPr>
        <p:spPr>
          <a:xfrm>
            <a:off x="293636" y="5185466"/>
            <a:ext cx="3856233" cy="1015663"/>
          </a:xfrm>
          <a:prstGeom prst="rect">
            <a:avLst/>
          </a:prstGeom>
          <a:noFill/>
        </p:spPr>
        <p:txBody>
          <a:bodyPr wrap="square" rtlCol="0">
            <a:spAutoFit/>
          </a:bodyPr>
          <a:lstStyle/>
          <a:p>
            <a:r>
              <a:rPr lang="ru-RU" sz="2000">
                <a:latin typeface="Consolas" panose="020B0609020204030204" pitchFamily="49" charset="0"/>
              </a:rPr>
              <a:t>Влизане като потребител kali и разузнаване на файловата система </a:t>
            </a:r>
            <a:r>
              <a:rPr lang="bg-BG" sz="2000">
                <a:latin typeface="Consolas" panose="020B0609020204030204" pitchFamily="49" charset="0"/>
              </a:rPr>
              <a:t>(дясно)</a:t>
            </a:r>
          </a:p>
        </p:txBody>
      </p:sp>
    </p:spTree>
    <p:extLst>
      <p:ext uri="{BB962C8B-B14F-4D97-AF65-F5344CB8AC3E}">
        <p14:creationId xmlns:p14="http://schemas.microsoft.com/office/powerpoint/2010/main" val="41831593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6"/>
          <p:cNvSpPr txBox="1">
            <a:spLocks noGrp="1"/>
          </p:cNvSpPr>
          <p:nvPr>
            <p:ph type="ctrTitle"/>
          </p:nvPr>
        </p:nvSpPr>
        <p:spPr>
          <a:xfrm>
            <a:off x="293636" y="554130"/>
            <a:ext cx="11090128" cy="571784"/>
          </a:xfrm>
          <a:prstGeom prst="rect">
            <a:avLst/>
          </a:prstGeom>
        </p:spPr>
        <p:txBody>
          <a:bodyPr spcFirstLastPara="1" wrap="square" lIns="91425" tIns="45700" rIns="91425" bIns="45700" anchor="b" anchorCtr="0">
            <a:noAutofit/>
          </a:bodyPr>
          <a:lstStyle/>
          <a:p>
            <a:pPr marL="0" lvl="0" indent="0" algn="ctr" rtl="0">
              <a:spcBef>
                <a:spcPts val="0"/>
              </a:spcBef>
              <a:spcAft>
                <a:spcPts val="0"/>
              </a:spcAft>
              <a:buNone/>
            </a:pPr>
            <a:r>
              <a:rPr lang="ru-RU" sz="3200">
                <a:solidFill>
                  <a:srgbClr val="165271"/>
                </a:solidFill>
                <a:latin typeface="Consolas"/>
                <a:ea typeface="Consolas"/>
                <a:cs typeface="Consolas"/>
                <a:sym typeface="Consolas"/>
              </a:rPr>
              <a:t>Симулирана атака чрез груба сила с </a:t>
            </a:r>
            <a:r>
              <a:rPr lang="en-US" sz="3200">
                <a:solidFill>
                  <a:srgbClr val="165271"/>
                </a:solidFill>
                <a:latin typeface="Consolas"/>
                <a:ea typeface="Consolas"/>
                <a:cs typeface="Consolas"/>
                <a:sym typeface="Consolas"/>
              </a:rPr>
              <a:t>hydra</a:t>
            </a:r>
            <a:endParaRPr sz="3200">
              <a:solidFill>
                <a:srgbClr val="165271"/>
              </a:solidFill>
              <a:latin typeface="Consolas"/>
              <a:ea typeface="Consolas"/>
              <a:cs typeface="Consolas"/>
              <a:sym typeface="Consolas"/>
            </a:endParaRPr>
          </a:p>
        </p:txBody>
      </p:sp>
      <p:grpSp>
        <p:nvGrpSpPr>
          <p:cNvPr id="137" name="Google Shape;137;p16"/>
          <p:cNvGrpSpPr/>
          <p:nvPr/>
        </p:nvGrpSpPr>
        <p:grpSpPr>
          <a:xfrm>
            <a:off x="39572" y="0"/>
            <a:ext cx="11971806" cy="1095019"/>
            <a:chOff x="39572" y="0"/>
            <a:chExt cx="11971806" cy="1095019"/>
          </a:xfrm>
        </p:grpSpPr>
        <p:sp>
          <p:nvSpPr>
            <p:cNvPr id="138" name="Google Shape;138;p16"/>
            <p:cNvSpPr txBox="1"/>
            <p:nvPr/>
          </p:nvSpPr>
          <p:spPr>
            <a:xfrm>
              <a:off x="39572" y="0"/>
              <a:ext cx="119718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b="1" i="0" u="none" strike="noStrike" cap="none">
                  <a:solidFill>
                    <a:srgbClr val="002060"/>
                  </a:solidFill>
                  <a:latin typeface="Consolas"/>
                  <a:ea typeface="Consolas"/>
                  <a:cs typeface="Consolas"/>
                  <a:sym typeface="Consolas"/>
                </a:rPr>
                <a:t>КИБЕРСИГУРНОСТ НА ИНТЕРНЕТ ИНФОРМАЦИОННИ СИСТЕМИ</a:t>
              </a:r>
            </a:p>
          </p:txBody>
        </p:sp>
        <p:sp>
          <p:nvSpPr>
            <p:cNvPr id="139" name="Google Shape;139;p16"/>
            <p:cNvSpPr txBox="1"/>
            <p:nvPr/>
          </p:nvSpPr>
          <p:spPr>
            <a:xfrm>
              <a:off x="9775499" y="369325"/>
              <a:ext cx="15873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bg-BG">
                  <a:solidFill>
                    <a:srgbClr val="165271"/>
                  </a:solidFill>
                  <a:latin typeface="Consolas"/>
                  <a:ea typeface="Consolas"/>
                  <a:cs typeface="Consolas"/>
                  <a:sym typeface="Consolas"/>
                </a:rPr>
                <a:t>Кирил Кискинов</a:t>
              </a:r>
              <a:endParaRPr sz="1050" b="0" i="0" u="none" strike="noStrike" cap="none">
                <a:solidFill>
                  <a:srgbClr val="A5A5A5"/>
                </a:solidFill>
                <a:latin typeface="Consolas"/>
                <a:ea typeface="Consolas"/>
                <a:cs typeface="Consolas"/>
                <a:sym typeface="Consolas"/>
              </a:endParaRPr>
            </a:p>
          </p:txBody>
        </p:sp>
        <p:pic>
          <p:nvPicPr>
            <p:cNvPr id="141" name="Google Shape;141;p16"/>
            <p:cNvPicPr preferRelativeResize="0"/>
            <p:nvPr/>
          </p:nvPicPr>
          <p:blipFill rotWithShape="1">
            <a:blip r:embed="rId3">
              <a:alphaModFix/>
            </a:blip>
            <a:srcRect/>
            <a:stretch/>
          </p:blipFill>
          <p:spPr>
            <a:xfrm>
              <a:off x="11362923" y="0"/>
              <a:ext cx="648455" cy="1095019"/>
            </a:xfrm>
            <a:prstGeom prst="rect">
              <a:avLst/>
            </a:prstGeom>
            <a:noFill/>
            <a:ln>
              <a:noFill/>
            </a:ln>
          </p:spPr>
        </p:pic>
      </p:grpSp>
      <p:cxnSp>
        <p:nvCxnSpPr>
          <p:cNvPr id="9" name="Google Shape;115;p15">
            <a:extLst>
              <a:ext uri="{FF2B5EF4-FFF2-40B4-BE49-F238E27FC236}">
                <a16:creationId xmlns:a16="http://schemas.microsoft.com/office/drawing/2014/main" id="{5DF0C95F-E2EB-4031-8E1A-6E1344CC0258}"/>
              </a:ext>
            </a:extLst>
          </p:cNvPr>
          <p:cNvCxnSpPr>
            <a:cxnSpLocks/>
          </p:cNvCxnSpPr>
          <p:nvPr/>
        </p:nvCxnSpPr>
        <p:spPr>
          <a:xfrm flipV="1">
            <a:off x="293636" y="369325"/>
            <a:ext cx="11090128" cy="7"/>
          </a:xfrm>
          <a:prstGeom prst="straightConnector1">
            <a:avLst/>
          </a:prstGeom>
          <a:noFill/>
          <a:ln w="9525" cap="flat" cmpd="sng">
            <a:solidFill>
              <a:schemeClr val="accent6"/>
            </a:solidFill>
            <a:prstDash val="solid"/>
            <a:miter lim="800000"/>
            <a:headEnd type="none" w="sm" len="sm"/>
            <a:tailEnd type="none" w="sm" len="sm"/>
          </a:ln>
        </p:spPr>
      </p:cxnSp>
      <p:pic>
        <p:nvPicPr>
          <p:cNvPr id="2" name="Picture 1">
            <a:extLst>
              <a:ext uri="{FF2B5EF4-FFF2-40B4-BE49-F238E27FC236}">
                <a16:creationId xmlns:a16="http://schemas.microsoft.com/office/drawing/2014/main" id="{D3DC71F4-F8E7-4692-9546-3A721C2DAF93}"/>
              </a:ext>
            </a:extLst>
          </p:cNvPr>
          <p:cNvPicPr>
            <a:picLocks noChangeAspect="1"/>
          </p:cNvPicPr>
          <p:nvPr/>
        </p:nvPicPr>
        <p:blipFill>
          <a:blip r:embed="rId4"/>
          <a:stretch>
            <a:fillRect/>
          </a:stretch>
        </p:blipFill>
        <p:spPr>
          <a:xfrm>
            <a:off x="0" y="1395941"/>
            <a:ext cx="12192000" cy="5009996"/>
          </a:xfrm>
          <a:prstGeom prst="rect">
            <a:avLst/>
          </a:prstGeom>
        </p:spPr>
      </p:pic>
    </p:spTree>
    <p:extLst>
      <p:ext uri="{BB962C8B-B14F-4D97-AF65-F5344CB8AC3E}">
        <p14:creationId xmlns:p14="http://schemas.microsoft.com/office/powerpoint/2010/main" val="14710004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6"/>
          <p:cNvSpPr txBox="1">
            <a:spLocks noGrp="1"/>
          </p:cNvSpPr>
          <p:nvPr>
            <p:ph type="ctrTitle"/>
          </p:nvPr>
        </p:nvSpPr>
        <p:spPr>
          <a:xfrm>
            <a:off x="293636" y="554130"/>
            <a:ext cx="11090128" cy="571784"/>
          </a:xfrm>
          <a:prstGeom prst="rect">
            <a:avLst/>
          </a:prstGeom>
        </p:spPr>
        <p:txBody>
          <a:bodyPr spcFirstLastPara="1" wrap="square" lIns="91425" tIns="45700" rIns="91425" bIns="45700" anchor="b" anchorCtr="0">
            <a:noAutofit/>
          </a:bodyPr>
          <a:lstStyle/>
          <a:p>
            <a:pPr marL="0" lvl="0" indent="0" algn="ctr" rtl="0">
              <a:spcBef>
                <a:spcPts val="0"/>
              </a:spcBef>
              <a:spcAft>
                <a:spcPts val="0"/>
              </a:spcAft>
              <a:buNone/>
            </a:pPr>
            <a:r>
              <a:rPr lang="ru-RU" sz="3200">
                <a:solidFill>
                  <a:srgbClr val="165271"/>
                </a:solidFill>
                <a:latin typeface="Consolas"/>
                <a:ea typeface="Consolas"/>
                <a:cs typeface="Consolas"/>
                <a:sym typeface="Consolas"/>
              </a:rPr>
              <a:t>Симулирана атака чрез груба сила с </a:t>
            </a:r>
            <a:r>
              <a:rPr lang="en-US" sz="3200">
                <a:solidFill>
                  <a:srgbClr val="165271"/>
                </a:solidFill>
                <a:latin typeface="Consolas"/>
                <a:ea typeface="Consolas"/>
                <a:cs typeface="Consolas"/>
                <a:sym typeface="Consolas"/>
              </a:rPr>
              <a:t>hydra</a:t>
            </a:r>
            <a:endParaRPr sz="3200">
              <a:solidFill>
                <a:srgbClr val="165271"/>
              </a:solidFill>
              <a:latin typeface="Consolas"/>
              <a:ea typeface="Consolas"/>
              <a:cs typeface="Consolas"/>
              <a:sym typeface="Consolas"/>
            </a:endParaRPr>
          </a:p>
        </p:txBody>
      </p:sp>
      <p:grpSp>
        <p:nvGrpSpPr>
          <p:cNvPr id="137" name="Google Shape;137;p16"/>
          <p:cNvGrpSpPr/>
          <p:nvPr/>
        </p:nvGrpSpPr>
        <p:grpSpPr>
          <a:xfrm>
            <a:off x="39572" y="0"/>
            <a:ext cx="11971806" cy="1095019"/>
            <a:chOff x="39572" y="0"/>
            <a:chExt cx="11971806" cy="1095019"/>
          </a:xfrm>
        </p:grpSpPr>
        <p:sp>
          <p:nvSpPr>
            <p:cNvPr id="138" name="Google Shape;138;p16"/>
            <p:cNvSpPr txBox="1"/>
            <p:nvPr/>
          </p:nvSpPr>
          <p:spPr>
            <a:xfrm>
              <a:off x="39572" y="0"/>
              <a:ext cx="119718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b="1" i="0" u="none" strike="noStrike" cap="none">
                  <a:solidFill>
                    <a:srgbClr val="002060"/>
                  </a:solidFill>
                  <a:latin typeface="Consolas"/>
                  <a:ea typeface="Consolas"/>
                  <a:cs typeface="Consolas"/>
                  <a:sym typeface="Consolas"/>
                </a:rPr>
                <a:t>КИБЕРСИГУРНОСТ НА ИНТЕРНЕТ ИНФОРМАЦИОННИ СИСТЕМИ</a:t>
              </a:r>
            </a:p>
          </p:txBody>
        </p:sp>
        <p:sp>
          <p:nvSpPr>
            <p:cNvPr id="139" name="Google Shape;139;p16"/>
            <p:cNvSpPr txBox="1"/>
            <p:nvPr/>
          </p:nvSpPr>
          <p:spPr>
            <a:xfrm>
              <a:off x="9775499" y="369325"/>
              <a:ext cx="15873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bg-BG">
                  <a:solidFill>
                    <a:srgbClr val="165271"/>
                  </a:solidFill>
                  <a:latin typeface="Consolas"/>
                  <a:ea typeface="Consolas"/>
                  <a:cs typeface="Consolas"/>
                  <a:sym typeface="Consolas"/>
                </a:rPr>
                <a:t>Кирил Кискинов</a:t>
              </a:r>
              <a:endParaRPr sz="1050" b="0" i="0" u="none" strike="noStrike" cap="none">
                <a:solidFill>
                  <a:srgbClr val="A5A5A5"/>
                </a:solidFill>
                <a:latin typeface="Consolas"/>
                <a:ea typeface="Consolas"/>
                <a:cs typeface="Consolas"/>
                <a:sym typeface="Consolas"/>
              </a:endParaRPr>
            </a:p>
          </p:txBody>
        </p:sp>
        <p:pic>
          <p:nvPicPr>
            <p:cNvPr id="141" name="Google Shape;141;p16"/>
            <p:cNvPicPr preferRelativeResize="0"/>
            <p:nvPr/>
          </p:nvPicPr>
          <p:blipFill rotWithShape="1">
            <a:blip r:embed="rId3">
              <a:alphaModFix/>
            </a:blip>
            <a:srcRect/>
            <a:stretch/>
          </p:blipFill>
          <p:spPr>
            <a:xfrm>
              <a:off x="11362923" y="0"/>
              <a:ext cx="648455" cy="1095019"/>
            </a:xfrm>
            <a:prstGeom prst="rect">
              <a:avLst/>
            </a:prstGeom>
            <a:noFill/>
            <a:ln>
              <a:noFill/>
            </a:ln>
          </p:spPr>
        </p:pic>
      </p:grpSp>
      <p:cxnSp>
        <p:nvCxnSpPr>
          <p:cNvPr id="9" name="Google Shape;115;p15">
            <a:extLst>
              <a:ext uri="{FF2B5EF4-FFF2-40B4-BE49-F238E27FC236}">
                <a16:creationId xmlns:a16="http://schemas.microsoft.com/office/drawing/2014/main" id="{5DF0C95F-E2EB-4031-8E1A-6E1344CC0258}"/>
              </a:ext>
            </a:extLst>
          </p:cNvPr>
          <p:cNvCxnSpPr>
            <a:cxnSpLocks/>
          </p:cNvCxnSpPr>
          <p:nvPr/>
        </p:nvCxnSpPr>
        <p:spPr>
          <a:xfrm flipV="1">
            <a:off x="293636" y="369325"/>
            <a:ext cx="11090128" cy="7"/>
          </a:xfrm>
          <a:prstGeom prst="straightConnector1">
            <a:avLst/>
          </a:prstGeom>
          <a:noFill/>
          <a:ln w="9525" cap="flat" cmpd="sng">
            <a:solidFill>
              <a:schemeClr val="accent6"/>
            </a:solidFill>
            <a:prstDash val="solid"/>
            <a:miter lim="800000"/>
            <a:headEnd type="none" w="sm" len="sm"/>
            <a:tailEnd type="none" w="sm" len="sm"/>
          </a:ln>
        </p:spPr>
      </p:cxnSp>
      <p:pic>
        <p:nvPicPr>
          <p:cNvPr id="3" name="Picture 2">
            <a:extLst>
              <a:ext uri="{FF2B5EF4-FFF2-40B4-BE49-F238E27FC236}">
                <a16:creationId xmlns:a16="http://schemas.microsoft.com/office/drawing/2014/main" id="{8226C821-9190-40C8-AAF9-0D7890A4ADEB}"/>
              </a:ext>
            </a:extLst>
          </p:cNvPr>
          <p:cNvPicPr>
            <a:picLocks noChangeAspect="1"/>
          </p:cNvPicPr>
          <p:nvPr/>
        </p:nvPicPr>
        <p:blipFill>
          <a:blip r:embed="rId4"/>
          <a:stretch>
            <a:fillRect/>
          </a:stretch>
        </p:blipFill>
        <p:spPr>
          <a:xfrm>
            <a:off x="39572" y="1"/>
            <a:ext cx="12152428" cy="6858000"/>
          </a:xfrm>
          <a:prstGeom prst="rect">
            <a:avLst/>
          </a:prstGeom>
        </p:spPr>
      </p:pic>
    </p:spTree>
    <p:extLst>
      <p:ext uri="{BB962C8B-B14F-4D97-AF65-F5344CB8AC3E}">
        <p14:creationId xmlns:p14="http://schemas.microsoft.com/office/powerpoint/2010/main" val="3231039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6"/>
          <p:cNvSpPr txBox="1">
            <a:spLocks noGrp="1"/>
          </p:cNvSpPr>
          <p:nvPr>
            <p:ph type="ctrTitle"/>
          </p:nvPr>
        </p:nvSpPr>
        <p:spPr>
          <a:xfrm>
            <a:off x="293636" y="753879"/>
            <a:ext cx="11090128" cy="571784"/>
          </a:xfrm>
          <a:prstGeom prst="rect">
            <a:avLst/>
          </a:prstGeom>
        </p:spPr>
        <p:txBody>
          <a:bodyPr spcFirstLastPara="1" wrap="square" lIns="91425" tIns="45700" rIns="91425" bIns="45700" anchor="b" anchorCtr="0">
            <a:noAutofit/>
          </a:bodyPr>
          <a:lstStyle/>
          <a:p>
            <a:pPr marL="0" lvl="0" indent="0" algn="ctr" rtl="0">
              <a:spcBef>
                <a:spcPts val="0"/>
              </a:spcBef>
              <a:spcAft>
                <a:spcPts val="0"/>
              </a:spcAft>
              <a:buNone/>
            </a:pPr>
            <a:r>
              <a:rPr lang="ru-RU" sz="2800">
                <a:solidFill>
                  <a:srgbClr val="165271"/>
                </a:solidFill>
                <a:latin typeface="Consolas"/>
                <a:ea typeface="Consolas"/>
                <a:cs typeface="Consolas"/>
                <a:sym typeface="Consolas"/>
              </a:rPr>
              <a:t>Сканиране на сайта на ХТМУ за уязвимости чрез OWASP ZAP</a:t>
            </a:r>
            <a:endParaRPr sz="2800">
              <a:solidFill>
                <a:srgbClr val="165271"/>
              </a:solidFill>
              <a:latin typeface="Consolas"/>
              <a:ea typeface="Consolas"/>
              <a:cs typeface="Consolas"/>
              <a:sym typeface="Consolas"/>
            </a:endParaRPr>
          </a:p>
        </p:txBody>
      </p:sp>
      <p:grpSp>
        <p:nvGrpSpPr>
          <p:cNvPr id="137" name="Google Shape;137;p16"/>
          <p:cNvGrpSpPr/>
          <p:nvPr/>
        </p:nvGrpSpPr>
        <p:grpSpPr>
          <a:xfrm>
            <a:off x="39572" y="0"/>
            <a:ext cx="11971806" cy="1095019"/>
            <a:chOff x="39572" y="0"/>
            <a:chExt cx="11971806" cy="1095019"/>
          </a:xfrm>
        </p:grpSpPr>
        <p:sp>
          <p:nvSpPr>
            <p:cNvPr id="138" name="Google Shape;138;p16"/>
            <p:cNvSpPr txBox="1"/>
            <p:nvPr/>
          </p:nvSpPr>
          <p:spPr>
            <a:xfrm>
              <a:off x="39572" y="0"/>
              <a:ext cx="119718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b="1" i="0" u="none" strike="noStrike" cap="none">
                  <a:solidFill>
                    <a:srgbClr val="002060"/>
                  </a:solidFill>
                  <a:latin typeface="Consolas"/>
                  <a:ea typeface="Consolas"/>
                  <a:cs typeface="Consolas"/>
                  <a:sym typeface="Consolas"/>
                </a:rPr>
                <a:t>КИБЕРСИГУРНОСТ НА ИНТЕРНЕТ ИНФОРМАЦИОННИ СИСТЕМИ</a:t>
              </a:r>
            </a:p>
          </p:txBody>
        </p:sp>
        <p:sp>
          <p:nvSpPr>
            <p:cNvPr id="139" name="Google Shape;139;p16"/>
            <p:cNvSpPr txBox="1"/>
            <p:nvPr/>
          </p:nvSpPr>
          <p:spPr>
            <a:xfrm>
              <a:off x="9775499" y="369325"/>
              <a:ext cx="15873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bg-BG">
                  <a:solidFill>
                    <a:srgbClr val="165271"/>
                  </a:solidFill>
                  <a:latin typeface="Consolas"/>
                  <a:ea typeface="Consolas"/>
                  <a:cs typeface="Consolas"/>
                  <a:sym typeface="Consolas"/>
                </a:rPr>
                <a:t>Кирил Кискинов</a:t>
              </a:r>
              <a:endParaRPr sz="1050" b="0" i="0" u="none" strike="noStrike" cap="none">
                <a:solidFill>
                  <a:srgbClr val="A5A5A5"/>
                </a:solidFill>
                <a:latin typeface="Consolas"/>
                <a:ea typeface="Consolas"/>
                <a:cs typeface="Consolas"/>
                <a:sym typeface="Consolas"/>
              </a:endParaRPr>
            </a:p>
          </p:txBody>
        </p:sp>
        <p:pic>
          <p:nvPicPr>
            <p:cNvPr id="141" name="Google Shape;141;p16"/>
            <p:cNvPicPr preferRelativeResize="0"/>
            <p:nvPr/>
          </p:nvPicPr>
          <p:blipFill rotWithShape="1">
            <a:blip r:embed="rId3">
              <a:alphaModFix/>
            </a:blip>
            <a:srcRect/>
            <a:stretch/>
          </p:blipFill>
          <p:spPr>
            <a:xfrm>
              <a:off x="11362923" y="0"/>
              <a:ext cx="648455" cy="1095019"/>
            </a:xfrm>
            <a:prstGeom prst="rect">
              <a:avLst/>
            </a:prstGeom>
            <a:noFill/>
            <a:ln>
              <a:noFill/>
            </a:ln>
          </p:spPr>
        </p:pic>
      </p:grpSp>
      <p:cxnSp>
        <p:nvCxnSpPr>
          <p:cNvPr id="9" name="Google Shape;115;p15">
            <a:extLst>
              <a:ext uri="{FF2B5EF4-FFF2-40B4-BE49-F238E27FC236}">
                <a16:creationId xmlns:a16="http://schemas.microsoft.com/office/drawing/2014/main" id="{5DF0C95F-E2EB-4031-8E1A-6E1344CC0258}"/>
              </a:ext>
            </a:extLst>
          </p:cNvPr>
          <p:cNvCxnSpPr>
            <a:cxnSpLocks/>
          </p:cNvCxnSpPr>
          <p:nvPr/>
        </p:nvCxnSpPr>
        <p:spPr>
          <a:xfrm flipV="1">
            <a:off x="293636" y="369325"/>
            <a:ext cx="11090128" cy="7"/>
          </a:xfrm>
          <a:prstGeom prst="straightConnector1">
            <a:avLst/>
          </a:prstGeom>
          <a:noFill/>
          <a:ln w="9525" cap="flat" cmpd="sng">
            <a:solidFill>
              <a:schemeClr val="accent6"/>
            </a:solidFill>
            <a:prstDash val="solid"/>
            <a:miter lim="800000"/>
            <a:headEnd type="none" w="sm" len="sm"/>
            <a:tailEnd type="none" w="sm" len="sm"/>
          </a:ln>
        </p:spPr>
      </p:cxnSp>
      <p:pic>
        <p:nvPicPr>
          <p:cNvPr id="2" name="Picture 1">
            <a:extLst>
              <a:ext uri="{FF2B5EF4-FFF2-40B4-BE49-F238E27FC236}">
                <a16:creationId xmlns:a16="http://schemas.microsoft.com/office/drawing/2014/main" id="{925B31C0-A180-4E6A-87B3-6442AE404001}"/>
              </a:ext>
            </a:extLst>
          </p:cNvPr>
          <p:cNvPicPr>
            <a:picLocks noChangeAspect="1"/>
          </p:cNvPicPr>
          <p:nvPr/>
        </p:nvPicPr>
        <p:blipFill>
          <a:blip r:embed="rId4"/>
          <a:stretch>
            <a:fillRect/>
          </a:stretch>
        </p:blipFill>
        <p:spPr>
          <a:xfrm>
            <a:off x="0" y="1893673"/>
            <a:ext cx="12192000" cy="4622800"/>
          </a:xfrm>
          <a:prstGeom prst="rect">
            <a:avLst/>
          </a:prstGeom>
        </p:spPr>
      </p:pic>
    </p:spTree>
    <p:extLst>
      <p:ext uri="{BB962C8B-B14F-4D97-AF65-F5344CB8AC3E}">
        <p14:creationId xmlns:p14="http://schemas.microsoft.com/office/powerpoint/2010/main" val="25206429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6"/>
          <p:cNvSpPr txBox="1">
            <a:spLocks noGrp="1"/>
          </p:cNvSpPr>
          <p:nvPr>
            <p:ph type="ctrTitle"/>
          </p:nvPr>
        </p:nvSpPr>
        <p:spPr>
          <a:xfrm>
            <a:off x="293636" y="545514"/>
            <a:ext cx="11090128" cy="571784"/>
          </a:xfrm>
          <a:prstGeom prst="rect">
            <a:avLst/>
          </a:prstGeom>
        </p:spPr>
        <p:txBody>
          <a:bodyPr spcFirstLastPara="1" wrap="square" lIns="91425" tIns="45700" rIns="91425" bIns="45700" anchor="b" anchorCtr="0">
            <a:noAutofit/>
          </a:bodyPr>
          <a:lstStyle/>
          <a:p>
            <a:pPr marL="0" lvl="0" indent="0" algn="ctr" rtl="0">
              <a:spcBef>
                <a:spcPts val="0"/>
              </a:spcBef>
              <a:spcAft>
                <a:spcPts val="0"/>
              </a:spcAft>
              <a:buNone/>
            </a:pPr>
            <a:r>
              <a:rPr lang="ru-RU" sz="3200">
                <a:solidFill>
                  <a:srgbClr val="165271"/>
                </a:solidFill>
                <a:latin typeface="Consolas"/>
                <a:ea typeface="Consolas"/>
                <a:cs typeface="Consolas"/>
                <a:sym typeface="Consolas"/>
              </a:rPr>
              <a:t>Заключение</a:t>
            </a:r>
            <a:endParaRPr sz="3200">
              <a:solidFill>
                <a:srgbClr val="165271"/>
              </a:solidFill>
              <a:latin typeface="Consolas"/>
              <a:ea typeface="Consolas"/>
              <a:cs typeface="Consolas"/>
              <a:sym typeface="Consolas"/>
            </a:endParaRPr>
          </a:p>
        </p:txBody>
      </p:sp>
      <p:grpSp>
        <p:nvGrpSpPr>
          <p:cNvPr id="137" name="Google Shape;137;p16"/>
          <p:cNvGrpSpPr/>
          <p:nvPr/>
        </p:nvGrpSpPr>
        <p:grpSpPr>
          <a:xfrm>
            <a:off x="39572" y="0"/>
            <a:ext cx="11971806" cy="1095019"/>
            <a:chOff x="39572" y="0"/>
            <a:chExt cx="11971806" cy="1095019"/>
          </a:xfrm>
        </p:grpSpPr>
        <p:sp>
          <p:nvSpPr>
            <p:cNvPr id="138" name="Google Shape;138;p16"/>
            <p:cNvSpPr txBox="1"/>
            <p:nvPr/>
          </p:nvSpPr>
          <p:spPr>
            <a:xfrm>
              <a:off x="39572" y="0"/>
              <a:ext cx="119718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b="1" i="0" u="none" strike="noStrike" cap="none">
                  <a:solidFill>
                    <a:srgbClr val="002060"/>
                  </a:solidFill>
                  <a:latin typeface="Consolas"/>
                  <a:ea typeface="Consolas"/>
                  <a:cs typeface="Consolas"/>
                  <a:sym typeface="Consolas"/>
                </a:rPr>
                <a:t>КИБЕРСИГУРНОСТ НА ИНТЕРНЕТ ИНФОРМАЦИОННИ СИСТЕМИ</a:t>
              </a:r>
            </a:p>
          </p:txBody>
        </p:sp>
        <p:sp>
          <p:nvSpPr>
            <p:cNvPr id="139" name="Google Shape;139;p16"/>
            <p:cNvSpPr txBox="1"/>
            <p:nvPr/>
          </p:nvSpPr>
          <p:spPr>
            <a:xfrm>
              <a:off x="9775499" y="369325"/>
              <a:ext cx="15873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bg-BG">
                  <a:solidFill>
                    <a:srgbClr val="165271"/>
                  </a:solidFill>
                  <a:latin typeface="Consolas"/>
                  <a:ea typeface="Consolas"/>
                  <a:cs typeface="Consolas"/>
                  <a:sym typeface="Consolas"/>
                </a:rPr>
                <a:t>Кирил Кискинов</a:t>
              </a:r>
              <a:endParaRPr sz="1050" b="0" i="0" u="none" strike="noStrike" cap="none">
                <a:solidFill>
                  <a:srgbClr val="A5A5A5"/>
                </a:solidFill>
                <a:latin typeface="Consolas"/>
                <a:ea typeface="Consolas"/>
                <a:cs typeface="Consolas"/>
                <a:sym typeface="Consolas"/>
              </a:endParaRPr>
            </a:p>
          </p:txBody>
        </p:sp>
        <p:pic>
          <p:nvPicPr>
            <p:cNvPr id="141" name="Google Shape;141;p16"/>
            <p:cNvPicPr preferRelativeResize="0"/>
            <p:nvPr/>
          </p:nvPicPr>
          <p:blipFill rotWithShape="1">
            <a:blip r:embed="rId3">
              <a:alphaModFix/>
            </a:blip>
            <a:srcRect/>
            <a:stretch/>
          </p:blipFill>
          <p:spPr>
            <a:xfrm>
              <a:off x="11362923" y="0"/>
              <a:ext cx="648455" cy="1095019"/>
            </a:xfrm>
            <a:prstGeom prst="rect">
              <a:avLst/>
            </a:prstGeom>
            <a:noFill/>
            <a:ln>
              <a:noFill/>
            </a:ln>
          </p:spPr>
        </p:pic>
      </p:grpSp>
      <p:cxnSp>
        <p:nvCxnSpPr>
          <p:cNvPr id="9" name="Google Shape;115;p15">
            <a:extLst>
              <a:ext uri="{FF2B5EF4-FFF2-40B4-BE49-F238E27FC236}">
                <a16:creationId xmlns:a16="http://schemas.microsoft.com/office/drawing/2014/main" id="{5DF0C95F-E2EB-4031-8E1A-6E1344CC0258}"/>
              </a:ext>
            </a:extLst>
          </p:cNvPr>
          <p:cNvCxnSpPr>
            <a:cxnSpLocks/>
          </p:cNvCxnSpPr>
          <p:nvPr/>
        </p:nvCxnSpPr>
        <p:spPr>
          <a:xfrm flipV="1">
            <a:off x="293636" y="369325"/>
            <a:ext cx="11090128" cy="7"/>
          </a:xfrm>
          <a:prstGeom prst="straightConnector1">
            <a:avLst/>
          </a:prstGeom>
          <a:noFill/>
          <a:ln w="9525" cap="flat" cmpd="sng">
            <a:solidFill>
              <a:schemeClr val="accent6"/>
            </a:solidFill>
            <a:prstDash val="solid"/>
            <a:miter lim="800000"/>
            <a:headEnd type="none" w="sm" len="sm"/>
            <a:tailEnd type="none" w="sm" len="sm"/>
          </a:ln>
        </p:spPr>
      </p:cxnSp>
      <p:sp>
        <p:nvSpPr>
          <p:cNvPr id="10" name="Google Shape;300;p28">
            <a:extLst>
              <a:ext uri="{FF2B5EF4-FFF2-40B4-BE49-F238E27FC236}">
                <a16:creationId xmlns:a16="http://schemas.microsoft.com/office/drawing/2014/main" id="{881DF921-E963-4756-BED8-1C49E016633D}"/>
              </a:ext>
            </a:extLst>
          </p:cNvPr>
          <p:cNvSpPr txBox="1"/>
          <p:nvPr/>
        </p:nvSpPr>
        <p:spPr>
          <a:xfrm>
            <a:off x="180622" y="1377108"/>
            <a:ext cx="11668800" cy="5387241"/>
          </a:xfrm>
          <a:prstGeom prst="rect">
            <a:avLst/>
          </a:prstGeom>
          <a:noFill/>
          <a:ln>
            <a:noFill/>
          </a:ln>
        </p:spPr>
        <p:txBody>
          <a:bodyPr spcFirstLastPara="1" wrap="square" lIns="91425" tIns="91425" rIns="91425" bIns="91425" anchor="t" anchorCtr="0">
            <a:noAutofit/>
          </a:bodyPr>
          <a:lstStyle/>
          <a:p>
            <a:pPr lvl="0" algn="l" rtl="0">
              <a:spcBef>
                <a:spcPts val="0"/>
              </a:spcBef>
              <a:spcAft>
                <a:spcPts val="0"/>
              </a:spcAft>
              <a:buClr>
                <a:schemeClr val="dk1"/>
              </a:buClr>
              <a:buSzPts val="1100"/>
            </a:pPr>
            <a:r>
              <a:rPr lang="ru-RU" sz="2100">
                <a:solidFill>
                  <a:schemeClr val="dk2"/>
                </a:solidFill>
                <a:latin typeface="Consolas"/>
                <a:ea typeface="Consolas"/>
                <a:cs typeface="Consolas"/>
                <a:sym typeface="Consolas"/>
              </a:rPr>
              <a:t>1. Установено беше, че правилното архивиране и криптиране на информацията значително повишава нивото на защита на данните срещу неоторизиран достъп и загуба.</a:t>
            </a:r>
          </a:p>
          <a:p>
            <a:pPr lvl="0" algn="l" rtl="0">
              <a:spcBef>
                <a:spcPts val="0"/>
              </a:spcBef>
              <a:spcAft>
                <a:spcPts val="0"/>
              </a:spcAft>
              <a:buClr>
                <a:schemeClr val="dk1"/>
              </a:buClr>
              <a:buSzPts val="1100"/>
            </a:pPr>
            <a:endParaRPr sz="2100">
              <a:solidFill>
                <a:schemeClr val="dk2"/>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bg-BG" sz="2100">
                <a:solidFill>
                  <a:schemeClr val="dk2"/>
                </a:solidFill>
                <a:latin typeface="Consolas"/>
                <a:ea typeface="Consolas"/>
                <a:cs typeface="Consolas"/>
                <a:sym typeface="Consolas"/>
              </a:rPr>
              <a:t>2. </a:t>
            </a:r>
            <a:r>
              <a:rPr lang="ru-RU" sz="2100">
                <a:solidFill>
                  <a:schemeClr val="dk2"/>
                </a:solidFill>
                <a:latin typeface="Consolas"/>
                <a:ea typeface="Consolas"/>
                <a:cs typeface="Consolas"/>
                <a:sym typeface="Consolas"/>
              </a:rPr>
              <a:t>Анализът на мрежовите услуги чрез мрежово сканиране показа, че наличието на отворени портове и активни услуги представлява потенциален риск, когато те не са правилно конфигурирани или защитени.</a:t>
            </a:r>
          </a:p>
          <a:p>
            <a:pPr marL="0" lvl="0" indent="0" algn="l" rtl="0">
              <a:spcBef>
                <a:spcPts val="0"/>
              </a:spcBef>
              <a:spcAft>
                <a:spcPts val="0"/>
              </a:spcAft>
              <a:buClr>
                <a:schemeClr val="dk1"/>
              </a:buClr>
              <a:buSzPts val="1100"/>
              <a:buFont typeface="Arial"/>
              <a:buNone/>
            </a:pPr>
            <a:endParaRPr lang="ru-RU" sz="2100">
              <a:solidFill>
                <a:schemeClr val="dk2"/>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bg-BG" sz="2100">
                <a:solidFill>
                  <a:schemeClr val="dk2"/>
                </a:solidFill>
                <a:latin typeface="Consolas"/>
                <a:ea typeface="Consolas"/>
                <a:cs typeface="Consolas"/>
                <a:sym typeface="Consolas"/>
              </a:rPr>
              <a:t>3. </a:t>
            </a:r>
            <a:r>
              <a:rPr lang="ru-RU" sz="2100">
                <a:solidFill>
                  <a:schemeClr val="dk2"/>
                </a:solidFill>
                <a:latin typeface="Consolas"/>
                <a:ea typeface="Consolas"/>
                <a:cs typeface="Consolas"/>
                <a:sym typeface="Consolas"/>
              </a:rPr>
              <a:t>Симулираната атака чрез груба сила в контролирана среда демонстрира, че системи със слаби или неправилно управлявани идентификационни данни са силно уязвими на неоторизиран достъп.</a:t>
            </a:r>
          </a:p>
          <a:p>
            <a:pPr marL="0" lvl="0" indent="0" algn="l" rtl="0">
              <a:spcBef>
                <a:spcPts val="0"/>
              </a:spcBef>
              <a:spcAft>
                <a:spcPts val="0"/>
              </a:spcAft>
              <a:buClr>
                <a:schemeClr val="dk1"/>
              </a:buClr>
              <a:buSzPts val="1100"/>
              <a:buFont typeface="Arial"/>
              <a:buNone/>
            </a:pPr>
            <a:endParaRPr lang="ru-RU" sz="2100">
              <a:solidFill>
                <a:schemeClr val="dk2"/>
              </a:solidFill>
              <a:latin typeface="Consolas"/>
              <a:ea typeface="Consolas"/>
              <a:cs typeface="Consolas"/>
              <a:sym typeface="Consolas"/>
            </a:endParaRPr>
          </a:p>
          <a:p>
            <a:pPr>
              <a:buClr>
                <a:schemeClr val="dk1"/>
              </a:buClr>
              <a:buSzPts val="1100"/>
            </a:pPr>
            <a:r>
              <a:rPr lang="ru-RU" sz="2100">
                <a:solidFill>
                  <a:schemeClr val="dk2"/>
                </a:solidFill>
                <a:latin typeface="Consolas"/>
                <a:ea typeface="Consolas"/>
                <a:cs typeface="Consolas"/>
                <a:sym typeface="Consolas"/>
              </a:rPr>
              <a:t>4. Сканирането на уеб приложение за уязвимости показа, че дори реални и функциониращи уеб сайтове могат да съдържат слабости, които представляват риск за сигурността на системата и потребителските данни.</a:t>
            </a:r>
          </a:p>
          <a:p>
            <a:pPr marL="0" lvl="0" indent="0" algn="l" rtl="0">
              <a:spcBef>
                <a:spcPts val="0"/>
              </a:spcBef>
              <a:spcAft>
                <a:spcPts val="0"/>
              </a:spcAft>
              <a:buClr>
                <a:schemeClr val="dk1"/>
              </a:buClr>
              <a:buSzPts val="1100"/>
              <a:buFont typeface="Arial"/>
              <a:buNone/>
            </a:pPr>
            <a:endParaRPr sz="2100">
              <a:solidFill>
                <a:schemeClr val="dk2"/>
              </a:solidFill>
              <a:latin typeface="Consolas"/>
              <a:ea typeface="Consolas"/>
              <a:cs typeface="Consolas"/>
              <a:sym typeface="Consolas"/>
            </a:endParaRPr>
          </a:p>
        </p:txBody>
      </p:sp>
    </p:spTree>
    <p:extLst>
      <p:ext uri="{BB962C8B-B14F-4D97-AF65-F5344CB8AC3E}">
        <p14:creationId xmlns:p14="http://schemas.microsoft.com/office/powerpoint/2010/main" val="19907809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grpSp>
        <p:nvGrpSpPr>
          <p:cNvPr id="137" name="Google Shape;137;p16"/>
          <p:cNvGrpSpPr/>
          <p:nvPr/>
        </p:nvGrpSpPr>
        <p:grpSpPr>
          <a:xfrm>
            <a:off x="39572" y="0"/>
            <a:ext cx="11971806" cy="1095019"/>
            <a:chOff x="39572" y="0"/>
            <a:chExt cx="11971806" cy="1095019"/>
          </a:xfrm>
        </p:grpSpPr>
        <p:sp>
          <p:nvSpPr>
            <p:cNvPr id="138" name="Google Shape;138;p16"/>
            <p:cNvSpPr txBox="1"/>
            <p:nvPr/>
          </p:nvSpPr>
          <p:spPr>
            <a:xfrm>
              <a:off x="39572" y="0"/>
              <a:ext cx="119718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b="1" i="0" u="none" strike="noStrike" cap="none">
                  <a:solidFill>
                    <a:srgbClr val="002060"/>
                  </a:solidFill>
                  <a:latin typeface="Consolas"/>
                  <a:ea typeface="Consolas"/>
                  <a:cs typeface="Consolas"/>
                  <a:sym typeface="Consolas"/>
                </a:rPr>
                <a:t>КИБЕРСИГУРНОСТ НА ИНТЕРНЕТ ИНФОРМАЦИОННИ СИСТЕМИ</a:t>
              </a:r>
            </a:p>
          </p:txBody>
        </p:sp>
        <p:sp>
          <p:nvSpPr>
            <p:cNvPr id="139" name="Google Shape;139;p16"/>
            <p:cNvSpPr txBox="1"/>
            <p:nvPr/>
          </p:nvSpPr>
          <p:spPr>
            <a:xfrm>
              <a:off x="9775499" y="369325"/>
              <a:ext cx="15873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bg-BG">
                  <a:solidFill>
                    <a:srgbClr val="165271"/>
                  </a:solidFill>
                  <a:latin typeface="Consolas"/>
                  <a:ea typeface="Consolas"/>
                  <a:cs typeface="Consolas"/>
                  <a:sym typeface="Consolas"/>
                </a:rPr>
                <a:t>Кирил Кискинов</a:t>
              </a:r>
              <a:endParaRPr sz="1050" b="0" i="0" u="none" strike="noStrike" cap="none">
                <a:solidFill>
                  <a:srgbClr val="A5A5A5"/>
                </a:solidFill>
                <a:latin typeface="Consolas"/>
                <a:ea typeface="Consolas"/>
                <a:cs typeface="Consolas"/>
                <a:sym typeface="Consolas"/>
              </a:endParaRPr>
            </a:p>
          </p:txBody>
        </p:sp>
        <p:pic>
          <p:nvPicPr>
            <p:cNvPr id="141" name="Google Shape;141;p16"/>
            <p:cNvPicPr preferRelativeResize="0"/>
            <p:nvPr/>
          </p:nvPicPr>
          <p:blipFill rotWithShape="1">
            <a:blip r:embed="rId3">
              <a:alphaModFix/>
            </a:blip>
            <a:srcRect/>
            <a:stretch/>
          </p:blipFill>
          <p:spPr>
            <a:xfrm>
              <a:off x="11362923" y="0"/>
              <a:ext cx="648455" cy="1095019"/>
            </a:xfrm>
            <a:prstGeom prst="rect">
              <a:avLst/>
            </a:prstGeom>
            <a:noFill/>
            <a:ln>
              <a:noFill/>
            </a:ln>
          </p:spPr>
        </p:pic>
      </p:grpSp>
      <p:cxnSp>
        <p:nvCxnSpPr>
          <p:cNvPr id="9" name="Google Shape;115;p15">
            <a:extLst>
              <a:ext uri="{FF2B5EF4-FFF2-40B4-BE49-F238E27FC236}">
                <a16:creationId xmlns:a16="http://schemas.microsoft.com/office/drawing/2014/main" id="{5DF0C95F-E2EB-4031-8E1A-6E1344CC0258}"/>
              </a:ext>
            </a:extLst>
          </p:cNvPr>
          <p:cNvCxnSpPr>
            <a:cxnSpLocks/>
          </p:cNvCxnSpPr>
          <p:nvPr/>
        </p:nvCxnSpPr>
        <p:spPr>
          <a:xfrm flipV="1">
            <a:off x="293636" y="369325"/>
            <a:ext cx="11090128" cy="7"/>
          </a:xfrm>
          <a:prstGeom prst="straightConnector1">
            <a:avLst/>
          </a:prstGeom>
          <a:noFill/>
          <a:ln w="9525" cap="flat" cmpd="sng">
            <a:solidFill>
              <a:schemeClr val="accent6"/>
            </a:solidFill>
            <a:prstDash val="solid"/>
            <a:miter lim="800000"/>
            <a:headEnd type="none" w="sm" len="sm"/>
            <a:tailEnd type="none" w="sm" len="sm"/>
          </a:ln>
        </p:spPr>
      </p:cxnSp>
      <p:sp>
        <p:nvSpPr>
          <p:cNvPr id="11" name="Google Shape;310;p29">
            <a:extLst>
              <a:ext uri="{FF2B5EF4-FFF2-40B4-BE49-F238E27FC236}">
                <a16:creationId xmlns:a16="http://schemas.microsoft.com/office/drawing/2014/main" id="{E0C34FCA-123B-4747-ABE6-9FC892162B25}"/>
              </a:ext>
            </a:extLst>
          </p:cNvPr>
          <p:cNvSpPr txBox="1"/>
          <p:nvPr/>
        </p:nvSpPr>
        <p:spPr>
          <a:xfrm>
            <a:off x="2839350" y="1784502"/>
            <a:ext cx="6513300" cy="1077178"/>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Font typeface="Arial"/>
              <a:buNone/>
            </a:pPr>
            <a:r>
              <a:rPr lang="ru-RU" sz="3200" b="1">
                <a:solidFill>
                  <a:srgbClr val="002060"/>
                </a:solidFill>
                <a:latin typeface="Consolas"/>
                <a:ea typeface="Consolas"/>
                <a:cs typeface="Consolas"/>
                <a:sym typeface="Consolas"/>
              </a:rPr>
              <a:t>Киберсигурност на Интернет информационни системи</a:t>
            </a:r>
          </a:p>
        </p:txBody>
      </p:sp>
      <p:sp>
        <p:nvSpPr>
          <p:cNvPr id="12" name="Google Shape;309;p29">
            <a:extLst>
              <a:ext uri="{FF2B5EF4-FFF2-40B4-BE49-F238E27FC236}">
                <a16:creationId xmlns:a16="http://schemas.microsoft.com/office/drawing/2014/main" id="{ED21C0A4-6906-4542-B9FA-EC3E98D2BB36}"/>
              </a:ext>
            </a:extLst>
          </p:cNvPr>
          <p:cNvSpPr txBox="1"/>
          <p:nvPr/>
        </p:nvSpPr>
        <p:spPr>
          <a:xfrm>
            <a:off x="2520300" y="3445850"/>
            <a:ext cx="7151400" cy="831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bg-BG" sz="2400">
                <a:solidFill>
                  <a:srgbClr val="165271"/>
                </a:solidFill>
                <a:latin typeface="Consolas"/>
                <a:ea typeface="Consolas"/>
                <a:cs typeface="Consolas"/>
                <a:sym typeface="Consolas"/>
              </a:rPr>
              <a:t>Кирил Николаев Кискинов, фак.№ МС1625</a:t>
            </a:r>
            <a:endParaRPr sz="2400">
              <a:solidFill>
                <a:srgbClr val="165271"/>
              </a:solidFill>
              <a:latin typeface="Consolas"/>
              <a:ea typeface="Consolas"/>
              <a:cs typeface="Consolas"/>
              <a:sym typeface="Consolas"/>
            </a:endParaRPr>
          </a:p>
          <a:p>
            <a:pPr marL="0" marR="0" lvl="0" indent="0" algn="ctr" rtl="0">
              <a:spcBef>
                <a:spcPts val="0"/>
              </a:spcBef>
              <a:spcAft>
                <a:spcPts val="0"/>
              </a:spcAft>
              <a:buNone/>
            </a:pPr>
            <a:r>
              <a:rPr lang="bg-BG" sz="2400">
                <a:solidFill>
                  <a:srgbClr val="165271"/>
                </a:solidFill>
                <a:latin typeface="Consolas"/>
                <a:ea typeface="Consolas"/>
                <a:cs typeface="Consolas"/>
                <a:sym typeface="Consolas"/>
              </a:rPr>
              <a:t>магистър, специалност АИТ</a:t>
            </a:r>
            <a:endParaRPr sz="2400">
              <a:solidFill>
                <a:srgbClr val="165271"/>
              </a:solidFill>
              <a:latin typeface="Consolas"/>
              <a:ea typeface="Consolas"/>
              <a:cs typeface="Consolas"/>
              <a:sym typeface="Consolas"/>
            </a:endParaRPr>
          </a:p>
        </p:txBody>
      </p:sp>
      <p:sp>
        <p:nvSpPr>
          <p:cNvPr id="13" name="Google Shape;308;p29">
            <a:extLst>
              <a:ext uri="{FF2B5EF4-FFF2-40B4-BE49-F238E27FC236}">
                <a16:creationId xmlns:a16="http://schemas.microsoft.com/office/drawing/2014/main" id="{A96B5D55-33AA-4110-8DE9-0AEE6ABFC761}"/>
              </a:ext>
            </a:extLst>
          </p:cNvPr>
          <p:cNvSpPr/>
          <p:nvPr/>
        </p:nvSpPr>
        <p:spPr>
          <a:xfrm>
            <a:off x="1808584" y="4861020"/>
            <a:ext cx="8574832" cy="132343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bg-BG" sz="4000" b="1">
                <a:solidFill>
                  <a:srgbClr val="FF0000"/>
                </a:solidFill>
                <a:latin typeface="Consolas"/>
                <a:ea typeface="Consolas"/>
                <a:cs typeface="Consolas"/>
                <a:sym typeface="Consolas"/>
              </a:rPr>
              <a:t>Благодаря за вниманието!</a:t>
            </a:r>
            <a:endParaRPr sz="3200" b="1">
              <a:solidFill>
                <a:srgbClr val="FF0000"/>
              </a:solidFill>
              <a:latin typeface="Consolas"/>
              <a:ea typeface="Consolas"/>
              <a:cs typeface="Consolas"/>
              <a:sym typeface="Consolas"/>
            </a:endParaRPr>
          </a:p>
          <a:p>
            <a:pPr marL="0" marR="0" lvl="0" indent="0" algn="ctr" rtl="0">
              <a:spcBef>
                <a:spcPts val="0"/>
              </a:spcBef>
              <a:spcAft>
                <a:spcPts val="0"/>
              </a:spcAft>
              <a:buNone/>
            </a:pPr>
            <a:endParaRPr sz="4000" b="1">
              <a:solidFill>
                <a:srgbClr val="FF0000"/>
              </a:solidFill>
              <a:latin typeface="Consolas"/>
              <a:ea typeface="Consolas"/>
              <a:cs typeface="Consolas"/>
              <a:sym typeface="Consolas"/>
            </a:endParaRPr>
          </a:p>
        </p:txBody>
      </p:sp>
    </p:spTree>
    <p:extLst>
      <p:ext uri="{BB962C8B-B14F-4D97-AF65-F5344CB8AC3E}">
        <p14:creationId xmlns:p14="http://schemas.microsoft.com/office/powerpoint/2010/main" val="3267850977"/>
      </p:ext>
    </p:extLst>
  </p:cSld>
  <p:clrMapOvr>
    <a:masterClrMapping/>
  </p:clrMapOvr>
</p:sld>
</file>

<file path=ppt/theme/theme1.xml><?xml version="1.0" encoding="utf-8"?>
<a:theme xmlns:a="http://schemas.openxmlformats.org/drawingml/2006/main" name="ClassicFrameVTI">
  <a:themeElements>
    <a:clrScheme name="AnalogousFromDarkSeedLeftStep">
      <a:dk1>
        <a:srgbClr val="000000"/>
      </a:dk1>
      <a:lt1>
        <a:srgbClr val="FFFFFF"/>
      </a:lt1>
      <a:dk2>
        <a:srgbClr val="243741"/>
      </a:dk2>
      <a:lt2>
        <a:srgbClr val="E2E8E2"/>
      </a:lt2>
      <a:accent1>
        <a:srgbClr val="D838D6"/>
      </a:accent1>
      <a:accent2>
        <a:srgbClr val="8D33CA"/>
      </a:accent2>
      <a:accent3>
        <a:srgbClr val="6046DB"/>
      </a:accent3>
      <a:accent4>
        <a:srgbClr val="3558CA"/>
      </a:accent4>
      <a:accent5>
        <a:srgbClr val="38A1D8"/>
      </a:accent5>
      <a:accent6>
        <a:srgbClr val="23B6AC"/>
      </a:accent6>
      <a:hlink>
        <a:srgbClr val="4682C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359</TotalTime>
  <Words>5528</Words>
  <Application>Microsoft Office PowerPoint</Application>
  <PresentationFormat>Widescreen</PresentationFormat>
  <Paragraphs>237</Paragraphs>
  <Slides>23</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Sorts Mill Goudy</vt:lpstr>
      <vt:lpstr>Calibri</vt:lpstr>
      <vt:lpstr>Gill Sans</vt:lpstr>
      <vt:lpstr>Arial</vt:lpstr>
      <vt:lpstr>Consolas</vt:lpstr>
      <vt:lpstr>Times New Roman</vt:lpstr>
      <vt:lpstr>ClassicFrameVTI</vt:lpstr>
      <vt:lpstr>PowerPoint Presentation</vt:lpstr>
      <vt:lpstr>PowerPoint Presentation</vt:lpstr>
      <vt:lpstr>Създаване на Ed25519 двойка ключове</vt:lpstr>
      <vt:lpstr>Създаване на криптиран zip архив</vt:lpstr>
      <vt:lpstr>Създаване на криптиран zip архив</vt:lpstr>
      <vt:lpstr>Създаване на криптиран архив чрез GNU Privacy Guard</vt:lpstr>
      <vt:lpstr>Създаване на криптиран архив чрез GNU Privacy Guard</vt:lpstr>
      <vt:lpstr>Сигурно изтриване на файлове</vt:lpstr>
      <vt:lpstr>Сканиране на интернет сървъри с nmap</vt:lpstr>
      <vt:lpstr>Сканиране на порт 443 посредством sslscan</vt:lpstr>
      <vt:lpstr>Показване типа на ОС на сървър чрез nmap</vt:lpstr>
      <vt:lpstr>Симулирана атака чрез груба сила с hydra</vt:lpstr>
      <vt:lpstr>Симулирана атака чрез груба сила с hydra</vt:lpstr>
      <vt:lpstr>Симулирана атака чрез груба сила с hydra</vt:lpstr>
      <vt:lpstr>Симулирана атака чрез груба сила с hydra</vt:lpstr>
      <vt:lpstr>Симулирана атака чрез груба сила с hydra</vt:lpstr>
      <vt:lpstr>Симулирана атака чрез груба сила с hydra</vt:lpstr>
      <vt:lpstr>Симулирана атака чрез груба сила с hydra</vt:lpstr>
      <vt:lpstr>Симулирана атака чрез груба сила с hydra</vt:lpstr>
      <vt:lpstr>Симулирана атака чрез груба сила с hydra</vt:lpstr>
      <vt:lpstr>Сканиране на сайта на ХТМУ за уязвимости чрез OWASP ZAP</vt:lpstr>
      <vt:lpstr>Заключение</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Kiril Kiskinov</cp:lastModifiedBy>
  <cp:revision>56</cp:revision>
  <dcterms:modified xsi:type="dcterms:W3CDTF">2026-03-25T13:22:21Z</dcterms:modified>
</cp:coreProperties>
</file>